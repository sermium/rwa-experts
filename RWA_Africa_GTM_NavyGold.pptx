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-1371600"/>
            <a:ext cx="4572000" cy="4572000"/>
          </a:xfrm>
          <a:prstGeom prst="ellipse">
            <a:avLst/>
          </a:prstGeom>
          <a:solidFill>
            <a:srgbClr val="1E3A5F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C9941A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5486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ASSET TOKENIZATION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GTM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320040" y="3429000"/>
            <a:ext cx="1828800" cy="457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channels. One infrastructure.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at every price point.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0040" y="4526280"/>
            <a:ext cx="2560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4526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Capital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4526280"/>
            <a:ext cx="2560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54680" y="4526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Treasury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89320" y="4526280"/>
            <a:ext cx="25603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4526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Trade Finance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AFRICA — 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Case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14173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90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 19 — the youngest market on earth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60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64008" cy="14173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90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$400B+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Remittances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7–12% lost to fees — RWA removes the friction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60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17520"/>
            <a:ext cx="64008" cy="14173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90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60M+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 SMEs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assets, zero access to global capital markets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60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64008" cy="14173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90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Intra-Africa Trade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60%+ in Europe — infrastructure gap = opportunity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tokenization doesn't ask people to change behavior — it solves friction that already costs them money.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Channels, One Infrastructure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889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788920" cy="64008"/>
          </a:xfrm>
          <a:prstGeom prst="rect">
            <a:avLst/>
          </a:prstGeom>
          <a:solidFill>
            <a:srgbClr val="C994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86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Diaspora Capital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DRIVER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9992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Crypto-native diaspora investing in tokenized African assets. High frequency, mobile-first, emotionally connected to origin markets.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279392"/>
            <a:ext cx="214884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700M+ diaspora globally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417320"/>
            <a:ext cx="27889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417320"/>
            <a:ext cx="2788920" cy="64008"/>
          </a:xfrm>
          <a:prstGeom prst="rect">
            <a:avLst/>
          </a:prstGeom>
          <a:solidFill>
            <a:srgbClr val="E8B84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0020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286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Treasury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42900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CLIENT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29000" y="29992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ministries tokenizing commodity reserves and sovereign bonds for global capital access — without IMF dependency.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11880" y="4279392"/>
            <a:ext cx="214884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11880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$50K–$150K+ deal size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63640" y="1417320"/>
            <a:ext cx="27889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1417320"/>
            <a:ext cx="2788920" cy="64008"/>
          </a:xfrm>
          <a:prstGeom prst="rect">
            <a:avLst/>
          </a:prstGeom>
          <a:solidFill>
            <a:srgbClr val="A8B8C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60020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2286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Trade Finance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00800" y="2697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LAYER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0" y="2999232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exporters and trade houses using tokenized invoices, receivables, and POs to unlock working capital at speed.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583680" y="4279392"/>
            <a:ext cx="214884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A8B8C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83680" y="4279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 SMEs addressable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Anchor + Community Access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429000"/>
          </a:xfrm>
          <a:prstGeom prst="rect">
            <a:avLst/>
          </a:prstGeom>
          <a:solidFill>
            <a:srgbClr val="1E3A5F"/>
          </a:solidFill>
          <a:ln w="1905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023360" cy="64008"/>
          </a:xfrm>
          <a:prstGeom prst="rect">
            <a:avLst/>
          </a:prstGeom>
          <a:solidFill>
            <a:srgbClr val="C994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19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184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&amp; Crypto-Native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funds, family offices, Web3-native investors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tranches — $100K to $10M+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Yield, diversification, first-mover access to African RWA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protocols, Web3 conferences, OTC desks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402336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417320"/>
            <a:ext cx="4023360" cy="64008"/>
          </a:xfrm>
          <a:prstGeom prst="rect">
            <a:avLst/>
          </a:prstGeom>
          <a:solidFill>
            <a:srgbClr val="A8B8C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8191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6184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Local Access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93776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population, diaspora senders, micro-investors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3776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— $5 to $500 positions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real African assets for the first time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776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(Wave, M-Pesa), community apps, USSD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224528" y="3017520"/>
            <a:ext cx="694944" cy="54864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22" name="Text 18"/>
          <p:cNvSpPr/>
          <p:nvPr/>
        </p:nvSpPr>
        <p:spPr>
          <a:xfrm>
            <a:off x="4206240" y="31272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01 — DIASPORA CAPITAL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Crypto-Native Investor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" y="1417320"/>
            <a:ext cx="8503920" cy="68580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41732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conferences, DeFi protocols, Twitter/X, WhatsApp community groups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7132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677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26771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details, yield profile, proof of sovereignty, legal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118104"/>
            <a:ext cx="57607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118104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118104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$5 entry — fractional tokens via wallet or mobile money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40280" y="3968496"/>
            <a:ext cx="43891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3968496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39684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referrals, cultural pride, recurring investment cycle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logic: millions of small tickets outperform hundreds of large ones — and they build a community asset class.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02 — SOVEREIGN TREASURY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Governments as First Movers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14800" cy="64008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Sovereign 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Commodity wealth locked in ground, not capital markets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Traditional sovereign debt: slow, costly, currency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00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IMF/World Bank dependency creates policy constraints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22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programmable settlement layer for regional trade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4114800" cy="6400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RWA Unlock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Tokenize mineral reserves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instant collateral for global capital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79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Sovereign bond issuance on-chain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bypass legacy correspondent banking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300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Revenue share model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structuring fee + % of settlement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922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First-mover sandbox</a:t>
            </a:r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become the regional RWA regulatory leader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03 — B2B TRADE FINANCE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Tokenizing the Trade Layer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889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788920" cy="64008"/>
          </a:xfrm>
          <a:prstGeom prst="rect">
            <a:avLst/>
          </a:prstGeom>
          <a:solidFill>
            <a:srgbClr val="C994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7276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Corridors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identity layer across borders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429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KYC/KYB — portable, programmable, permanent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GTM: Partner with trade associations and customs bodies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417320"/>
            <a:ext cx="27889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417320"/>
            <a:ext cx="2788920" cy="64008"/>
          </a:xfrm>
          <a:prstGeom prst="rect">
            <a:avLst/>
          </a:prstGeom>
          <a:solidFill>
            <a:srgbClr val="C9941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72768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Tokenization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2900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29000" y="29260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 SMEs can't access working capital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29000" y="3429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29000" y="36576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invoices, POs, receivables as collateral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2900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GTM: Go deep in one vertical first — cocoa, textiles, minerals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63640" y="1417320"/>
            <a:ext cx="2788920" cy="3429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63640" y="1417320"/>
            <a:ext cx="2788920" cy="64008"/>
          </a:xfrm>
          <a:prstGeom prst="rect">
            <a:avLst/>
          </a:prstGeom>
          <a:solidFill>
            <a:srgbClr val="C9941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72768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2240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Africa-LATAM Rails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0080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0" y="29260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trade forced through USD intermediaries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00800" y="3429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00800" y="36576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settlement rails cut cost and cycle time by 60%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0080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GTM: Leverage existing Brazil-Africa trade network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Streams, One Platform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100584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9047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Volume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+ B2B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075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points on every tokenized asset transaction. Millions of small tickets compound faster than a handful of large ones — volume is the moat.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691640"/>
            <a:ext cx="201168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0.5–2% per transaction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85039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87752"/>
            <a:ext cx="64008" cy="100584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6090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26609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Origination &amp; Structuring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+ Institutional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for structuring tokenized sovereign bonds or commodity instruments. High-ticket, one-time, with recurring annual custody fees.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2862072"/>
            <a:ext cx="201168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862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$50K–$150K per issuance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58184"/>
            <a:ext cx="85039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58184"/>
            <a:ext cx="64008" cy="100584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3133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234440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Licensing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187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+ Regional Scale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416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layer for trade houses and regional banks using the settlement rail. Annual contracts, replicable across WAEMU and AfCFTA members.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4032504"/>
            <a:ext cx="2011680" cy="457200"/>
          </a:xfrm>
          <a:prstGeom prst="rect">
            <a:avLst/>
          </a:prstGeom>
          <a:solidFill>
            <a:srgbClr val="0D1F3C"/>
          </a:solidFill>
          <a:ln w="12700">
            <a:solidFill>
              <a:srgbClr val="C994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0325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$20K–$100K per year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Roadmap 2026–2027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8138160" cy="457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6" name="Shape 4"/>
          <p:cNvSpPr/>
          <p:nvPr/>
        </p:nvSpPr>
        <p:spPr>
          <a:xfrm>
            <a:off x="1261872" y="2404872"/>
            <a:ext cx="237744" cy="237744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788920"/>
            <a:ext cx="1920240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BCEAO sandbox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Ministry of Finance intro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Legal framework scoping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2404872"/>
            <a:ext cx="237744" cy="237744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4640" y="2788920"/>
            <a:ext cx="1920240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Token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onboarding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Compliance 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59552" y="2404872"/>
            <a:ext cx="237744" cy="237744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3480" y="2788920"/>
            <a:ext cx="1920240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 sovereign issuance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Diaspora onboarding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SME pilot vertical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08392" y="2404872"/>
            <a:ext cx="237744" cy="237744"/>
          </a:xfrm>
          <a:prstGeom prst="ellipse">
            <a:avLst/>
          </a:prstGeom>
          <a:solidFill>
            <a:srgbClr val="C9941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2788920"/>
            <a:ext cx="1920240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2027+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0" y="17830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6948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 WAEMU countries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B2B rails live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Africa-LATAM corridor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22860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3017520"/>
            <a:ext cx="2926080" cy="2926080"/>
          </a:xfrm>
          <a:prstGeom prst="ellipse">
            <a:avLst/>
          </a:prstGeom>
          <a:solidFill>
            <a:srgbClr val="C9941A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is not 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market.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the now.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1828800" cy="45720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27355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doesn't exist yet.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point.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4160520"/>
            <a:ext cx="27432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C994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4160520"/>
            <a:ext cx="2743200" cy="54864"/>
          </a:xfrm>
          <a:prstGeom prst="rect">
            <a:avLst/>
          </a:prstGeom>
          <a:solidFill>
            <a:srgbClr val="C99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Partner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your RWA tech into the first African GTM playbook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4160520"/>
            <a:ext cx="27432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4160520"/>
            <a:ext cx="2743200" cy="54864"/>
          </a:xfrm>
          <a:prstGeom prst="rect">
            <a:avLst/>
          </a:prstGeom>
          <a:solidFill>
            <a:srgbClr val="2A457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Investor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526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pilot issuance — own the first-mover position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160520"/>
            <a:ext cx="27432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4160520"/>
            <a:ext cx="2743200" cy="54864"/>
          </a:xfrm>
          <a:prstGeom prst="rect">
            <a:avLst/>
          </a:prstGeom>
          <a:solidFill>
            <a:srgbClr val="2A457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Advisory Engagement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4526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GTM lead for Africa market entry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 Africa GTM Framework</dc:title>
  <dc:subject>PptxGenJS Presentation</dc:subject>
  <dc:creator>PptxGenJS</dc:creator>
  <cp:lastModifiedBy>PptxGenJS</cp:lastModifiedBy>
  <cp:revision>1</cp:revision>
  <dcterms:created xsi:type="dcterms:W3CDTF">2026-03-06T14:50:01Z</dcterms:created>
  <dcterms:modified xsi:type="dcterms:W3CDTF">2026-03-06T14:50:01Z</dcterms:modified>
</cp:coreProperties>
</file>