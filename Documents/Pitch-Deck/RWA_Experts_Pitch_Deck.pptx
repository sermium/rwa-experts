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9222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91440" y="60350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91440" y="111556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91440" y="162763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91440" y="213969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91440" y="265176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91440" y="316382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91440" y="367588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91440" y="418795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91440" y="470001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603504" y="9144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03504" y="60350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03504" y="111556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03504" y="162763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03504" y="213969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03504" y="265176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03504" y="316382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03504" y="367588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03504" y="418795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03504" y="470001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1115568" y="9144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1115568" y="60350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1115568" y="111556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1115568" y="162763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1115568" y="213969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1115568" y="265176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1115568" y="316382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1115568" y="367588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1115568" y="418795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1115568" y="470001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1627632" y="9144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1627632" y="60350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1627632" y="111556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1627632" y="162763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1627632" y="213969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1627632" y="265176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1627632" y="316382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1627632" y="367588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1627632" y="418795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1627632" y="470001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2139696" y="9144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2139696" y="60350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2139696" y="111556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2139696" y="162763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2139696" y="213969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2139696" y="265176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2139696" y="316382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2139696" y="367588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2139696" y="418795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2139696" y="470001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2651760" y="9144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2651760" y="60350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2651760" y="111556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2651760" y="162763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2651760" y="213969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Shape 55"/>
          <p:cNvSpPr/>
          <p:nvPr/>
        </p:nvSpPr>
        <p:spPr>
          <a:xfrm>
            <a:off x="2651760" y="265176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Shape 56"/>
          <p:cNvSpPr/>
          <p:nvPr/>
        </p:nvSpPr>
        <p:spPr>
          <a:xfrm>
            <a:off x="2651760" y="316382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Shape 57"/>
          <p:cNvSpPr/>
          <p:nvPr/>
        </p:nvSpPr>
        <p:spPr>
          <a:xfrm>
            <a:off x="2651760" y="367588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2651760" y="418795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Shape 59"/>
          <p:cNvSpPr/>
          <p:nvPr/>
        </p:nvSpPr>
        <p:spPr>
          <a:xfrm>
            <a:off x="2651760" y="470001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Shape 60"/>
          <p:cNvSpPr/>
          <p:nvPr/>
        </p:nvSpPr>
        <p:spPr>
          <a:xfrm>
            <a:off x="3163824" y="9144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Shape 61"/>
          <p:cNvSpPr/>
          <p:nvPr/>
        </p:nvSpPr>
        <p:spPr>
          <a:xfrm>
            <a:off x="3163824" y="60350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Shape 62"/>
          <p:cNvSpPr/>
          <p:nvPr/>
        </p:nvSpPr>
        <p:spPr>
          <a:xfrm>
            <a:off x="3163824" y="111556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Shape 63"/>
          <p:cNvSpPr/>
          <p:nvPr/>
        </p:nvSpPr>
        <p:spPr>
          <a:xfrm>
            <a:off x="3163824" y="162763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Shape 64"/>
          <p:cNvSpPr/>
          <p:nvPr/>
        </p:nvSpPr>
        <p:spPr>
          <a:xfrm>
            <a:off x="3163824" y="213969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7" name="Shape 65"/>
          <p:cNvSpPr/>
          <p:nvPr/>
        </p:nvSpPr>
        <p:spPr>
          <a:xfrm>
            <a:off x="3163824" y="265176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Shape 66"/>
          <p:cNvSpPr/>
          <p:nvPr/>
        </p:nvSpPr>
        <p:spPr>
          <a:xfrm>
            <a:off x="3163824" y="316382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Shape 67"/>
          <p:cNvSpPr/>
          <p:nvPr/>
        </p:nvSpPr>
        <p:spPr>
          <a:xfrm>
            <a:off x="3163824" y="367588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Shape 68"/>
          <p:cNvSpPr/>
          <p:nvPr/>
        </p:nvSpPr>
        <p:spPr>
          <a:xfrm>
            <a:off x="3163824" y="418795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Shape 69"/>
          <p:cNvSpPr/>
          <p:nvPr/>
        </p:nvSpPr>
        <p:spPr>
          <a:xfrm>
            <a:off x="3163824" y="470001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Shape 70"/>
          <p:cNvSpPr/>
          <p:nvPr/>
        </p:nvSpPr>
        <p:spPr>
          <a:xfrm>
            <a:off x="3675888" y="9144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3" name="Shape 71"/>
          <p:cNvSpPr/>
          <p:nvPr/>
        </p:nvSpPr>
        <p:spPr>
          <a:xfrm>
            <a:off x="3675888" y="60350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4" name="Shape 72"/>
          <p:cNvSpPr/>
          <p:nvPr/>
        </p:nvSpPr>
        <p:spPr>
          <a:xfrm>
            <a:off x="3675888" y="111556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5" name="Shape 73"/>
          <p:cNvSpPr/>
          <p:nvPr/>
        </p:nvSpPr>
        <p:spPr>
          <a:xfrm>
            <a:off x="3675888" y="162763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6" name="Shape 74"/>
          <p:cNvSpPr/>
          <p:nvPr/>
        </p:nvSpPr>
        <p:spPr>
          <a:xfrm>
            <a:off x="3675888" y="213969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7" name="Shape 75"/>
          <p:cNvSpPr/>
          <p:nvPr/>
        </p:nvSpPr>
        <p:spPr>
          <a:xfrm>
            <a:off x="3675888" y="265176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8" name="Shape 76"/>
          <p:cNvSpPr/>
          <p:nvPr/>
        </p:nvSpPr>
        <p:spPr>
          <a:xfrm>
            <a:off x="3675888" y="316382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9" name="Shape 77"/>
          <p:cNvSpPr/>
          <p:nvPr/>
        </p:nvSpPr>
        <p:spPr>
          <a:xfrm>
            <a:off x="3675888" y="367588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0" name="Shape 78"/>
          <p:cNvSpPr/>
          <p:nvPr/>
        </p:nvSpPr>
        <p:spPr>
          <a:xfrm>
            <a:off x="3675888" y="418795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1" name="Shape 79"/>
          <p:cNvSpPr/>
          <p:nvPr/>
        </p:nvSpPr>
        <p:spPr>
          <a:xfrm>
            <a:off x="3675888" y="470001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2" name="Shape 80"/>
          <p:cNvSpPr/>
          <p:nvPr/>
        </p:nvSpPr>
        <p:spPr>
          <a:xfrm>
            <a:off x="4187952" y="9144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3" name="Shape 81"/>
          <p:cNvSpPr/>
          <p:nvPr/>
        </p:nvSpPr>
        <p:spPr>
          <a:xfrm>
            <a:off x="4187952" y="60350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4" name="Shape 82"/>
          <p:cNvSpPr/>
          <p:nvPr/>
        </p:nvSpPr>
        <p:spPr>
          <a:xfrm>
            <a:off x="4187952" y="111556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5" name="Shape 83"/>
          <p:cNvSpPr/>
          <p:nvPr/>
        </p:nvSpPr>
        <p:spPr>
          <a:xfrm>
            <a:off x="4187952" y="162763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6" name="Shape 84"/>
          <p:cNvSpPr/>
          <p:nvPr/>
        </p:nvSpPr>
        <p:spPr>
          <a:xfrm>
            <a:off x="4187952" y="213969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7" name="Shape 85"/>
          <p:cNvSpPr/>
          <p:nvPr/>
        </p:nvSpPr>
        <p:spPr>
          <a:xfrm>
            <a:off x="4187952" y="265176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8" name="Shape 86"/>
          <p:cNvSpPr/>
          <p:nvPr/>
        </p:nvSpPr>
        <p:spPr>
          <a:xfrm>
            <a:off x="4187952" y="316382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9" name="Shape 87"/>
          <p:cNvSpPr/>
          <p:nvPr/>
        </p:nvSpPr>
        <p:spPr>
          <a:xfrm>
            <a:off x="4187952" y="367588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0" name="Shape 88"/>
          <p:cNvSpPr/>
          <p:nvPr/>
        </p:nvSpPr>
        <p:spPr>
          <a:xfrm>
            <a:off x="4187952" y="418795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1" name="Shape 89"/>
          <p:cNvSpPr/>
          <p:nvPr/>
        </p:nvSpPr>
        <p:spPr>
          <a:xfrm>
            <a:off x="4187952" y="470001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2" name="Shape 90"/>
          <p:cNvSpPr/>
          <p:nvPr/>
        </p:nvSpPr>
        <p:spPr>
          <a:xfrm>
            <a:off x="4700016" y="9144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3" name="Shape 91"/>
          <p:cNvSpPr/>
          <p:nvPr/>
        </p:nvSpPr>
        <p:spPr>
          <a:xfrm>
            <a:off x="4700016" y="60350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4" name="Shape 92"/>
          <p:cNvSpPr/>
          <p:nvPr/>
        </p:nvSpPr>
        <p:spPr>
          <a:xfrm>
            <a:off x="4700016" y="111556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5" name="Shape 93"/>
          <p:cNvSpPr/>
          <p:nvPr/>
        </p:nvSpPr>
        <p:spPr>
          <a:xfrm>
            <a:off x="4700016" y="162763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6" name="Shape 94"/>
          <p:cNvSpPr/>
          <p:nvPr/>
        </p:nvSpPr>
        <p:spPr>
          <a:xfrm>
            <a:off x="4700016" y="213969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7" name="Shape 95"/>
          <p:cNvSpPr/>
          <p:nvPr/>
        </p:nvSpPr>
        <p:spPr>
          <a:xfrm>
            <a:off x="4700016" y="265176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8" name="Shape 96"/>
          <p:cNvSpPr/>
          <p:nvPr/>
        </p:nvSpPr>
        <p:spPr>
          <a:xfrm>
            <a:off x="4700016" y="316382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9" name="Shape 97"/>
          <p:cNvSpPr/>
          <p:nvPr/>
        </p:nvSpPr>
        <p:spPr>
          <a:xfrm>
            <a:off x="4700016" y="367588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" name="Shape 98"/>
          <p:cNvSpPr/>
          <p:nvPr/>
        </p:nvSpPr>
        <p:spPr>
          <a:xfrm>
            <a:off x="4700016" y="418795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1" name="Shape 99"/>
          <p:cNvSpPr/>
          <p:nvPr/>
        </p:nvSpPr>
        <p:spPr>
          <a:xfrm>
            <a:off x="4700016" y="470001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2" name="Shape 100"/>
          <p:cNvSpPr/>
          <p:nvPr/>
        </p:nvSpPr>
        <p:spPr>
          <a:xfrm>
            <a:off x="5212080" y="9144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3" name="Shape 101"/>
          <p:cNvSpPr/>
          <p:nvPr/>
        </p:nvSpPr>
        <p:spPr>
          <a:xfrm>
            <a:off x="5212080" y="60350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4" name="Shape 102"/>
          <p:cNvSpPr/>
          <p:nvPr/>
        </p:nvSpPr>
        <p:spPr>
          <a:xfrm>
            <a:off x="5212080" y="111556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5" name="Shape 103"/>
          <p:cNvSpPr/>
          <p:nvPr/>
        </p:nvSpPr>
        <p:spPr>
          <a:xfrm>
            <a:off x="5212080" y="162763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6" name="Shape 104"/>
          <p:cNvSpPr/>
          <p:nvPr/>
        </p:nvSpPr>
        <p:spPr>
          <a:xfrm>
            <a:off x="5212080" y="213969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7" name="Shape 105"/>
          <p:cNvSpPr/>
          <p:nvPr/>
        </p:nvSpPr>
        <p:spPr>
          <a:xfrm>
            <a:off x="5212080" y="265176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8" name="Shape 106"/>
          <p:cNvSpPr/>
          <p:nvPr/>
        </p:nvSpPr>
        <p:spPr>
          <a:xfrm>
            <a:off x="5212080" y="316382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9" name="Shape 107"/>
          <p:cNvSpPr/>
          <p:nvPr/>
        </p:nvSpPr>
        <p:spPr>
          <a:xfrm>
            <a:off x="5212080" y="367588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0" name="Shape 108"/>
          <p:cNvSpPr/>
          <p:nvPr/>
        </p:nvSpPr>
        <p:spPr>
          <a:xfrm>
            <a:off x="5212080" y="418795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1" name="Shape 109"/>
          <p:cNvSpPr/>
          <p:nvPr/>
        </p:nvSpPr>
        <p:spPr>
          <a:xfrm>
            <a:off x="5212080" y="470001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2" name="Shape 110"/>
          <p:cNvSpPr/>
          <p:nvPr/>
        </p:nvSpPr>
        <p:spPr>
          <a:xfrm>
            <a:off x="5724144" y="9144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3" name="Shape 111"/>
          <p:cNvSpPr/>
          <p:nvPr/>
        </p:nvSpPr>
        <p:spPr>
          <a:xfrm>
            <a:off x="5724144" y="60350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4" name="Shape 112"/>
          <p:cNvSpPr/>
          <p:nvPr/>
        </p:nvSpPr>
        <p:spPr>
          <a:xfrm>
            <a:off x="5724144" y="111556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5" name="Shape 113"/>
          <p:cNvSpPr/>
          <p:nvPr/>
        </p:nvSpPr>
        <p:spPr>
          <a:xfrm>
            <a:off x="5724144" y="162763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6" name="Shape 114"/>
          <p:cNvSpPr/>
          <p:nvPr/>
        </p:nvSpPr>
        <p:spPr>
          <a:xfrm>
            <a:off x="5724144" y="213969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7" name="Shape 115"/>
          <p:cNvSpPr/>
          <p:nvPr/>
        </p:nvSpPr>
        <p:spPr>
          <a:xfrm>
            <a:off x="5724144" y="265176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8" name="Shape 116"/>
          <p:cNvSpPr/>
          <p:nvPr/>
        </p:nvSpPr>
        <p:spPr>
          <a:xfrm>
            <a:off x="5724144" y="316382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9" name="Shape 117"/>
          <p:cNvSpPr/>
          <p:nvPr/>
        </p:nvSpPr>
        <p:spPr>
          <a:xfrm>
            <a:off x="5724144" y="367588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0" name="Shape 118"/>
          <p:cNvSpPr/>
          <p:nvPr/>
        </p:nvSpPr>
        <p:spPr>
          <a:xfrm>
            <a:off x="5724144" y="418795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1" name="Shape 119"/>
          <p:cNvSpPr/>
          <p:nvPr/>
        </p:nvSpPr>
        <p:spPr>
          <a:xfrm>
            <a:off x="5724144" y="470001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2" name="Shape 120"/>
          <p:cNvSpPr/>
          <p:nvPr/>
        </p:nvSpPr>
        <p:spPr>
          <a:xfrm>
            <a:off x="6236208" y="9144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3" name="Shape 121"/>
          <p:cNvSpPr/>
          <p:nvPr/>
        </p:nvSpPr>
        <p:spPr>
          <a:xfrm>
            <a:off x="6236208" y="60350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4" name="Shape 122"/>
          <p:cNvSpPr/>
          <p:nvPr/>
        </p:nvSpPr>
        <p:spPr>
          <a:xfrm>
            <a:off x="6236208" y="111556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5" name="Shape 123"/>
          <p:cNvSpPr/>
          <p:nvPr/>
        </p:nvSpPr>
        <p:spPr>
          <a:xfrm>
            <a:off x="6236208" y="162763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6" name="Shape 124"/>
          <p:cNvSpPr/>
          <p:nvPr/>
        </p:nvSpPr>
        <p:spPr>
          <a:xfrm>
            <a:off x="6236208" y="213969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7" name="Shape 125"/>
          <p:cNvSpPr/>
          <p:nvPr/>
        </p:nvSpPr>
        <p:spPr>
          <a:xfrm>
            <a:off x="6236208" y="265176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8" name="Shape 126"/>
          <p:cNvSpPr/>
          <p:nvPr/>
        </p:nvSpPr>
        <p:spPr>
          <a:xfrm>
            <a:off x="6236208" y="316382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9" name="Shape 127"/>
          <p:cNvSpPr/>
          <p:nvPr/>
        </p:nvSpPr>
        <p:spPr>
          <a:xfrm>
            <a:off x="6236208" y="367588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0" name="Shape 128"/>
          <p:cNvSpPr/>
          <p:nvPr/>
        </p:nvSpPr>
        <p:spPr>
          <a:xfrm>
            <a:off x="6236208" y="418795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1" name="Shape 129"/>
          <p:cNvSpPr/>
          <p:nvPr/>
        </p:nvSpPr>
        <p:spPr>
          <a:xfrm>
            <a:off x="6236208" y="470001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2" name="Shape 130"/>
          <p:cNvSpPr/>
          <p:nvPr/>
        </p:nvSpPr>
        <p:spPr>
          <a:xfrm>
            <a:off x="6748272" y="9144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3" name="Shape 131"/>
          <p:cNvSpPr/>
          <p:nvPr/>
        </p:nvSpPr>
        <p:spPr>
          <a:xfrm>
            <a:off x="6748272" y="60350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4" name="Shape 132"/>
          <p:cNvSpPr/>
          <p:nvPr/>
        </p:nvSpPr>
        <p:spPr>
          <a:xfrm>
            <a:off x="6748272" y="111556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5" name="Shape 133"/>
          <p:cNvSpPr/>
          <p:nvPr/>
        </p:nvSpPr>
        <p:spPr>
          <a:xfrm>
            <a:off x="6748272" y="162763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6" name="Shape 134"/>
          <p:cNvSpPr/>
          <p:nvPr/>
        </p:nvSpPr>
        <p:spPr>
          <a:xfrm>
            <a:off x="6748272" y="213969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7" name="Shape 135"/>
          <p:cNvSpPr/>
          <p:nvPr/>
        </p:nvSpPr>
        <p:spPr>
          <a:xfrm>
            <a:off x="6748272" y="265176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8" name="Shape 136"/>
          <p:cNvSpPr/>
          <p:nvPr/>
        </p:nvSpPr>
        <p:spPr>
          <a:xfrm>
            <a:off x="6748272" y="316382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9" name="Shape 137"/>
          <p:cNvSpPr/>
          <p:nvPr/>
        </p:nvSpPr>
        <p:spPr>
          <a:xfrm>
            <a:off x="6748272" y="367588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0" name="Shape 138"/>
          <p:cNvSpPr/>
          <p:nvPr/>
        </p:nvSpPr>
        <p:spPr>
          <a:xfrm>
            <a:off x="6748272" y="418795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1" name="Shape 139"/>
          <p:cNvSpPr/>
          <p:nvPr/>
        </p:nvSpPr>
        <p:spPr>
          <a:xfrm>
            <a:off x="6748272" y="470001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2" name="Shape 140"/>
          <p:cNvSpPr/>
          <p:nvPr/>
        </p:nvSpPr>
        <p:spPr>
          <a:xfrm>
            <a:off x="7260336" y="9144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3" name="Shape 141"/>
          <p:cNvSpPr/>
          <p:nvPr/>
        </p:nvSpPr>
        <p:spPr>
          <a:xfrm>
            <a:off x="7260336" y="60350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4" name="Shape 142"/>
          <p:cNvSpPr/>
          <p:nvPr/>
        </p:nvSpPr>
        <p:spPr>
          <a:xfrm>
            <a:off x="7260336" y="111556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5" name="Shape 143"/>
          <p:cNvSpPr/>
          <p:nvPr/>
        </p:nvSpPr>
        <p:spPr>
          <a:xfrm>
            <a:off x="7260336" y="162763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6" name="Shape 144"/>
          <p:cNvSpPr/>
          <p:nvPr/>
        </p:nvSpPr>
        <p:spPr>
          <a:xfrm>
            <a:off x="7260336" y="213969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7" name="Shape 145"/>
          <p:cNvSpPr/>
          <p:nvPr/>
        </p:nvSpPr>
        <p:spPr>
          <a:xfrm>
            <a:off x="7260336" y="265176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8" name="Shape 146"/>
          <p:cNvSpPr/>
          <p:nvPr/>
        </p:nvSpPr>
        <p:spPr>
          <a:xfrm>
            <a:off x="7260336" y="316382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9" name="Shape 147"/>
          <p:cNvSpPr/>
          <p:nvPr/>
        </p:nvSpPr>
        <p:spPr>
          <a:xfrm>
            <a:off x="7260336" y="367588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0" name="Shape 148"/>
          <p:cNvSpPr/>
          <p:nvPr/>
        </p:nvSpPr>
        <p:spPr>
          <a:xfrm>
            <a:off x="7260336" y="418795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1" name="Shape 149"/>
          <p:cNvSpPr/>
          <p:nvPr/>
        </p:nvSpPr>
        <p:spPr>
          <a:xfrm>
            <a:off x="7260336" y="470001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2" name="Shape 150"/>
          <p:cNvSpPr/>
          <p:nvPr/>
        </p:nvSpPr>
        <p:spPr>
          <a:xfrm>
            <a:off x="7772400" y="9144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3" name="Shape 151"/>
          <p:cNvSpPr/>
          <p:nvPr/>
        </p:nvSpPr>
        <p:spPr>
          <a:xfrm>
            <a:off x="7772400" y="60350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4" name="Shape 152"/>
          <p:cNvSpPr/>
          <p:nvPr/>
        </p:nvSpPr>
        <p:spPr>
          <a:xfrm>
            <a:off x="7772400" y="111556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5" name="Shape 153"/>
          <p:cNvSpPr/>
          <p:nvPr/>
        </p:nvSpPr>
        <p:spPr>
          <a:xfrm>
            <a:off x="7772400" y="162763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6" name="Shape 154"/>
          <p:cNvSpPr/>
          <p:nvPr/>
        </p:nvSpPr>
        <p:spPr>
          <a:xfrm>
            <a:off x="7772400" y="213969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7" name="Shape 155"/>
          <p:cNvSpPr/>
          <p:nvPr/>
        </p:nvSpPr>
        <p:spPr>
          <a:xfrm>
            <a:off x="7772400" y="265176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8" name="Shape 156"/>
          <p:cNvSpPr/>
          <p:nvPr/>
        </p:nvSpPr>
        <p:spPr>
          <a:xfrm>
            <a:off x="7772400" y="316382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9" name="Shape 157"/>
          <p:cNvSpPr/>
          <p:nvPr/>
        </p:nvSpPr>
        <p:spPr>
          <a:xfrm>
            <a:off x="7772400" y="367588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0" name="Shape 158"/>
          <p:cNvSpPr/>
          <p:nvPr/>
        </p:nvSpPr>
        <p:spPr>
          <a:xfrm>
            <a:off x="7772400" y="418795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1" name="Shape 159"/>
          <p:cNvSpPr/>
          <p:nvPr/>
        </p:nvSpPr>
        <p:spPr>
          <a:xfrm>
            <a:off x="7772400" y="470001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2" name="Shape 160"/>
          <p:cNvSpPr/>
          <p:nvPr/>
        </p:nvSpPr>
        <p:spPr>
          <a:xfrm>
            <a:off x="8284464" y="9144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3" name="Shape 161"/>
          <p:cNvSpPr/>
          <p:nvPr/>
        </p:nvSpPr>
        <p:spPr>
          <a:xfrm>
            <a:off x="8284464" y="60350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4" name="Shape 162"/>
          <p:cNvSpPr/>
          <p:nvPr/>
        </p:nvSpPr>
        <p:spPr>
          <a:xfrm>
            <a:off x="8284464" y="111556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5" name="Shape 163"/>
          <p:cNvSpPr/>
          <p:nvPr/>
        </p:nvSpPr>
        <p:spPr>
          <a:xfrm>
            <a:off x="8284464" y="162763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6" name="Shape 164"/>
          <p:cNvSpPr/>
          <p:nvPr/>
        </p:nvSpPr>
        <p:spPr>
          <a:xfrm>
            <a:off x="8284464" y="213969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7" name="Shape 165"/>
          <p:cNvSpPr/>
          <p:nvPr/>
        </p:nvSpPr>
        <p:spPr>
          <a:xfrm>
            <a:off x="8284464" y="265176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8" name="Shape 166"/>
          <p:cNvSpPr/>
          <p:nvPr/>
        </p:nvSpPr>
        <p:spPr>
          <a:xfrm>
            <a:off x="8284464" y="316382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9" name="Shape 167"/>
          <p:cNvSpPr/>
          <p:nvPr/>
        </p:nvSpPr>
        <p:spPr>
          <a:xfrm>
            <a:off x="8284464" y="367588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0" name="Shape 168"/>
          <p:cNvSpPr/>
          <p:nvPr/>
        </p:nvSpPr>
        <p:spPr>
          <a:xfrm>
            <a:off x="8284464" y="418795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1" name="Shape 169"/>
          <p:cNvSpPr/>
          <p:nvPr/>
        </p:nvSpPr>
        <p:spPr>
          <a:xfrm>
            <a:off x="8284464" y="470001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2" name="Shape 170"/>
          <p:cNvSpPr/>
          <p:nvPr/>
        </p:nvSpPr>
        <p:spPr>
          <a:xfrm>
            <a:off x="8796528" y="9144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3" name="Shape 171"/>
          <p:cNvSpPr/>
          <p:nvPr/>
        </p:nvSpPr>
        <p:spPr>
          <a:xfrm>
            <a:off x="8796528" y="60350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4" name="Shape 172"/>
          <p:cNvSpPr/>
          <p:nvPr/>
        </p:nvSpPr>
        <p:spPr>
          <a:xfrm>
            <a:off x="8796528" y="111556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5" name="Shape 173"/>
          <p:cNvSpPr/>
          <p:nvPr/>
        </p:nvSpPr>
        <p:spPr>
          <a:xfrm>
            <a:off x="8796528" y="162763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6" name="Shape 174"/>
          <p:cNvSpPr/>
          <p:nvPr/>
        </p:nvSpPr>
        <p:spPr>
          <a:xfrm>
            <a:off x="8796528" y="213969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7" name="Shape 175"/>
          <p:cNvSpPr/>
          <p:nvPr/>
        </p:nvSpPr>
        <p:spPr>
          <a:xfrm>
            <a:off x="8796528" y="2651760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8" name="Shape 176"/>
          <p:cNvSpPr/>
          <p:nvPr/>
        </p:nvSpPr>
        <p:spPr>
          <a:xfrm>
            <a:off x="8796528" y="3163824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9" name="Shape 177"/>
          <p:cNvSpPr/>
          <p:nvPr/>
        </p:nvSpPr>
        <p:spPr>
          <a:xfrm>
            <a:off x="8796528" y="3675888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0" name="Shape 178"/>
          <p:cNvSpPr/>
          <p:nvPr/>
        </p:nvSpPr>
        <p:spPr>
          <a:xfrm>
            <a:off x="8796528" y="4187952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1" name="Shape 179"/>
          <p:cNvSpPr/>
          <p:nvPr/>
        </p:nvSpPr>
        <p:spPr>
          <a:xfrm>
            <a:off x="8796528" y="4700016"/>
            <a:ext cx="36576" cy="36576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2" name="Shape 18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0141C"/>
          </a:solidFill>
          <a:ln w="12700">
            <a:solidFill>
              <a:srgbClr val="1014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3" name="Shape 181"/>
          <p:cNvSpPr/>
          <p:nvPr/>
        </p:nvSpPr>
        <p:spPr>
          <a:xfrm>
            <a:off x="475488" y="658368"/>
            <a:ext cx="41148" cy="3840480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4" name="Text 182"/>
          <p:cNvSpPr/>
          <p:nvPr/>
        </p:nvSpPr>
        <p:spPr>
          <a:xfrm>
            <a:off x="658368" y="6583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 ASSET TOKENIZATION</a:t>
            </a:r>
            <a:endParaRPr lang="en-US" sz="800" dirty="0"/>
          </a:p>
        </p:txBody>
      </p:sp>
      <p:sp>
        <p:nvSpPr>
          <p:cNvPr id="185" name="Text 183"/>
          <p:cNvSpPr/>
          <p:nvPr/>
        </p:nvSpPr>
        <p:spPr>
          <a:xfrm>
            <a:off x="658368" y="98755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RWA Experts</a:t>
            </a:r>
            <a:endParaRPr lang="en-US" sz="5200" dirty="0"/>
          </a:p>
        </p:txBody>
      </p:sp>
      <p:sp>
        <p:nvSpPr>
          <p:cNvPr id="186" name="Text 184"/>
          <p:cNvSpPr/>
          <p:nvPr/>
        </p:nvSpPr>
        <p:spPr>
          <a:xfrm>
            <a:off x="658368" y="19385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World Wealth to Blockchain</a:t>
            </a:r>
            <a:endParaRPr lang="en-US" sz="1800" dirty="0"/>
          </a:p>
        </p:txBody>
      </p:sp>
      <p:sp>
        <p:nvSpPr>
          <p:cNvPr id="187" name="Shape 185"/>
          <p:cNvSpPr/>
          <p:nvPr/>
        </p:nvSpPr>
        <p:spPr>
          <a:xfrm>
            <a:off x="658368" y="2578608"/>
            <a:ext cx="2560320" cy="27432"/>
          </a:xfrm>
          <a:prstGeom prst="rect">
            <a:avLst/>
          </a:prstGeom>
          <a:solidFill>
            <a:srgbClr val="B8975A">
              <a:alpha val="60000"/>
            </a:srgbClr>
          </a:solidFill>
          <a:ln w="12700">
            <a:solidFill>
              <a:srgbClr val="B8975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8" name="Text 186"/>
          <p:cNvSpPr/>
          <p:nvPr/>
        </p:nvSpPr>
        <p:spPr>
          <a:xfrm>
            <a:off x="658368" y="2761488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launching a tokenized real estate fund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$750 instead of $50,000 — and took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hours instead of 6 months?</a:t>
            </a:r>
            <a:endParaRPr lang="en-US" sz="1300" dirty="0"/>
          </a:p>
        </p:txBody>
      </p:sp>
      <p:sp>
        <p:nvSpPr>
          <p:cNvPr id="189" name="Shape 187"/>
          <p:cNvSpPr/>
          <p:nvPr/>
        </p:nvSpPr>
        <p:spPr>
          <a:xfrm>
            <a:off x="658368" y="4005072"/>
            <a:ext cx="1417320" cy="868680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0" name="Shape 188"/>
          <p:cNvSpPr/>
          <p:nvPr/>
        </p:nvSpPr>
        <p:spPr>
          <a:xfrm>
            <a:off x="658368" y="4005072"/>
            <a:ext cx="1417320" cy="4114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1" name="Text 189"/>
          <p:cNvSpPr/>
          <p:nvPr/>
        </p:nvSpPr>
        <p:spPr>
          <a:xfrm>
            <a:off x="658368" y="4059936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$280T</a:t>
            </a:r>
            <a:endParaRPr lang="en-US" sz="2000" dirty="0"/>
          </a:p>
        </p:txBody>
      </p:sp>
      <p:sp>
        <p:nvSpPr>
          <p:cNvPr id="192" name="Text 190"/>
          <p:cNvSpPr/>
          <p:nvPr/>
        </p:nvSpPr>
        <p:spPr>
          <a:xfrm>
            <a:off x="658368" y="44805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Market</a:t>
            </a:r>
            <a:endParaRPr lang="en-US" sz="800" dirty="0"/>
          </a:p>
        </p:txBody>
      </p:sp>
      <p:sp>
        <p:nvSpPr>
          <p:cNvPr id="193" name="Shape 191"/>
          <p:cNvSpPr/>
          <p:nvPr/>
        </p:nvSpPr>
        <p:spPr>
          <a:xfrm>
            <a:off x="2231136" y="4005072"/>
            <a:ext cx="1417320" cy="868680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4" name="Shape 192"/>
          <p:cNvSpPr/>
          <p:nvPr/>
        </p:nvSpPr>
        <p:spPr>
          <a:xfrm>
            <a:off x="2231136" y="4005072"/>
            <a:ext cx="1417320" cy="4114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5" name="Text 193"/>
          <p:cNvSpPr/>
          <p:nvPr/>
        </p:nvSpPr>
        <p:spPr>
          <a:xfrm>
            <a:off x="2231136" y="4059936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$750</a:t>
            </a:r>
            <a:endParaRPr lang="en-US" sz="2000" dirty="0"/>
          </a:p>
        </p:txBody>
      </p:sp>
      <p:sp>
        <p:nvSpPr>
          <p:cNvPr id="196" name="Text 194"/>
          <p:cNvSpPr/>
          <p:nvPr/>
        </p:nvSpPr>
        <p:spPr>
          <a:xfrm>
            <a:off x="2231136" y="44805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Cost</a:t>
            </a:r>
            <a:endParaRPr lang="en-US" sz="800" dirty="0"/>
          </a:p>
        </p:txBody>
      </p:sp>
      <p:sp>
        <p:nvSpPr>
          <p:cNvPr id="197" name="Shape 195"/>
          <p:cNvSpPr/>
          <p:nvPr/>
        </p:nvSpPr>
        <p:spPr>
          <a:xfrm>
            <a:off x="3803904" y="4005072"/>
            <a:ext cx="1417320" cy="868680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8" name="Shape 196"/>
          <p:cNvSpPr/>
          <p:nvPr/>
        </p:nvSpPr>
        <p:spPr>
          <a:xfrm>
            <a:off x="3803904" y="4005072"/>
            <a:ext cx="1417320" cy="4114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9" name="Text 197"/>
          <p:cNvSpPr/>
          <p:nvPr/>
        </p:nvSpPr>
        <p:spPr>
          <a:xfrm>
            <a:off x="3803904" y="4059936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hrs</a:t>
            </a:r>
            <a:endParaRPr lang="en-US" sz="2000" dirty="0"/>
          </a:p>
        </p:txBody>
      </p:sp>
      <p:sp>
        <p:nvSpPr>
          <p:cNvPr id="200" name="Text 198"/>
          <p:cNvSpPr/>
          <p:nvPr/>
        </p:nvSpPr>
        <p:spPr>
          <a:xfrm>
            <a:off x="3803904" y="44805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Market</a:t>
            </a:r>
            <a:endParaRPr lang="en-US" sz="800" dirty="0"/>
          </a:p>
        </p:txBody>
      </p:sp>
      <p:sp>
        <p:nvSpPr>
          <p:cNvPr id="201" name="Shape 199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181D27"/>
          </a:solidFill>
          <a:ln w="12700">
            <a:solidFill>
              <a:srgbClr val="181D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2" name="Shape 200"/>
          <p:cNvSpPr/>
          <p:nvPr/>
        </p:nvSpPr>
        <p:spPr>
          <a:xfrm>
            <a:off x="5852160" y="0"/>
            <a:ext cx="41148" cy="5143500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3" name="Text 201"/>
          <p:cNvSpPr/>
          <p:nvPr/>
        </p:nvSpPr>
        <p:spPr>
          <a:xfrm>
            <a:off x="6053328" y="1005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ROUND</a:t>
            </a:r>
            <a:endParaRPr lang="en-US" sz="800" dirty="0"/>
          </a:p>
        </p:txBody>
      </p:sp>
      <p:sp>
        <p:nvSpPr>
          <p:cNvPr id="204" name="Text 202"/>
          <p:cNvSpPr/>
          <p:nvPr/>
        </p:nvSpPr>
        <p:spPr>
          <a:xfrm>
            <a:off x="6053328" y="132588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$400,000</a:t>
            </a:r>
            <a:endParaRPr lang="en-US" sz="4400" dirty="0"/>
          </a:p>
        </p:txBody>
      </p:sp>
      <p:sp>
        <p:nvSpPr>
          <p:cNvPr id="205" name="Text 203"/>
          <p:cNvSpPr/>
          <p:nvPr/>
        </p:nvSpPr>
        <p:spPr>
          <a:xfrm>
            <a:off x="6053328" y="20848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$2.7M valuation</a:t>
            </a:r>
            <a:endParaRPr lang="en-US" sz="1100" dirty="0"/>
          </a:p>
        </p:txBody>
      </p:sp>
      <p:sp>
        <p:nvSpPr>
          <p:cNvPr id="206" name="Shape 204"/>
          <p:cNvSpPr/>
          <p:nvPr/>
        </p:nvSpPr>
        <p:spPr>
          <a:xfrm>
            <a:off x="6492240" y="2487168"/>
            <a:ext cx="1920240" cy="27432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7" name="Shape 205"/>
          <p:cNvSpPr/>
          <p:nvPr/>
        </p:nvSpPr>
        <p:spPr>
          <a:xfrm>
            <a:off x="6126480" y="2743200"/>
            <a:ext cx="91440" cy="91440"/>
          </a:xfrm>
          <a:prstGeom prst="ellipse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8" name="Text 206"/>
          <p:cNvSpPr/>
          <p:nvPr/>
        </p:nvSpPr>
        <p:spPr>
          <a:xfrm>
            <a:off x="6327648" y="270662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</a:t>
            </a:r>
            <a:endParaRPr lang="en-US" sz="1000" dirty="0"/>
          </a:p>
        </p:txBody>
      </p:sp>
      <p:sp>
        <p:nvSpPr>
          <p:cNvPr id="209" name="Shape 207"/>
          <p:cNvSpPr/>
          <p:nvPr/>
        </p:nvSpPr>
        <p:spPr>
          <a:xfrm>
            <a:off x="6126480" y="3145536"/>
            <a:ext cx="91440" cy="91440"/>
          </a:xfrm>
          <a:prstGeom prst="ellipse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0" name="Text 208"/>
          <p:cNvSpPr/>
          <p:nvPr/>
        </p:nvSpPr>
        <p:spPr>
          <a:xfrm>
            <a:off x="6327648" y="310896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deployment</a:t>
            </a:r>
            <a:endParaRPr lang="en-US" sz="1000" dirty="0"/>
          </a:p>
        </p:txBody>
      </p:sp>
      <p:sp>
        <p:nvSpPr>
          <p:cNvPr id="211" name="Shape 209"/>
          <p:cNvSpPr/>
          <p:nvPr/>
        </p:nvSpPr>
        <p:spPr>
          <a:xfrm>
            <a:off x="6126480" y="3547872"/>
            <a:ext cx="91440" cy="91440"/>
          </a:xfrm>
          <a:prstGeom prst="ellipse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2" name="Text 210"/>
          <p:cNvSpPr/>
          <p:nvPr/>
        </p:nvSpPr>
        <p:spPr>
          <a:xfrm>
            <a:off x="6327648" y="35112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 pilot projects</a:t>
            </a:r>
            <a:endParaRPr lang="en-US" sz="1000" dirty="0"/>
          </a:p>
        </p:txBody>
      </p:sp>
      <p:sp>
        <p:nvSpPr>
          <p:cNvPr id="213" name="Shape 211"/>
          <p:cNvSpPr/>
          <p:nvPr/>
        </p:nvSpPr>
        <p:spPr>
          <a:xfrm>
            <a:off x="6126480" y="3950208"/>
            <a:ext cx="91440" cy="91440"/>
          </a:xfrm>
          <a:prstGeom prst="ellipse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4" name="Text 212"/>
          <p:cNvSpPr/>
          <p:nvPr/>
        </p:nvSpPr>
        <p:spPr>
          <a:xfrm>
            <a:off x="6327648" y="39136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team expansion</a:t>
            </a:r>
            <a:endParaRPr lang="en-US" sz="1000" dirty="0"/>
          </a:p>
        </p:txBody>
      </p:sp>
      <p:sp>
        <p:nvSpPr>
          <p:cNvPr id="215" name="Shape 213"/>
          <p:cNvSpPr/>
          <p:nvPr/>
        </p:nvSpPr>
        <p:spPr>
          <a:xfrm>
            <a:off x="6492240" y="4462272"/>
            <a:ext cx="1920240" cy="27432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6" name="Text 214"/>
          <p:cNvSpPr/>
          <p:nvPr/>
        </p:nvSpPr>
        <p:spPr>
          <a:xfrm>
            <a:off x="6053328" y="46177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founder@rwaexperts.com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81D27"/>
          </a:solidFill>
          <a:ln w="12700">
            <a:solidFill>
              <a:srgbClr val="181D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04672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01168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01168" y="310896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$280 Trillion Locked Away from Most Investors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01168" y="914400"/>
            <a:ext cx="2029968" cy="129844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01168" y="914400"/>
            <a:ext cx="2029968" cy="4114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1168" y="1371600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$326T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201168" y="178308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market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395728" y="914400"/>
            <a:ext cx="2029968" cy="129844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2395728" y="914400"/>
            <a:ext cx="2029968" cy="4114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100584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395728" y="1371600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$130T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2395728" y="178308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Income market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590288" y="914400"/>
            <a:ext cx="2029968" cy="129844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4590288" y="914400"/>
            <a:ext cx="2029968" cy="4114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005840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90288" y="1371600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$8T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4590288" y="178308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Equity market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784848" y="914400"/>
            <a:ext cx="2029968" cy="129844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17"/>
          <p:cNvSpPr/>
          <p:nvPr/>
        </p:nvSpPr>
        <p:spPr>
          <a:xfrm>
            <a:off x="6784848" y="914400"/>
            <a:ext cx="2029968" cy="4114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1005840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784848" y="1371600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$120T</a:t>
            </a:r>
            <a:endParaRPr lang="en-US" sz="2600" dirty="0"/>
          </a:p>
        </p:txBody>
      </p:sp>
      <p:sp>
        <p:nvSpPr>
          <p:cNvPr id="25" name="Text 19"/>
          <p:cNvSpPr/>
          <p:nvPr/>
        </p:nvSpPr>
        <p:spPr>
          <a:xfrm>
            <a:off x="6784848" y="178308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Commodities market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201168" y="23591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SUFFERS TODAY</a:t>
            </a:r>
            <a:endParaRPr lang="en-US" sz="750" dirty="0"/>
          </a:p>
        </p:txBody>
      </p:sp>
      <p:sp>
        <p:nvSpPr>
          <p:cNvPr id="27" name="Shape 21"/>
          <p:cNvSpPr/>
          <p:nvPr/>
        </p:nvSpPr>
        <p:spPr>
          <a:xfrm>
            <a:off x="201168" y="2633472"/>
            <a:ext cx="4160520" cy="658368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2"/>
          <p:cNvSpPr/>
          <p:nvPr/>
        </p:nvSpPr>
        <p:spPr>
          <a:xfrm>
            <a:off x="201168" y="2633472"/>
            <a:ext cx="41148" cy="65836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3"/>
          <p:cNvSpPr/>
          <p:nvPr/>
        </p:nvSpPr>
        <p:spPr>
          <a:xfrm>
            <a:off x="347472" y="268833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Owners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920240" y="268833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C95A8"/>
                </a:solidFill>
              </a:rPr>
              <a:t>Limited to local capital pools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C95A8"/>
                </a:solidFill>
              </a:rPr>
              <a:t>High fees to intermediaries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C95A8"/>
                </a:solidFill>
              </a:rPr>
              <a:t>Slow, expensive fundraising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201168" y="3383280"/>
            <a:ext cx="4160520" cy="658368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26"/>
          <p:cNvSpPr/>
          <p:nvPr/>
        </p:nvSpPr>
        <p:spPr>
          <a:xfrm>
            <a:off x="201168" y="3383280"/>
            <a:ext cx="41148" cy="65836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27"/>
          <p:cNvSpPr/>
          <p:nvPr/>
        </p:nvSpPr>
        <p:spPr>
          <a:xfrm>
            <a:off x="347472" y="34381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Investors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1920240" y="343814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C95A8"/>
                </a:solidFill>
              </a:rPr>
              <a:t>Locked out of premium assets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C95A8"/>
                </a:solidFill>
              </a:rPr>
              <a:t>Savings lose value to inflation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C95A8"/>
                </a:solidFill>
              </a:rPr>
              <a:t>$100K–$1M minimum tickets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201168" y="4133088"/>
            <a:ext cx="4160520" cy="658368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0"/>
          <p:cNvSpPr/>
          <p:nvPr/>
        </p:nvSpPr>
        <p:spPr>
          <a:xfrm>
            <a:off x="201168" y="4133088"/>
            <a:ext cx="41148" cy="65836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1"/>
          <p:cNvSpPr/>
          <p:nvPr/>
        </p:nvSpPr>
        <p:spPr>
          <a:xfrm>
            <a:off x="347472" y="41879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1920240" y="41879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C95A8"/>
                </a:solidFill>
              </a:rPr>
              <a:t>Millions in compliance costs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C95A8"/>
                </a:solidFill>
              </a:rPr>
              <a:t>Manual processes &amp; paperwork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C95A8"/>
                </a:solidFill>
              </a:rPr>
              <a:t>Limited liquidity &amp; transparency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4572000" y="2359152"/>
            <a:ext cx="4315968" cy="2606040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Text 34"/>
          <p:cNvSpPr/>
          <p:nvPr/>
        </p:nvSpPr>
        <p:spPr>
          <a:xfrm>
            <a:off x="4709160" y="23317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41" name="Text 35"/>
          <p:cNvSpPr/>
          <p:nvPr/>
        </p:nvSpPr>
        <p:spPr>
          <a:xfrm>
            <a:off x="4800600" y="2816352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EAE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average American has 65% of their wealth in their home, yet cannot easily invest in other real estate.</a:t>
            </a:r>
            <a:endParaRPr lang="en-US" sz="1400" dirty="0"/>
          </a:p>
        </p:txBody>
      </p:sp>
      <p:sp>
        <p:nvSpPr>
          <p:cNvPr id="42" name="Shape 36"/>
          <p:cNvSpPr/>
          <p:nvPr/>
        </p:nvSpPr>
        <p:spPr>
          <a:xfrm>
            <a:off x="4800600" y="4526280"/>
            <a:ext cx="822960" cy="27432"/>
          </a:xfrm>
          <a:prstGeom prst="rect">
            <a:avLst/>
          </a:prstGeom>
          <a:solidFill>
            <a:srgbClr val="B8975A">
              <a:alpha val="70000"/>
            </a:srgbClr>
          </a:solidFill>
          <a:ln w="12700">
            <a:solidFill>
              <a:srgbClr val="B8975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37"/>
          <p:cNvSpPr/>
          <p:nvPr/>
        </p:nvSpPr>
        <p:spPr>
          <a:xfrm>
            <a:off x="4800600" y="461772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Reality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81D27"/>
          </a:solidFill>
          <a:ln w="12700">
            <a:solidFill>
              <a:srgbClr val="181D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04672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01168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01168" y="310896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Infrastructure for Real-World Asset Tokenization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1168" y="932688"/>
            <a:ext cx="8741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 Experts is the self-service platform that lets any asset owner tokenize, fund, and trade real-world assets in days — not months.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01168" y="1414817"/>
            <a:ext cx="2743200" cy="1596788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01167" y="1414817"/>
            <a:ext cx="45719" cy="159678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84048" y="1349535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1852455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 Fund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2218215"/>
            <a:ext cx="1280160" cy="27432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2327943"/>
            <a:ext cx="2423160" cy="60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Crowdfund tokenized projects with escrow protection and automated compliance checks built in.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45536" y="1414817"/>
            <a:ext cx="2743200" cy="1596788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145536" y="1414817"/>
            <a:ext cx="41148" cy="159678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328416" y="1349535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10128" y="1852455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3310128" y="2218215"/>
            <a:ext cx="1280160" cy="27432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310128" y="2327943"/>
            <a:ext cx="2423160" cy="60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factory mints ERC-3643 security tokens in 48 hours with full regulatory compliance.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89904" y="1414817"/>
            <a:ext cx="2743200" cy="1596788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089904" y="1414817"/>
            <a:ext cx="41148" cy="159678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272784" y="1349535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254496" y="1852455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254496" y="2218215"/>
            <a:ext cx="1280160" cy="27432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254496" y="2327943"/>
            <a:ext cx="2423160" cy="60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P2P exchange with escrow vaults and automated dividend distribution to token holders.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99802" y="3158773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TRADITIONAL BARRIERS TO OPEN ACCESS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01168" y="3705366"/>
            <a:ext cx="4160520" cy="237744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361688" y="3705366"/>
            <a:ext cx="4160520" cy="237744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292608" y="370536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$100K–$1M minimums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453128" y="370536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Invest from $100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01168" y="3961398"/>
            <a:ext cx="4160520" cy="237744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4361688" y="3961398"/>
            <a:ext cx="4160520" cy="237744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292608" y="396139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5–10 year lockups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453128" y="396139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Trade 24/7, secondary market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01168" y="4217430"/>
            <a:ext cx="4160520" cy="237744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4361688" y="4217430"/>
            <a:ext cx="4160520" cy="237744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292608" y="421743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Geographic restrictions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453128" y="421743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Multichain, global access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01168" y="4473462"/>
            <a:ext cx="4160520" cy="237744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4361688" y="4473462"/>
            <a:ext cx="4160520" cy="237744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292608" y="447346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Paper-based, weeks to close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453128" y="447346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On-chain, real-time settlement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01168" y="3536499"/>
            <a:ext cx="4160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361688" y="3536499"/>
            <a:ext cx="4160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 Experts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81D27"/>
          </a:solidFill>
          <a:ln w="12700">
            <a:solidFill>
              <a:srgbClr val="181D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04672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01168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01168" y="310896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 from Application to Live Capital Raise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1168" y="9326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ASSET OWNERS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01168" y="1207008"/>
            <a:ext cx="2029968" cy="126187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29184" y="12618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9184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" y="19933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project details and asset documentation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31136" y="1783080"/>
            <a:ext cx="164592" cy="0"/>
          </a:xfrm>
          <a:prstGeom prst="line">
            <a:avLst/>
          </a:prstGeom>
          <a:noFill/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395728" y="1207008"/>
            <a:ext cx="2029968" cy="126187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523744" y="12618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523744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Approved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23744" y="19933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24–48 hour review with KYC verification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25696" y="1783080"/>
            <a:ext cx="164592" cy="0"/>
          </a:xfrm>
          <a:prstGeom prst="line">
            <a:avLst/>
          </a:prstGeom>
          <a:noFill/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590288" y="1207008"/>
            <a:ext cx="2029968" cy="126187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718304" y="12618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718304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&amp; Deploy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18304" y="19933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$750 flat fee — one-click launch to blockchain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20256" y="1783080"/>
            <a:ext cx="164592" cy="0"/>
          </a:xfrm>
          <a:prstGeom prst="line">
            <a:avLst/>
          </a:prstGeom>
          <a:noFill/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6784848" y="1207008"/>
            <a:ext cx="2029968" cy="126187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912864" y="12618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912864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Capital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12864" y="19933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verified global investors 24/7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1168" y="25968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INVESTORS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01168" y="2852928"/>
            <a:ext cx="2029968" cy="1261872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29184" y="2907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29184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Wallet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9184" y="363931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your crypto wallet in seconds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31136" y="3429000"/>
            <a:ext cx="164592" cy="0"/>
          </a:xfrm>
          <a:prstGeom prst="line">
            <a:avLst/>
          </a:prstGeom>
          <a:noFill/>
          <a:ln w="12700">
            <a:solidFill>
              <a:srgbClr val="525C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2395728" y="2852928"/>
            <a:ext cx="2029968" cy="1261872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2523744" y="2907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2523744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KYC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523744" y="363931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on-chain identity verification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425696" y="3429000"/>
            <a:ext cx="164592" cy="0"/>
          </a:xfrm>
          <a:prstGeom prst="line">
            <a:avLst/>
          </a:prstGeom>
          <a:noFill/>
          <a:ln w="12700">
            <a:solidFill>
              <a:srgbClr val="525C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4590288" y="2852928"/>
            <a:ext cx="2029968" cy="1261872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718304" y="2907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4718304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Projects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18304" y="363931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vetted real-world asset deals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620256" y="3429000"/>
            <a:ext cx="164592" cy="0"/>
          </a:xfrm>
          <a:prstGeom prst="line">
            <a:avLst/>
          </a:prstGeom>
          <a:noFill/>
          <a:ln w="12700">
            <a:solidFill>
              <a:srgbClr val="525C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6784848" y="2852928"/>
            <a:ext cx="2029968" cy="1261872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6912864" y="2907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6912864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&amp; Trade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12864" y="363931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$100, trade 24/7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181D27"/>
          </a:solidFill>
          <a:ln w="12700">
            <a:solidFill>
              <a:srgbClr val="181D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0" y="4251960"/>
            <a:ext cx="9144000" cy="41148"/>
          </a:xfrm>
          <a:prstGeom prst="rect">
            <a:avLst/>
          </a:prstGeom>
          <a:solidFill>
            <a:srgbClr val="B8975A">
              <a:alpha val="40000"/>
            </a:srgbClr>
          </a:solidFill>
          <a:ln w="12700">
            <a:solidFill>
              <a:srgbClr val="B8975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201168" y="4466366"/>
            <a:ext cx="91440" cy="91440"/>
          </a:xfrm>
          <a:prstGeom prst="ellipse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347472" y="4429790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ERC-3643 Security Tokens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993392" y="4466366"/>
            <a:ext cx="91440" cy="91440"/>
          </a:xfrm>
          <a:prstGeom prst="ellipse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2139696" y="4429790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KYC Registry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785616" y="4466366"/>
            <a:ext cx="91440" cy="91440"/>
          </a:xfrm>
          <a:prstGeom prst="ellipse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3931920" y="4429790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Compliance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577840" y="4466366"/>
            <a:ext cx="91440" cy="91440"/>
          </a:xfrm>
          <a:prstGeom prst="ellipse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5724144" y="4429790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Vaults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370064" y="4466366"/>
            <a:ext cx="91440" cy="91440"/>
          </a:xfrm>
          <a:prstGeom prst="ellipse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7516368" y="4429790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Dividends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81D27"/>
          </a:solidFill>
          <a:ln w="12700">
            <a:solidFill>
              <a:srgbClr val="181D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04672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01168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01168" y="310896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Built, Deployed, and Ready to Scale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01168" y="1073624"/>
            <a:ext cx="2743200" cy="1155510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01168" y="1073624"/>
            <a:ext cx="2743200" cy="4114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01168" y="1146776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201168" y="1723395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Testnets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" y="1920377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· Polygon · BNB · Cronos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45536" y="1073624"/>
            <a:ext cx="2743200" cy="1155510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145536" y="1073624"/>
            <a:ext cx="2743200" cy="4114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145536" y="1146776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3145536" y="17233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45536" y="1920377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verified on-chain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89904" y="1073624"/>
            <a:ext cx="2743200" cy="1155510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089904" y="1073624"/>
            <a:ext cx="2743200" cy="4114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089904" y="1146776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6089904" y="1723393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Complete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89904" y="1920377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· Trading · Dividends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01168" y="248716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FEATURES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01168" y="2743199"/>
            <a:ext cx="4206240" cy="1783307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84048" y="283464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EAE6DE"/>
                </a:solidFill>
              </a:rPr>
              <a:t>Project tokenization with escrow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EAE6DE"/>
                </a:solidFill>
              </a:rPr>
              <a:t>KYC / AML integration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EAE6DE"/>
                </a:solidFill>
              </a:rPr>
              <a:t>Security token minting (ERC-3643)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EAE6DE"/>
                </a:solidFill>
              </a:rPr>
              <a:t>P2P trade escrow system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EAE6DE"/>
                </a:solidFill>
              </a:rPr>
              <a:t>Automated dividend distribution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EAE6DE"/>
                </a:solidFill>
              </a:rPr>
              <a:t>Admin dashboard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EAE6DE"/>
                </a:solidFill>
              </a:rPr>
              <a:t>Multichain support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81728" y="248716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681728" y="2743200"/>
            <a:ext cx="4206240" cy="1783306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64608" y="283464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EAE6DE"/>
                </a:solidFill>
              </a:rPr>
              <a:t>ERC-3643 security tokens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EAE6DE"/>
                </a:solidFill>
              </a:rPr>
              <a:t>UUPS upgradeable proxies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EAE6DE"/>
                </a:solidFill>
              </a:rPr>
              <a:t>Modular compliance framework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EAE6DE"/>
                </a:solidFill>
              </a:rPr>
              <a:t>Multi-sig admin controls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EAE6DE"/>
                </a:solidFill>
              </a:rPr>
              <a:t>Gas-optimized via IR compiler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EAE6DE"/>
                </a:solidFill>
              </a:rPr>
              <a:t>OpenZeppelin standards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EAE6DE"/>
                </a:solidFill>
              </a:rPr>
              <a:t>100% test coverage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1168" y="4778262"/>
            <a:ext cx="8741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launch planned for Q2 2026 pending security audit completion.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81D27"/>
          </a:solidFill>
          <a:ln w="12700">
            <a:solidFill>
              <a:srgbClr val="181D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04672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01168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01168" y="310896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Revenue Streams — 85% Gross Margins</a:t>
            </a:r>
            <a:endParaRPr lang="en-US" sz="2200" dirty="0"/>
          </a:p>
        </p:txBody>
      </p:sp>
      <p:grpSp>
        <p:nvGrpSpPr>
          <p:cNvPr id="150" name="Groupe 149">
            <a:extLst>
              <a:ext uri="{FF2B5EF4-FFF2-40B4-BE49-F238E27FC236}">
                <a16:creationId xmlns:a16="http://schemas.microsoft.com/office/drawing/2014/main" id="{406923BF-58FC-2B42-2546-4608543D27A1}"/>
              </a:ext>
            </a:extLst>
          </p:cNvPr>
          <p:cNvGrpSpPr/>
          <p:nvPr/>
        </p:nvGrpSpPr>
        <p:grpSpPr>
          <a:xfrm>
            <a:off x="201168" y="1683318"/>
            <a:ext cx="5861304" cy="2482139"/>
            <a:chOff x="201168" y="932688"/>
            <a:chExt cx="6473952" cy="2482139"/>
          </a:xfrm>
        </p:grpSpPr>
        <p:sp>
          <p:nvSpPr>
            <p:cNvPr id="6" name="Shape 4"/>
            <p:cNvSpPr/>
            <p:nvPr/>
          </p:nvSpPr>
          <p:spPr>
            <a:xfrm>
              <a:off x="201168" y="932688"/>
              <a:ext cx="1920240" cy="251003"/>
            </a:xfrm>
            <a:prstGeom prst="rect">
              <a:avLst/>
            </a:prstGeom>
            <a:solidFill>
              <a:srgbClr val="232B3C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 5"/>
            <p:cNvSpPr/>
            <p:nvPr/>
          </p:nvSpPr>
          <p:spPr>
            <a:xfrm>
              <a:off x="246888" y="932688"/>
              <a:ext cx="1874520" cy="2510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Revenue Stream</a:t>
              </a:r>
              <a:endParaRPr lang="en-US" sz="85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2121408" y="932688"/>
              <a:ext cx="1554480" cy="251003"/>
            </a:xfrm>
            <a:prstGeom prst="rect">
              <a:avLst/>
            </a:prstGeom>
            <a:solidFill>
              <a:srgbClr val="232B3C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 7"/>
            <p:cNvSpPr/>
            <p:nvPr/>
          </p:nvSpPr>
          <p:spPr>
            <a:xfrm>
              <a:off x="2167128" y="932688"/>
              <a:ext cx="1508760" cy="2510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Fee Structure</a:t>
              </a:r>
              <a:endParaRPr lang="en-US" sz="85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3675888" y="932688"/>
              <a:ext cx="548640" cy="251003"/>
            </a:xfrm>
            <a:prstGeom prst="rect">
              <a:avLst/>
            </a:prstGeom>
            <a:solidFill>
              <a:srgbClr val="232B3C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 9"/>
            <p:cNvSpPr/>
            <p:nvPr/>
          </p:nvSpPr>
          <p:spPr>
            <a:xfrm>
              <a:off x="3721608" y="932688"/>
              <a:ext cx="502920" cy="2510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Y1</a:t>
              </a:r>
              <a:endParaRPr lang="en-US" sz="85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224528" y="932688"/>
              <a:ext cx="566928" cy="251003"/>
            </a:xfrm>
            <a:prstGeom prst="rect">
              <a:avLst/>
            </a:prstGeom>
            <a:solidFill>
              <a:srgbClr val="232B3C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 11"/>
            <p:cNvSpPr/>
            <p:nvPr/>
          </p:nvSpPr>
          <p:spPr>
            <a:xfrm>
              <a:off x="4270248" y="932688"/>
              <a:ext cx="521208" cy="2510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Y2</a:t>
              </a:r>
              <a:endParaRPr lang="en-US" sz="85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791456" y="932688"/>
              <a:ext cx="566928" cy="251003"/>
            </a:xfrm>
            <a:prstGeom prst="rect">
              <a:avLst/>
            </a:prstGeom>
            <a:solidFill>
              <a:srgbClr val="232B3C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Text 13"/>
            <p:cNvSpPr/>
            <p:nvPr/>
          </p:nvSpPr>
          <p:spPr>
            <a:xfrm>
              <a:off x="4837176" y="932688"/>
              <a:ext cx="521208" cy="2510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Y3</a:t>
              </a:r>
              <a:endParaRPr lang="en-US" sz="85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5358384" y="932688"/>
              <a:ext cx="658368" cy="251003"/>
            </a:xfrm>
            <a:prstGeom prst="rect">
              <a:avLst/>
            </a:prstGeom>
            <a:solidFill>
              <a:srgbClr val="232B3C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 15"/>
            <p:cNvSpPr/>
            <p:nvPr/>
          </p:nvSpPr>
          <p:spPr>
            <a:xfrm>
              <a:off x="5404104" y="932688"/>
              <a:ext cx="612648" cy="2510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Y4</a:t>
              </a:r>
              <a:endParaRPr lang="en-US" sz="85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6016752" y="932688"/>
              <a:ext cx="658368" cy="251003"/>
            </a:xfrm>
            <a:prstGeom prst="rect">
              <a:avLst/>
            </a:prstGeom>
            <a:solidFill>
              <a:srgbClr val="232B3C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Text 17"/>
            <p:cNvSpPr/>
            <p:nvPr/>
          </p:nvSpPr>
          <p:spPr>
            <a:xfrm>
              <a:off x="6062472" y="932688"/>
              <a:ext cx="612648" cy="2510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Y5</a:t>
              </a:r>
              <a:endParaRPr lang="en-US" sz="85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201168" y="1183691"/>
              <a:ext cx="1920240" cy="278892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Text 19"/>
            <p:cNvSpPr/>
            <p:nvPr/>
          </p:nvSpPr>
          <p:spPr>
            <a:xfrm>
              <a:off x="246888" y="1183691"/>
              <a:ext cx="1874520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EAE6D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Crowdfunding Fee</a:t>
              </a:r>
              <a:endParaRPr lang="en-US" sz="9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2121408" y="1183691"/>
              <a:ext cx="1554480" cy="278892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Text 21"/>
            <p:cNvSpPr/>
            <p:nvPr/>
          </p:nvSpPr>
          <p:spPr>
            <a:xfrm>
              <a:off x="2167128" y="1183691"/>
              <a:ext cx="1508760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2.5% per project</a:t>
              </a:r>
              <a:endParaRPr lang="en-US" sz="9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3675888" y="1183691"/>
              <a:ext cx="548640" cy="278892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Text 23"/>
            <p:cNvSpPr/>
            <p:nvPr/>
          </p:nvSpPr>
          <p:spPr>
            <a:xfrm>
              <a:off x="3721608" y="1183691"/>
              <a:ext cx="502920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$300K</a:t>
              </a:r>
              <a:endParaRPr lang="en-US" sz="9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4224528" y="1183691"/>
              <a:ext cx="566928" cy="278892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Text 25"/>
            <p:cNvSpPr/>
            <p:nvPr/>
          </p:nvSpPr>
          <p:spPr>
            <a:xfrm>
              <a:off x="4270248" y="1183691"/>
              <a:ext cx="521208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$900K</a:t>
              </a:r>
              <a:endParaRPr lang="en-US" sz="9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4791456" y="1183691"/>
              <a:ext cx="566928" cy="278892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 27"/>
            <p:cNvSpPr/>
            <p:nvPr/>
          </p:nvSpPr>
          <p:spPr>
            <a:xfrm>
              <a:off x="4837176" y="1183691"/>
              <a:ext cx="521208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$2.5M</a:t>
              </a:r>
              <a:endParaRPr lang="en-US" sz="9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5358384" y="1183691"/>
              <a:ext cx="658368" cy="278892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Text 29"/>
            <p:cNvSpPr/>
            <p:nvPr/>
          </p:nvSpPr>
          <p:spPr>
            <a:xfrm>
              <a:off x="5404104" y="1183691"/>
              <a:ext cx="612648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$10M</a:t>
              </a:r>
              <a:endParaRPr lang="en-US" sz="9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6016752" y="1183691"/>
              <a:ext cx="658368" cy="278892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Text 31"/>
            <p:cNvSpPr/>
            <p:nvPr/>
          </p:nvSpPr>
          <p:spPr>
            <a:xfrm>
              <a:off x="6062472" y="1183691"/>
              <a:ext cx="612648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$25M</a:t>
              </a:r>
              <a:endParaRPr lang="en-US" sz="9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201168" y="1462583"/>
              <a:ext cx="1920240" cy="278892"/>
            </a:xfrm>
            <a:prstGeom prst="rect">
              <a:avLst/>
            </a:prstGeom>
            <a:solidFill>
              <a:srgbClr val="1F253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Text 33"/>
            <p:cNvSpPr/>
            <p:nvPr/>
          </p:nvSpPr>
          <p:spPr>
            <a:xfrm>
              <a:off x="246888" y="1462583"/>
              <a:ext cx="1874520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EAE6D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Tokenization Fee</a:t>
              </a:r>
              <a:endParaRPr lang="en-US" sz="9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2121408" y="1462583"/>
              <a:ext cx="1554480" cy="278892"/>
            </a:xfrm>
            <a:prstGeom prst="rect">
              <a:avLst/>
            </a:prstGeom>
            <a:solidFill>
              <a:srgbClr val="1F253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Text 35"/>
            <p:cNvSpPr/>
            <p:nvPr/>
          </p:nvSpPr>
          <p:spPr>
            <a:xfrm>
              <a:off x="2167128" y="1462583"/>
              <a:ext cx="1508760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$750–1,200 per project</a:t>
              </a:r>
              <a:endParaRPr lang="en-US" sz="9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3675888" y="1462583"/>
              <a:ext cx="548640" cy="278892"/>
            </a:xfrm>
            <a:prstGeom prst="rect">
              <a:avLst/>
            </a:prstGeom>
            <a:solidFill>
              <a:srgbClr val="1F253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9" name="Text 37"/>
            <p:cNvSpPr/>
            <p:nvPr/>
          </p:nvSpPr>
          <p:spPr>
            <a:xfrm>
              <a:off x="3721608" y="1462583"/>
              <a:ext cx="502920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$20K</a:t>
              </a:r>
              <a:endParaRPr lang="en-US" sz="9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4224528" y="1462583"/>
              <a:ext cx="566928" cy="278892"/>
            </a:xfrm>
            <a:prstGeom prst="rect">
              <a:avLst/>
            </a:prstGeom>
            <a:solidFill>
              <a:srgbClr val="1F253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Text 39"/>
            <p:cNvSpPr/>
            <p:nvPr/>
          </p:nvSpPr>
          <p:spPr>
            <a:xfrm>
              <a:off x="4270248" y="1462583"/>
              <a:ext cx="521208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$250K</a:t>
              </a:r>
              <a:endParaRPr lang="en-US" sz="9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4791456" y="1462583"/>
              <a:ext cx="566928" cy="278892"/>
            </a:xfrm>
            <a:prstGeom prst="rect">
              <a:avLst/>
            </a:prstGeom>
            <a:solidFill>
              <a:srgbClr val="1F253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3" name="Text 41"/>
            <p:cNvSpPr/>
            <p:nvPr/>
          </p:nvSpPr>
          <p:spPr>
            <a:xfrm>
              <a:off x="4837176" y="1462583"/>
              <a:ext cx="521208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$500K</a:t>
              </a:r>
              <a:endParaRPr lang="en-US" sz="90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5358384" y="1462583"/>
              <a:ext cx="658368" cy="278892"/>
            </a:xfrm>
            <a:prstGeom prst="rect">
              <a:avLst/>
            </a:prstGeom>
            <a:solidFill>
              <a:srgbClr val="1F253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5" name="Text 43"/>
            <p:cNvSpPr/>
            <p:nvPr/>
          </p:nvSpPr>
          <p:spPr>
            <a:xfrm>
              <a:off x="5404104" y="1462583"/>
              <a:ext cx="612648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$1.2M</a:t>
              </a:r>
              <a:endParaRPr lang="en-US" sz="9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6016752" y="1462583"/>
              <a:ext cx="658368" cy="278892"/>
            </a:xfrm>
            <a:prstGeom prst="rect">
              <a:avLst/>
            </a:prstGeom>
            <a:solidFill>
              <a:srgbClr val="1F253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7" name="Text 45"/>
            <p:cNvSpPr/>
            <p:nvPr/>
          </p:nvSpPr>
          <p:spPr>
            <a:xfrm>
              <a:off x="6062472" y="1462583"/>
              <a:ext cx="612648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$3M</a:t>
              </a:r>
              <a:endParaRPr lang="en-US" sz="9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201168" y="1741475"/>
              <a:ext cx="1920240" cy="278892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9" name="Text 47"/>
            <p:cNvSpPr/>
            <p:nvPr/>
          </p:nvSpPr>
          <p:spPr>
            <a:xfrm>
              <a:off x="246888" y="1741475"/>
              <a:ext cx="1874520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EAE6D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KYC Verification</a:t>
              </a:r>
              <a:endParaRPr lang="en-US" sz="900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2121408" y="1741475"/>
              <a:ext cx="1554480" cy="278892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1" name="Text 49"/>
            <p:cNvSpPr/>
            <p:nvPr/>
          </p:nvSpPr>
          <p:spPr>
            <a:xfrm>
              <a:off x="2167128" y="1741475"/>
              <a:ext cx="1508760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$0.05/token (~$2.50)</a:t>
              </a:r>
              <a:endParaRPr lang="en-US" sz="9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3675888" y="1741475"/>
              <a:ext cx="548640" cy="278892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3" name="Text 51"/>
            <p:cNvSpPr/>
            <p:nvPr/>
          </p:nvSpPr>
          <p:spPr>
            <a:xfrm>
              <a:off x="3721608" y="1741475"/>
              <a:ext cx="502920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$5K</a:t>
              </a:r>
              <a:endParaRPr lang="en-US" sz="900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4224528" y="1741475"/>
              <a:ext cx="566928" cy="278892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Text 53"/>
            <p:cNvSpPr/>
            <p:nvPr/>
          </p:nvSpPr>
          <p:spPr>
            <a:xfrm>
              <a:off x="4270248" y="1741475"/>
              <a:ext cx="521208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$35K</a:t>
              </a:r>
              <a:endParaRPr lang="en-US" sz="90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4791456" y="1741475"/>
              <a:ext cx="566928" cy="278892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7" name="Text 55"/>
            <p:cNvSpPr/>
            <p:nvPr/>
          </p:nvSpPr>
          <p:spPr>
            <a:xfrm>
              <a:off x="4837176" y="1741475"/>
              <a:ext cx="521208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$125K</a:t>
              </a:r>
              <a:endParaRPr lang="en-US" sz="900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5358384" y="1741475"/>
              <a:ext cx="658368" cy="278892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9" name="Text 57"/>
            <p:cNvSpPr/>
            <p:nvPr/>
          </p:nvSpPr>
          <p:spPr>
            <a:xfrm>
              <a:off x="5404104" y="1741475"/>
              <a:ext cx="612648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$250K</a:t>
              </a:r>
              <a:endParaRPr lang="en-US" sz="900" dirty="0"/>
            </a:p>
          </p:txBody>
        </p:sp>
        <p:sp>
          <p:nvSpPr>
            <p:cNvPr id="60" name="Shape 58"/>
            <p:cNvSpPr/>
            <p:nvPr/>
          </p:nvSpPr>
          <p:spPr>
            <a:xfrm>
              <a:off x="6016752" y="1741475"/>
              <a:ext cx="658368" cy="278892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1" name="Text 59"/>
            <p:cNvSpPr/>
            <p:nvPr/>
          </p:nvSpPr>
          <p:spPr>
            <a:xfrm>
              <a:off x="6062472" y="1741475"/>
              <a:ext cx="612648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$600K</a:t>
              </a:r>
              <a:endParaRPr lang="en-US" sz="900" dirty="0"/>
            </a:p>
          </p:txBody>
        </p:sp>
        <p:sp>
          <p:nvSpPr>
            <p:cNvPr id="62" name="Shape 60"/>
            <p:cNvSpPr/>
            <p:nvPr/>
          </p:nvSpPr>
          <p:spPr>
            <a:xfrm>
              <a:off x="201168" y="2020367"/>
              <a:ext cx="1920240" cy="278892"/>
            </a:xfrm>
            <a:prstGeom prst="rect">
              <a:avLst/>
            </a:prstGeom>
            <a:solidFill>
              <a:srgbClr val="1F253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3" name="Text 61"/>
            <p:cNvSpPr/>
            <p:nvPr/>
          </p:nvSpPr>
          <p:spPr>
            <a:xfrm>
              <a:off x="246888" y="2020367"/>
              <a:ext cx="1874520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EAE6D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Trading Fee</a:t>
              </a:r>
              <a:endParaRPr lang="en-US" sz="900" dirty="0"/>
            </a:p>
          </p:txBody>
        </p:sp>
        <p:sp>
          <p:nvSpPr>
            <p:cNvPr id="64" name="Shape 62"/>
            <p:cNvSpPr/>
            <p:nvPr/>
          </p:nvSpPr>
          <p:spPr>
            <a:xfrm>
              <a:off x="2121408" y="2020367"/>
              <a:ext cx="1554480" cy="278892"/>
            </a:xfrm>
            <a:prstGeom prst="rect">
              <a:avLst/>
            </a:prstGeom>
            <a:solidFill>
              <a:srgbClr val="1F253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5" name="Text 63"/>
            <p:cNvSpPr/>
            <p:nvPr/>
          </p:nvSpPr>
          <p:spPr>
            <a:xfrm>
              <a:off x="2167128" y="2020367"/>
              <a:ext cx="1508760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1% of volume</a:t>
              </a:r>
              <a:endParaRPr lang="en-US" sz="900" dirty="0"/>
            </a:p>
          </p:txBody>
        </p:sp>
        <p:sp>
          <p:nvSpPr>
            <p:cNvPr id="66" name="Shape 64"/>
            <p:cNvSpPr/>
            <p:nvPr/>
          </p:nvSpPr>
          <p:spPr>
            <a:xfrm>
              <a:off x="3675888" y="2020367"/>
              <a:ext cx="548640" cy="278892"/>
            </a:xfrm>
            <a:prstGeom prst="rect">
              <a:avLst/>
            </a:prstGeom>
            <a:solidFill>
              <a:srgbClr val="1F253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7" name="Text 65"/>
            <p:cNvSpPr/>
            <p:nvPr/>
          </p:nvSpPr>
          <p:spPr>
            <a:xfrm>
              <a:off x="3721608" y="2020367"/>
              <a:ext cx="502920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$5K</a:t>
              </a:r>
              <a:endParaRPr lang="en-US" sz="900" dirty="0"/>
            </a:p>
          </p:txBody>
        </p:sp>
        <p:sp>
          <p:nvSpPr>
            <p:cNvPr id="68" name="Shape 66"/>
            <p:cNvSpPr/>
            <p:nvPr/>
          </p:nvSpPr>
          <p:spPr>
            <a:xfrm>
              <a:off x="4224528" y="2020367"/>
              <a:ext cx="566928" cy="278892"/>
            </a:xfrm>
            <a:prstGeom prst="rect">
              <a:avLst/>
            </a:prstGeom>
            <a:solidFill>
              <a:srgbClr val="1F253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9" name="Text 67"/>
            <p:cNvSpPr/>
            <p:nvPr/>
          </p:nvSpPr>
          <p:spPr>
            <a:xfrm>
              <a:off x="4270248" y="2020367"/>
              <a:ext cx="521208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$50K</a:t>
              </a:r>
              <a:endParaRPr lang="en-US" sz="900" dirty="0"/>
            </a:p>
          </p:txBody>
        </p:sp>
        <p:sp>
          <p:nvSpPr>
            <p:cNvPr id="70" name="Shape 68"/>
            <p:cNvSpPr/>
            <p:nvPr/>
          </p:nvSpPr>
          <p:spPr>
            <a:xfrm>
              <a:off x="4791456" y="2020367"/>
              <a:ext cx="566928" cy="278892"/>
            </a:xfrm>
            <a:prstGeom prst="rect">
              <a:avLst/>
            </a:prstGeom>
            <a:solidFill>
              <a:srgbClr val="1F253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1" name="Text 69"/>
            <p:cNvSpPr/>
            <p:nvPr/>
          </p:nvSpPr>
          <p:spPr>
            <a:xfrm>
              <a:off x="4837176" y="2020367"/>
              <a:ext cx="521208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$500K</a:t>
              </a:r>
              <a:endParaRPr lang="en-US" sz="900" dirty="0"/>
            </a:p>
          </p:txBody>
        </p:sp>
        <p:sp>
          <p:nvSpPr>
            <p:cNvPr id="72" name="Shape 70"/>
            <p:cNvSpPr/>
            <p:nvPr/>
          </p:nvSpPr>
          <p:spPr>
            <a:xfrm>
              <a:off x="5358384" y="2020367"/>
              <a:ext cx="658368" cy="278892"/>
            </a:xfrm>
            <a:prstGeom prst="rect">
              <a:avLst/>
            </a:prstGeom>
            <a:solidFill>
              <a:srgbClr val="1F253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3" name="Text 71"/>
            <p:cNvSpPr/>
            <p:nvPr/>
          </p:nvSpPr>
          <p:spPr>
            <a:xfrm>
              <a:off x="5404104" y="2020367"/>
              <a:ext cx="612648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$1M</a:t>
              </a:r>
              <a:endParaRPr lang="en-US" sz="900" dirty="0"/>
            </a:p>
          </p:txBody>
        </p:sp>
        <p:sp>
          <p:nvSpPr>
            <p:cNvPr id="74" name="Shape 72"/>
            <p:cNvSpPr/>
            <p:nvPr/>
          </p:nvSpPr>
          <p:spPr>
            <a:xfrm>
              <a:off x="6016752" y="2020367"/>
              <a:ext cx="658368" cy="278892"/>
            </a:xfrm>
            <a:prstGeom prst="rect">
              <a:avLst/>
            </a:prstGeom>
            <a:solidFill>
              <a:srgbClr val="1F253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5" name="Text 73"/>
            <p:cNvSpPr/>
            <p:nvPr/>
          </p:nvSpPr>
          <p:spPr>
            <a:xfrm>
              <a:off x="6062472" y="2020367"/>
              <a:ext cx="612648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$3M</a:t>
              </a:r>
              <a:endParaRPr lang="en-US" sz="900" dirty="0"/>
            </a:p>
          </p:txBody>
        </p:sp>
        <p:sp>
          <p:nvSpPr>
            <p:cNvPr id="76" name="Shape 74"/>
            <p:cNvSpPr/>
            <p:nvPr/>
          </p:nvSpPr>
          <p:spPr>
            <a:xfrm>
              <a:off x="201168" y="2299259"/>
              <a:ext cx="1920240" cy="278892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7" name="Text 75"/>
            <p:cNvSpPr/>
            <p:nvPr/>
          </p:nvSpPr>
          <p:spPr>
            <a:xfrm>
              <a:off x="246888" y="2299259"/>
              <a:ext cx="1874520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EAE6D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Dividend Module</a:t>
              </a:r>
              <a:endParaRPr lang="en-US" sz="900" dirty="0"/>
            </a:p>
          </p:txBody>
        </p:sp>
        <p:sp>
          <p:nvSpPr>
            <p:cNvPr id="78" name="Shape 76"/>
            <p:cNvSpPr/>
            <p:nvPr/>
          </p:nvSpPr>
          <p:spPr>
            <a:xfrm>
              <a:off x="2121408" y="2299259"/>
              <a:ext cx="1554480" cy="278892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9" name="Text 77"/>
            <p:cNvSpPr/>
            <p:nvPr/>
          </p:nvSpPr>
          <p:spPr>
            <a:xfrm>
              <a:off x="2167128" y="2299259"/>
              <a:ext cx="1508760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1% of dividends</a:t>
              </a:r>
              <a:endParaRPr lang="en-US" sz="900" dirty="0"/>
            </a:p>
          </p:txBody>
        </p:sp>
        <p:sp>
          <p:nvSpPr>
            <p:cNvPr id="80" name="Shape 78"/>
            <p:cNvSpPr/>
            <p:nvPr/>
          </p:nvSpPr>
          <p:spPr>
            <a:xfrm>
              <a:off x="3675888" y="2299259"/>
              <a:ext cx="548640" cy="278892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1" name="Text 79"/>
            <p:cNvSpPr/>
            <p:nvPr/>
          </p:nvSpPr>
          <p:spPr>
            <a:xfrm>
              <a:off x="3721608" y="2299259"/>
              <a:ext cx="502920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$15K</a:t>
              </a:r>
              <a:endParaRPr lang="en-US" sz="900" dirty="0"/>
            </a:p>
          </p:txBody>
        </p:sp>
        <p:sp>
          <p:nvSpPr>
            <p:cNvPr id="82" name="Shape 80"/>
            <p:cNvSpPr/>
            <p:nvPr/>
          </p:nvSpPr>
          <p:spPr>
            <a:xfrm>
              <a:off x="4224528" y="2299259"/>
              <a:ext cx="566928" cy="278892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3" name="Text 81"/>
            <p:cNvSpPr/>
            <p:nvPr/>
          </p:nvSpPr>
          <p:spPr>
            <a:xfrm>
              <a:off x="4270248" y="2299259"/>
              <a:ext cx="521208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$75K</a:t>
              </a:r>
              <a:endParaRPr lang="en-US" sz="900" dirty="0"/>
            </a:p>
          </p:txBody>
        </p:sp>
        <p:sp>
          <p:nvSpPr>
            <p:cNvPr id="84" name="Shape 82"/>
            <p:cNvSpPr/>
            <p:nvPr/>
          </p:nvSpPr>
          <p:spPr>
            <a:xfrm>
              <a:off x="4791456" y="2299259"/>
              <a:ext cx="566928" cy="278892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5" name="Text 83"/>
            <p:cNvSpPr/>
            <p:nvPr/>
          </p:nvSpPr>
          <p:spPr>
            <a:xfrm>
              <a:off x="4837176" y="2299259"/>
              <a:ext cx="521208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$250K</a:t>
              </a:r>
              <a:endParaRPr lang="en-US" sz="900" dirty="0"/>
            </a:p>
          </p:txBody>
        </p:sp>
        <p:sp>
          <p:nvSpPr>
            <p:cNvPr id="86" name="Shape 84"/>
            <p:cNvSpPr/>
            <p:nvPr/>
          </p:nvSpPr>
          <p:spPr>
            <a:xfrm>
              <a:off x="5358384" y="2299259"/>
              <a:ext cx="658368" cy="278892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7" name="Text 85"/>
            <p:cNvSpPr/>
            <p:nvPr/>
          </p:nvSpPr>
          <p:spPr>
            <a:xfrm>
              <a:off x="5404104" y="2299259"/>
              <a:ext cx="612648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$750K</a:t>
              </a:r>
              <a:endParaRPr lang="en-US" sz="900" dirty="0"/>
            </a:p>
          </p:txBody>
        </p:sp>
        <p:sp>
          <p:nvSpPr>
            <p:cNvPr id="88" name="Shape 86"/>
            <p:cNvSpPr/>
            <p:nvPr/>
          </p:nvSpPr>
          <p:spPr>
            <a:xfrm>
              <a:off x="6016752" y="2299259"/>
              <a:ext cx="658368" cy="278892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9" name="Text 87"/>
            <p:cNvSpPr/>
            <p:nvPr/>
          </p:nvSpPr>
          <p:spPr>
            <a:xfrm>
              <a:off x="6062472" y="2299259"/>
              <a:ext cx="612648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$2.5M</a:t>
              </a:r>
              <a:endParaRPr lang="en-US" sz="900" dirty="0"/>
            </a:p>
          </p:txBody>
        </p:sp>
        <p:sp>
          <p:nvSpPr>
            <p:cNvPr id="90" name="Shape 88"/>
            <p:cNvSpPr/>
            <p:nvPr/>
          </p:nvSpPr>
          <p:spPr>
            <a:xfrm>
              <a:off x="201168" y="2578151"/>
              <a:ext cx="1920240" cy="278892"/>
            </a:xfrm>
            <a:prstGeom prst="rect">
              <a:avLst/>
            </a:prstGeom>
            <a:solidFill>
              <a:srgbClr val="1F253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1" name="Text 89"/>
            <p:cNvSpPr/>
            <p:nvPr/>
          </p:nvSpPr>
          <p:spPr>
            <a:xfrm>
              <a:off x="246888" y="2578151"/>
              <a:ext cx="1874520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EAE6D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Extra Options</a:t>
              </a:r>
              <a:endParaRPr lang="en-US" sz="900" dirty="0"/>
            </a:p>
          </p:txBody>
        </p:sp>
        <p:sp>
          <p:nvSpPr>
            <p:cNvPr id="92" name="Shape 90"/>
            <p:cNvSpPr/>
            <p:nvPr/>
          </p:nvSpPr>
          <p:spPr>
            <a:xfrm>
              <a:off x="2121408" y="2578151"/>
              <a:ext cx="1554480" cy="278892"/>
            </a:xfrm>
            <a:prstGeom prst="rect">
              <a:avLst/>
            </a:prstGeom>
            <a:solidFill>
              <a:srgbClr val="1F253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3" name="Text 91"/>
            <p:cNvSpPr/>
            <p:nvPr/>
          </p:nvSpPr>
          <p:spPr>
            <a:xfrm>
              <a:off x="2167128" y="2578151"/>
              <a:ext cx="1508760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Variable</a:t>
              </a:r>
              <a:endParaRPr lang="en-US" sz="900" dirty="0"/>
            </a:p>
          </p:txBody>
        </p:sp>
        <p:sp>
          <p:nvSpPr>
            <p:cNvPr id="94" name="Shape 92"/>
            <p:cNvSpPr/>
            <p:nvPr/>
          </p:nvSpPr>
          <p:spPr>
            <a:xfrm>
              <a:off x="3675888" y="2578151"/>
              <a:ext cx="548640" cy="278892"/>
            </a:xfrm>
            <a:prstGeom prst="rect">
              <a:avLst/>
            </a:prstGeom>
            <a:solidFill>
              <a:srgbClr val="1F253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5" name="Text 93"/>
            <p:cNvSpPr/>
            <p:nvPr/>
          </p:nvSpPr>
          <p:spPr>
            <a:xfrm>
              <a:off x="3721608" y="2578151"/>
              <a:ext cx="502920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$5K</a:t>
              </a:r>
              <a:endParaRPr lang="en-US" sz="900" dirty="0"/>
            </a:p>
          </p:txBody>
        </p:sp>
        <p:sp>
          <p:nvSpPr>
            <p:cNvPr id="96" name="Shape 94"/>
            <p:cNvSpPr/>
            <p:nvPr/>
          </p:nvSpPr>
          <p:spPr>
            <a:xfrm>
              <a:off x="4224528" y="2578151"/>
              <a:ext cx="566928" cy="278892"/>
            </a:xfrm>
            <a:prstGeom prst="rect">
              <a:avLst/>
            </a:prstGeom>
            <a:solidFill>
              <a:srgbClr val="1F253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7" name="Text 95"/>
            <p:cNvSpPr/>
            <p:nvPr/>
          </p:nvSpPr>
          <p:spPr>
            <a:xfrm>
              <a:off x="4270248" y="2578151"/>
              <a:ext cx="521208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$20K</a:t>
              </a:r>
              <a:endParaRPr lang="en-US" sz="900" dirty="0"/>
            </a:p>
          </p:txBody>
        </p:sp>
        <p:sp>
          <p:nvSpPr>
            <p:cNvPr id="98" name="Shape 96"/>
            <p:cNvSpPr/>
            <p:nvPr/>
          </p:nvSpPr>
          <p:spPr>
            <a:xfrm>
              <a:off x="4791456" y="2578151"/>
              <a:ext cx="566928" cy="278892"/>
            </a:xfrm>
            <a:prstGeom prst="rect">
              <a:avLst/>
            </a:prstGeom>
            <a:solidFill>
              <a:srgbClr val="1F253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9" name="Text 97"/>
            <p:cNvSpPr/>
            <p:nvPr/>
          </p:nvSpPr>
          <p:spPr>
            <a:xfrm>
              <a:off x="4837176" y="2578151"/>
              <a:ext cx="521208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$75K</a:t>
              </a:r>
              <a:endParaRPr lang="en-US" sz="900" dirty="0"/>
            </a:p>
          </p:txBody>
        </p:sp>
        <p:sp>
          <p:nvSpPr>
            <p:cNvPr id="100" name="Shape 98"/>
            <p:cNvSpPr/>
            <p:nvPr/>
          </p:nvSpPr>
          <p:spPr>
            <a:xfrm>
              <a:off x="5358384" y="2578151"/>
              <a:ext cx="658368" cy="278892"/>
            </a:xfrm>
            <a:prstGeom prst="rect">
              <a:avLst/>
            </a:prstGeom>
            <a:solidFill>
              <a:srgbClr val="1F253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1" name="Text 99"/>
            <p:cNvSpPr/>
            <p:nvPr/>
          </p:nvSpPr>
          <p:spPr>
            <a:xfrm>
              <a:off x="5404104" y="2578151"/>
              <a:ext cx="612648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$125K</a:t>
              </a:r>
              <a:endParaRPr lang="en-US" sz="900" dirty="0"/>
            </a:p>
          </p:txBody>
        </p:sp>
        <p:sp>
          <p:nvSpPr>
            <p:cNvPr id="102" name="Shape 100"/>
            <p:cNvSpPr/>
            <p:nvPr/>
          </p:nvSpPr>
          <p:spPr>
            <a:xfrm>
              <a:off x="6016752" y="2578151"/>
              <a:ext cx="658368" cy="278892"/>
            </a:xfrm>
            <a:prstGeom prst="rect">
              <a:avLst/>
            </a:prstGeom>
            <a:solidFill>
              <a:srgbClr val="1F253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3" name="Text 101"/>
            <p:cNvSpPr/>
            <p:nvPr/>
          </p:nvSpPr>
          <p:spPr>
            <a:xfrm>
              <a:off x="6062472" y="2578151"/>
              <a:ext cx="612648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$200K</a:t>
              </a:r>
              <a:endParaRPr lang="en-US" sz="900" dirty="0"/>
            </a:p>
          </p:txBody>
        </p:sp>
        <p:sp>
          <p:nvSpPr>
            <p:cNvPr id="104" name="Shape 102"/>
            <p:cNvSpPr/>
            <p:nvPr/>
          </p:nvSpPr>
          <p:spPr>
            <a:xfrm>
              <a:off x="201168" y="2857043"/>
              <a:ext cx="1920240" cy="278892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5" name="Text 103"/>
            <p:cNvSpPr/>
            <p:nvPr/>
          </p:nvSpPr>
          <p:spPr>
            <a:xfrm>
              <a:off x="246888" y="2857043"/>
              <a:ext cx="1874520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EAE6D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Enterprise/Custom</a:t>
              </a:r>
              <a:endParaRPr lang="en-US" sz="900" dirty="0"/>
            </a:p>
          </p:txBody>
        </p:sp>
        <p:sp>
          <p:nvSpPr>
            <p:cNvPr id="106" name="Shape 104"/>
            <p:cNvSpPr/>
            <p:nvPr/>
          </p:nvSpPr>
          <p:spPr>
            <a:xfrm>
              <a:off x="2121408" y="2857043"/>
              <a:ext cx="1554480" cy="278892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7" name="Text 105"/>
            <p:cNvSpPr/>
            <p:nvPr/>
          </p:nvSpPr>
          <p:spPr>
            <a:xfrm>
              <a:off x="2167128" y="2857043"/>
              <a:ext cx="1508760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Variable</a:t>
              </a:r>
              <a:endParaRPr lang="en-US" sz="900" dirty="0"/>
            </a:p>
          </p:txBody>
        </p:sp>
        <p:sp>
          <p:nvSpPr>
            <p:cNvPr id="108" name="Shape 106"/>
            <p:cNvSpPr/>
            <p:nvPr/>
          </p:nvSpPr>
          <p:spPr>
            <a:xfrm>
              <a:off x="3675888" y="2857043"/>
              <a:ext cx="548640" cy="278892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9" name="Text 107"/>
            <p:cNvSpPr/>
            <p:nvPr/>
          </p:nvSpPr>
          <p:spPr>
            <a:xfrm>
              <a:off x="3721608" y="2857043"/>
              <a:ext cx="502920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$10K</a:t>
              </a:r>
              <a:endParaRPr lang="en-US" sz="900" dirty="0"/>
            </a:p>
          </p:txBody>
        </p:sp>
        <p:sp>
          <p:nvSpPr>
            <p:cNvPr id="110" name="Shape 108"/>
            <p:cNvSpPr/>
            <p:nvPr/>
          </p:nvSpPr>
          <p:spPr>
            <a:xfrm>
              <a:off x="4224528" y="2857043"/>
              <a:ext cx="566928" cy="278892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1" name="Text 109"/>
            <p:cNvSpPr/>
            <p:nvPr/>
          </p:nvSpPr>
          <p:spPr>
            <a:xfrm>
              <a:off x="4270248" y="2857043"/>
              <a:ext cx="521208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$30K</a:t>
              </a:r>
              <a:endParaRPr lang="en-US" sz="900" dirty="0"/>
            </a:p>
          </p:txBody>
        </p:sp>
        <p:sp>
          <p:nvSpPr>
            <p:cNvPr id="112" name="Shape 110"/>
            <p:cNvSpPr/>
            <p:nvPr/>
          </p:nvSpPr>
          <p:spPr>
            <a:xfrm>
              <a:off x="4791456" y="2857043"/>
              <a:ext cx="566928" cy="278892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3" name="Text 111"/>
            <p:cNvSpPr/>
            <p:nvPr/>
          </p:nvSpPr>
          <p:spPr>
            <a:xfrm>
              <a:off x="4837176" y="2857043"/>
              <a:ext cx="521208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$100K</a:t>
              </a:r>
              <a:endParaRPr lang="en-US" sz="900" dirty="0"/>
            </a:p>
          </p:txBody>
        </p:sp>
        <p:sp>
          <p:nvSpPr>
            <p:cNvPr id="114" name="Shape 112"/>
            <p:cNvSpPr/>
            <p:nvPr/>
          </p:nvSpPr>
          <p:spPr>
            <a:xfrm>
              <a:off x="5358384" y="2857043"/>
              <a:ext cx="658368" cy="278892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5" name="Text 113"/>
            <p:cNvSpPr/>
            <p:nvPr/>
          </p:nvSpPr>
          <p:spPr>
            <a:xfrm>
              <a:off x="5404104" y="2857043"/>
              <a:ext cx="612648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$300K</a:t>
              </a:r>
              <a:endParaRPr lang="en-US" sz="900" dirty="0"/>
            </a:p>
          </p:txBody>
        </p:sp>
        <p:sp>
          <p:nvSpPr>
            <p:cNvPr id="116" name="Shape 114"/>
            <p:cNvSpPr/>
            <p:nvPr/>
          </p:nvSpPr>
          <p:spPr>
            <a:xfrm>
              <a:off x="6016752" y="2857043"/>
              <a:ext cx="658368" cy="278892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7" name="Text 115"/>
            <p:cNvSpPr/>
            <p:nvPr/>
          </p:nvSpPr>
          <p:spPr>
            <a:xfrm>
              <a:off x="6062472" y="2857043"/>
              <a:ext cx="612648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$500K</a:t>
              </a:r>
              <a:endParaRPr lang="en-US" sz="900" dirty="0"/>
            </a:p>
          </p:txBody>
        </p:sp>
        <p:sp>
          <p:nvSpPr>
            <p:cNvPr id="118" name="Shape 116"/>
            <p:cNvSpPr/>
            <p:nvPr/>
          </p:nvSpPr>
          <p:spPr>
            <a:xfrm>
              <a:off x="201168" y="3135935"/>
              <a:ext cx="1920240" cy="278892"/>
            </a:xfrm>
            <a:prstGeom prst="rect">
              <a:avLst/>
            </a:prstGeom>
            <a:solidFill>
              <a:srgbClr val="232B3C"/>
            </a:solidFill>
            <a:ln w="12700">
              <a:solidFill>
                <a:srgbClr val="B8975A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9" name="Text 117"/>
            <p:cNvSpPr/>
            <p:nvPr/>
          </p:nvSpPr>
          <p:spPr>
            <a:xfrm>
              <a:off x="246888" y="3135935"/>
              <a:ext cx="1874520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5F3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TOTAL</a:t>
              </a:r>
              <a:endParaRPr lang="en-US" sz="900" dirty="0"/>
            </a:p>
          </p:txBody>
        </p:sp>
        <p:sp>
          <p:nvSpPr>
            <p:cNvPr id="120" name="Shape 118"/>
            <p:cNvSpPr/>
            <p:nvPr/>
          </p:nvSpPr>
          <p:spPr>
            <a:xfrm>
              <a:off x="2121408" y="3135935"/>
              <a:ext cx="1554480" cy="278892"/>
            </a:xfrm>
            <a:prstGeom prst="rect">
              <a:avLst/>
            </a:prstGeom>
            <a:solidFill>
              <a:srgbClr val="232B3C"/>
            </a:solidFill>
            <a:ln w="12700">
              <a:solidFill>
                <a:srgbClr val="B8975A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1" name="Text 119"/>
            <p:cNvSpPr/>
            <p:nvPr/>
          </p:nvSpPr>
          <p:spPr>
            <a:xfrm>
              <a:off x="2167128" y="3135935"/>
              <a:ext cx="1508760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900" dirty="0"/>
            </a:p>
          </p:txBody>
        </p:sp>
        <p:sp>
          <p:nvSpPr>
            <p:cNvPr id="122" name="Shape 120"/>
            <p:cNvSpPr/>
            <p:nvPr/>
          </p:nvSpPr>
          <p:spPr>
            <a:xfrm>
              <a:off x="3675888" y="3135935"/>
              <a:ext cx="548640" cy="278892"/>
            </a:xfrm>
            <a:prstGeom prst="rect">
              <a:avLst/>
            </a:prstGeom>
            <a:solidFill>
              <a:srgbClr val="232B3C"/>
            </a:solidFill>
            <a:ln w="12700">
              <a:solidFill>
                <a:srgbClr val="B8975A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3" name="Text 121"/>
            <p:cNvSpPr/>
            <p:nvPr/>
          </p:nvSpPr>
          <p:spPr>
            <a:xfrm>
              <a:off x="3721608" y="3135935"/>
              <a:ext cx="502920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B897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$360K</a:t>
              </a:r>
              <a:endParaRPr lang="en-US" sz="900" dirty="0"/>
            </a:p>
          </p:txBody>
        </p:sp>
        <p:sp>
          <p:nvSpPr>
            <p:cNvPr id="124" name="Shape 122"/>
            <p:cNvSpPr/>
            <p:nvPr/>
          </p:nvSpPr>
          <p:spPr>
            <a:xfrm>
              <a:off x="4224528" y="3135935"/>
              <a:ext cx="566928" cy="278892"/>
            </a:xfrm>
            <a:prstGeom prst="rect">
              <a:avLst/>
            </a:prstGeom>
            <a:solidFill>
              <a:srgbClr val="232B3C"/>
            </a:solidFill>
            <a:ln w="12700">
              <a:solidFill>
                <a:srgbClr val="B8975A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5" name="Text 123"/>
            <p:cNvSpPr/>
            <p:nvPr/>
          </p:nvSpPr>
          <p:spPr>
            <a:xfrm>
              <a:off x="4270248" y="3135935"/>
              <a:ext cx="521208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B897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$1.36M</a:t>
              </a:r>
              <a:endParaRPr lang="en-US" sz="900" dirty="0"/>
            </a:p>
          </p:txBody>
        </p:sp>
        <p:sp>
          <p:nvSpPr>
            <p:cNvPr id="126" name="Shape 124"/>
            <p:cNvSpPr/>
            <p:nvPr/>
          </p:nvSpPr>
          <p:spPr>
            <a:xfrm>
              <a:off x="4791456" y="3135935"/>
              <a:ext cx="566928" cy="278892"/>
            </a:xfrm>
            <a:prstGeom prst="rect">
              <a:avLst/>
            </a:prstGeom>
            <a:solidFill>
              <a:srgbClr val="232B3C"/>
            </a:solidFill>
            <a:ln w="12700">
              <a:solidFill>
                <a:srgbClr val="B8975A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7" name="Text 125"/>
            <p:cNvSpPr/>
            <p:nvPr/>
          </p:nvSpPr>
          <p:spPr>
            <a:xfrm>
              <a:off x="4837176" y="3135935"/>
              <a:ext cx="521208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B897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$4M</a:t>
              </a:r>
              <a:endParaRPr lang="en-US" sz="900" dirty="0"/>
            </a:p>
          </p:txBody>
        </p:sp>
        <p:sp>
          <p:nvSpPr>
            <p:cNvPr id="128" name="Shape 126"/>
            <p:cNvSpPr/>
            <p:nvPr/>
          </p:nvSpPr>
          <p:spPr>
            <a:xfrm>
              <a:off x="5358384" y="3135935"/>
              <a:ext cx="658368" cy="278892"/>
            </a:xfrm>
            <a:prstGeom prst="rect">
              <a:avLst/>
            </a:prstGeom>
            <a:solidFill>
              <a:srgbClr val="232B3C"/>
            </a:solidFill>
            <a:ln w="12700">
              <a:solidFill>
                <a:srgbClr val="B8975A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9" name="Text 127"/>
            <p:cNvSpPr/>
            <p:nvPr/>
          </p:nvSpPr>
          <p:spPr>
            <a:xfrm>
              <a:off x="5404104" y="3135935"/>
              <a:ext cx="612648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B897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$16.3M</a:t>
              </a:r>
              <a:endParaRPr lang="en-US" sz="900" dirty="0"/>
            </a:p>
          </p:txBody>
        </p:sp>
        <p:sp>
          <p:nvSpPr>
            <p:cNvPr id="130" name="Shape 128"/>
            <p:cNvSpPr/>
            <p:nvPr/>
          </p:nvSpPr>
          <p:spPr>
            <a:xfrm>
              <a:off x="6016752" y="3135935"/>
              <a:ext cx="658368" cy="278892"/>
            </a:xfrm>
            <a:prstGeom prst="rect">
              <a:avLst/>
            </a:prstGeom>
            <a:solidFill>
              <a:srgbClr val="232B3C"/>
            </a:solidFill>
            <a:ln w="12700">
              <a:solidFill>
                <a:srgbClr val="B8975A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1" name="Text 129"/>
            <p:cNvSpPr/>
            <p:nvPr/>
          </p:nvSpPr>
          <p:spPr>
            <a:xfrm>
              <a:off x="6062472" y="3135935"/>
              <a:ext cx="612648" cy="278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B897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$34.8M</a:t>
              </a:r>
              <a:endParaRPr lang="en-US" sz="900" dirty="0"/>
            </a:p>
          </p:txBody>
        </p:sp>
      </p:grpSp>
      <p:sp>
        <p:nvSpPr>
          <p:cNvPr id="132" name="Text 130"/>
          <p:cNvSpPr/>
          <p:nvPr/>
        </p:nvSpPr>
        <p:spPr>
          <a:xfrm>
            <a:off x="7051779" y="1558919"/>
            <a:ext cx="15149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ECONOMICS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6199632" y="1935208"/>
            <a:ext cx="1353312" cy="1051560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4" name="Shape 132"/>
          <p:cNvSpPr/>
          <p:nvPr/>
        </p:nvSpPr>
        <p:spPr>
          <a:xfrm>
            <a:off x="6199632" y="1935208"/>
            <a:ext cx="1353312" cy="4114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5" name="Text 133"/>
          <p:cNvSpPr/>
          <p:nvPr/>
        </p:nvSpPr>
        <p:spPr>
          <a:xfrm>
            <a:off x="6199632" y="2026648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50K</a:t>
            </a:r>
            <a:endParaRPr lang="en-US" sz="2800" dirty="0"/>
          </a:p>
        </p:txBody>
      </p:sp>
      <p:sp>
        <p:nvSpPr>
          <p:cNvPr id="136" name="Text 134"/>
          <p:cNvSpPr/>
          <p:nvPr/>
        </p:nvSpPr>
        <p:spPr>
          <a:xfrm>
            <a:off x="6199632" y="2593576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Investors</a:t>
            </a:r>
            <a:endParaRPr lang="en-US" sz="850" dirty="0"/>
          </a:p>
        </p:txBody>
      </p:sp>
      <p:sp>
        <p:nvSpPr>
          <p:cNvPr id="137" name="Shape 135"/>
          <p:cNvSpPr/>
          <p:nvPr/>
        </p:nvSpPr>
        <p:spPr>
          <a:xfrm>
            <a:off x="7644384" y="1935208"/>
            <a:ext cx="1353312" cy="1051560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8" name="Shape 136"/>
          <p:cNvSpPr/>
          <p:nvPr/>
        </p:nvSpPr>
        <p:spPr>
          <a:xfrm>
            <a:off x="7644384" y="1935208"/>
            <a:ext cx="1353312" cy="4114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9" name="Text 137"/>
          <p:cNvSpPr/>
          <p:nvPr/>
        </p:nvSpPr>
        <p:spPr>
          <a:xfrm>
            <a:off x="7644384" y="2026648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2800" dirty="0"/>
          </a:p>
        </p:txBody>
      </p:sp>
      <p:sp>
        <p:nvSpPr>
          <p:cNvPr id="140" name="Text 138"/>
          <p:cNvSpPr/>
          <p:nvPr/>
        </p:nvSpPr>
        <p:spPr>
          <a:xfrm>
            <a:off x="7644384" y="2593576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Projects</a:t>
            </a:r>
            <a:endParaRPr lang="en-US" sz="850" dirty="0"/>
          </a:p>
        </p:txBody>
      </p:sp>
      <p:sp>
        <p:nvSpPr>
          <p:cNvPr id="141" name="Shape 139"/>
          <p:cNvSpPr/>
          <p:nvPr/>
        </p:nvSpPr>
        <p:spPr>
          <a:xfrm>
            <a:off x="6199632" y="3105640"/>
            <a:ext cx="1353312" cy="1051560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2" name="Shape 140"/>
          <p:cNvSpPr/>
          <p:nvPr/>
        </p:nvSpPr>
        <p:spPr>
          <a:xfrm>
            <a:off x="6199632" y="3105640"/>
            <a:ext cx="1353312" cy="4114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3" name="Text 141"/>
          <p:cNvSpPr/>
          <p:nvPr/>
        </p:nvSpPr>
        <p:spPr>
          <a:xfrm>
            <a:off x="6199632" y="3197080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2800" dirty="0"/>
          </a:p>
        </p:txBody>
      </p:sp>
      <p:sp>
        <p:nvSpPr>
          <p:cNvPr id="144" name="Text 142"/>
          <p:cNvSpPr/>
          <p:nvPr/>
        </p:nvSpPr>
        <p:spPr>
          <a:xfrm>
            <a:off x="6199632" y="3764008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850" dirty="0"/>
          </a:p>
        </p:txBody>
      </p:sp>
      <p:sp>
        <p:nvSpPr>
          <p:cNvPr id="145" name="Shape 143"/>
          <p:cNvSpPr/>
          <p:nvPr/>
        </p:nvSpPr>
        <p:spPr>
          <a:xfrm>
            <a:off x="7644384" y="3105640"/>
            <a:ext cx="1353312" cy="1051560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6" name="Shape 144"/>
          <p:cNvSpPr/>
          <p:nvPr/>
        </p:nvSpPr>
        <p:spPr>
          <a:xfrm>
            <a:off x="7644384" y="3105640"/>
            <a:ext cx="1353312" cy="4114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7" name="Text 145"/>
          <p:cNvSpPr/>
          <p:nvPr/>
        </p:nvSpPr>
        <p:spPr>
          <a:xfrm>
            <a:off x="7644384" y="3197080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$50M</a:t>
            </a:r>
            <a:endParaRPr lang="en-US" sz="2800" dirty="0"/>
          </a:p>
        </p:txBody>
      </p:sp>
      <p:sp>
        <p:nvSpPr>
          <p:cNvPr id="148" name="Text 146"/>
          <p:cNvSpPr/>
          <p:nvPr/>
        </p:nvSpPr>
        <p:spPr>
          <a:xfrm>
            <a:off x="7644384" y="3764008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Volume</a:t>
            </a:r>
            <a:endParaRPr lang="en-US" sz="850" dirty="0"/>
          </a:p>
        </p:txBody>
      </p:sp>
      <p:sp>
        <p:nvSpPr>
          <p:cNvPr id="149" name="Text 147"/>
          <p:cNvSpPr/>
          <p:nvPr/>
        </p:nvSpPr>
        <p:spPr>
          <a:xfrm>
            <a:off x="201168" y="4469467"/>
            <a:ext cx="534082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is infinite, the platform can also be sub divided in a various set of specialized solutions.</a:t>
            </a:r>
          </a:p>
          <a:p>
            <a:pPr marL="0" indent="0">
              <a:buNone/>
            </a:pPr>
            <a:endParaRPr lang="en-US" sz="850" i="1" dirty="0">
              <a:solidFill>
                <a:srgbClr val="525C6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850" i="1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economics: marginal costs approach zero as revenue scales with adoption.</a:t>
            </a:r>
            <a:endParaRPr lang="en-US" sz="850" dirty="0"/>
          </a:p>
        </p:txBody>
      </p:sp>
      <p:sp>
        <p:nvSpPr>
          <p:cNvPr id="151" name="Text 130">
            <a:extLst>
              <a:ext uri="{FF2B5EF4-FFF2-40B4-BE49-F238E27FC236}">
                <a16:creationId xmlns:a16="http://schemas.microsoft.com/office/drawing/2014/main" id="{F092693D-1513-CBDB-483A-C3C3B015E3BA}"/>
              </a:ext>
            </a:extLst>
          </p:cNvPr>
          <p:cNvSpPr/>
          <p:nvPr/>
        </p:nvSpPr>
        <p:spPr>
          <a:xfrm>
            <a:off x="242561" y="1339463"/>
            <a:ext cx="424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 REVENUE PROJECTION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81D27"/>
          </a:solidFill>
          <a:ln w="12700">
            <a:solidFill>
              <a:srgbClr val="181D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04672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01168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01168" y="310896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 Cheaper · Days Not Months · Self-Service for SMBs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01168" y="969264"/>
            <a:ext cx="2011680" cy="307238"/>
          </a:xfrm>
          <a:prstGeom prst="rect">
            <a:avLst/>
          </a:prstGeom>
          <a:solidFill>
            <a:srgbClr val="232B3C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969264"/>
            <a:ext cx="1938528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12848" y="969264"/>
            <a:ext cx="1371600" cy="307238"/>
          </a:xfrm>
          <a:prstGeom prst="rect">
            <a:avLst/>
          </a:prstGeom>
          <a:solidFill>
            <a:srgbClr val="B8975A">
              <a:alpha val="85000"/>
            </a:srgbClr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286000" y="969264"/>
            <a:ext cx="1298448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 Experts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84448" y="969264"/>
            <a:ext cx="1143000" cy="307238"/>
          </a:xfrm>
          <a:prstGeom prst="rect">
            <a:avLst/>
          </a:prstGeom>
          <a:solidFill>
            <a:srgbClr val="232B3C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657600" y="969264"/>
            <a:ext cx="1069848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Securitize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27448" y="969264"/>
            <a:ext cx="1143000" cy="307238"/>
          </a:xfrm>
          <a:prstGeom prst="rect">
            <a:avLst/>
          </a:prstGeom>
          <a:solidFill>
            <a:srgbClr val="232B3C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800600" y="969264"/>
            <a:ext cx="1069848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01168" y="1276502"/>
            <a:ext cx="2011680" cy="43891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74320" y="1276502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Tokenization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12848" y="1276502"/>
            <a:ext cx="1371600" cy="438912"/>
          </a:xfrm>
          <a:prstGeom prst="rect">
            <a:avLst/>
          </a:prstGeom>
          <a:solidFill>
            <a:srgbClr val="1F2535"/>
          </a:solidFill>
          <a:ln w="12700">
            <a:solidFill>
              <a:srgbClr val="B8975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286000" y="1276502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84448" y="1276502"/>
            <a:ext cx="1143000" cy="43891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657600" y="1276502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27448" y="1276502"/>
            <a:ext cx="1143000" cy="43891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00600" y="1276502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1168" y="1715414"/>
            <a:ext cx="2011680" cy="438912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274320" y="1715414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P2P Trading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12848" y="1715414"/>
            <a:ext cx="1371600" cy="438912"/>
          </a:xfrm>
          <a:prstGeom prst="rect">
            <a:avLst/>
          </a:prstGeom>
          <a:solidFill>
            <a:srgbClr val="1F2535"/>
          </a:solidFill>
          <a:ln w="12700">
            <a:solidFill>
              <a:srgbClr val="B8975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2286000" y="1715414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584448" y="1715414"/>
            <a:ext cx="1143000" cy="438912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657600" y="1715414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27448" y="1715414"/>
            <a:ext cx="1143000" cy="438912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800600" y="1715414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1168" y="2154326"/>
            <a:ext cx="2011680" cy="43891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274320" y="2154326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Multichain Support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12848" y="2154326"/>
            <a:ext cx="1371600" cy="438912"/>
          </a:xfrm>
          <a:prstGeom prst="rect">
            <a:avLst/>
          </a:prstGeom>
          <a:solidFill>
            <a:srgbClr val="1F2535"/>
          </a:solidFill>
          <a:ln w="12700">
            <a:solidFill>
              <a:srgbClr val="B8975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2286000" y="2154326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36+ chains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584448" y="2154326"/>
            <a:ext cx="1143000" cy="43891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3657600" y="2154326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None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27448" y="2154326"/>
            <a:ext cx="1143000" cy="43891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800600" y="2154326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chain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1168" y="2593238"/>
            <a:ext cx="2011680" cy="438912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274320" y="2593238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Investment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212848" y="2593238"/>
            <a:ext cx="1371600" cy="438912"/>
          </a:xfrm>
          <a:prstGeom prst="rect">
            <a:avLst/>
          </a:prstGeom>
          <a:solidFill>
            <a:srgbClr val="1F2535"/>
          </a:solidFill>
          <a:ln w="12700">
            <a:solidFill>
              <a:srgbClr val="B8975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2286000" y="259323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$100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584448" y="2593238"/>
            <a:ext cx="1143000" cy="438912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3657600" y="2593238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$5,000+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27448" y="2593238"/>
            <a:ext cx="1143000" cy="438912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4800600" y="2593238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01168" y="3032150"/>
            <a:ext cx="2011680" cy="43891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274320" y="303215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Cost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212848" y="3032150"/>
            <a:ext cx="1371600" cy="438912"/>
          </a:xfrm>
          <a:prstGeom prst="rect">
            <a:avLst/>
          </a:prstGeom>
          <a:solidFill>
            <a:srgbClr val="1F2535"/>
          </a:solidFill>
          <a:ln w="12700">
            <a:solidFill>
              <a:srgbClr val="B8975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2286000" y="3032150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$750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584448" y="3032150"/>
            <a:ext cx="1143000" cy="43891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3657600" y="3032150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$50,000+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27448" y="3032150"/>
            <a:ext cx="1143000" cy="43891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4800600" y="3032150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N/A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01168" y="3471062"/>
            <a:ext cx="2011680" cy="438912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274320" y="3471062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Launch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212848" y="3471062"/>
            <a:ext cx="1371600" cy="438912"/>
          </a:xfrm>
          <a:prstGeom prst="rect">
            <a:avLst/>
          </a:prstGeom>
          <a:solidFill>
            <a:srgbClr val="1F2535"/>
          </a:solidFill>
          <a:ln w="12700">
            <a:solidFill>
              <a:srgbClr val="B8975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2286000" y="3471062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48 hours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584448" y="3471062"/>
            <a:ext cx="1143000" cy="438912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3657600" y="3471062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727448" y="3471062"/>
            <a:ext cx="1143000" cy="438912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4800600" y="3471062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N/A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035040" y="969264"/>
            <a:ext cx="1444752" cy="171907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3" name="Shape 61"/>
          <p:cNvSpPr/>
          <p:nvPr/>
        </p:nvSpPr>
        <p:spPr>
          <a:xfrm>
            <a:off x="6035040" y="969264"/>
            <a:ext cx="1444752" cy="4114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6035040" y="1060704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3600" dirty="0"/>
          </a:p>
        </p:txBody>
      </p:sp>
      <p:sp>
        <p:nvSpPr>
          <p:cNvPr id="65" name="Text 63"/>
          <p:cNvSpPr/>
          <p:nvPr/>
        </p:nvSpPr>
        <p:spPr>
          <a:xfrm>
            <a:off x="6035040" y="181051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108192" y="2084832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$50K+ enterprise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589520" y="969264"/>
            <a:ext cx="1444752" cy="171907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8" name="Shape 66"/>
          <p:cNvSpPr/>
          <p:nvPr/>
        </p:nvSpPr>
        <p:spPr>
          <a:xfrm>
            <a:off x="7589520" y="969264"/>
            <a:ext cx="1444752" cy="4114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Text 67"/>
          <p:cNvSpPr/>
          <p:nvPr/>
        </p:nvSpPr>
        <p:spPr>
          <a:xfrm>
            <a:off x="7589520" y="1060704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48h</a:t>
            </a:r>
            <a:endParaRPr lang="en-US" sz="3600" dirty="0"/>
          </a:p>
        </p:txBody>
      </p:sp>
      <p:sp>
        <p:nvSpPr>
          <p:cNvPr id="70" name="Text 68"/>
          <p:cNvSpPr/>
          <p:nvPr/>
        </p:nvSpPr>
        <p:spPr>
          <a:xfrm>
            <a:off x="7589520" y="181051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Launch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7662672" y="2084832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3–6 months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035040" y="2843784"/>
            <a:ext cx="1444752" cy="171907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3" name="Shape 71"/>
          <p:cNvSpPr/>
          <p:nvPr/>
        </p:nvSpPr>
        <p:spPr>
          <a:xfrm>
            <a:off x="6035040" y="2843784"/>
            <a:ext cx="1444752" cy="4114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4" name="Text 72"/>
          <p:cNvSpPr/>
          <p:nvPr/>
        </p:nvSpPr>
        <p:spPr>
          <a:xfrm>
            <a:off x="6035040" y="2935224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6+</a:t>
            </a:r>
            <a:endParaRPr lang="en-US" sz="3600" dirty="0"/>
          </a:p>
        </p:txBody>
      </p:sp>
      <p:sp>
        <p:nvSpPr>
          <p:cNvPr id="75" name="Text 73"/>
          <p:cNvSpPr/>
          <p:nvPr/>
        </p:nvSpPr>
        <p:spPr>
          <a:xfrm>
            <a:off x="6035040" y="368503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Blockchains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6108192" y="3959352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Multi-network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7589520" y="2843784"/>
            <a:ext cx="1444752" cy="171907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8" name="Shape 76"/>
          <p:cNvSpPr/>
          <p:nvPr/>
        </p:nvSpPr>
        <p:spPr>
          <a:xfrm>
            <a:off x="7589520" y="2843784"/>
            <a:ext cx="1444752" cy="4114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9" name="Text 77"/>
          <p:cNvSpPr/>
          <p:nvPr/>
        </p:nvSpPr>
        <p:spPr>
          <a:xfrm>
            <a:off x="7589520" y="2935224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</a:t>
            </a:r>
            <a:endParaRPr lang="en-US" sz="3600" dirty="0"/>
          </a:p>
        </p:txBody>
      </p:sp>
      <p:sp>
        <p:nvSpPr>
          <p:cNvPr id="80" name="Text 78"/>
          <p:cNvSpPr/>
          <p:nvPr/>
        </p:nvSpPr>
        <p:spPr>
          <a:xfrm>
            <a:off x="7589520" y="368503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7662672" y="3959352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Democratized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81D27"/>
          </a:solidFill>
          <a:ln w="12700">
            <a:solidFill>
              <a:srgbClr val="181D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04672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01168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01168" y="310896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Phases to Mainnet Deployment and Institutional Readiness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58368" y="2057400"/>
            <a:ext cx="7827264" cy="0"/>
          </a:xfrm>
          <a:prstGeom prst="line">
            <a:avLst/>
          </a:prstGeom>
          <a:noFill/>
          <a:ln w="1905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01168" y="1536192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88136" y="1984248"/>
            <a:ext cx="201168" cy="201168"/>
          </a:xfrm>
          <a:prstGeom prst="ellipse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01168" y="2331720"/>
            <a:ext cx="2029968" cy="1725939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01168" y="2331720"/>
            <a:ext cx="2029968" cy="4114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01168" y="239572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4A8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01168" y="2615184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" y="2980944"/>
            <a:ext cx="1115568" cy="27432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38328" y="3063240"/>
            <a:ext cx="1828800" cy="994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900" dirty="0">
                <a:solidFill>
                  <a:srgbClr val="EAE6DE"/>
                </a:solidFill>
              </a:rPr>
              <a:t>Testnet deployments</a:t>
            </a:r>
            <a:endParaRPr lang="en-US" sz="9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900" dirty="0">
                <a:solidFill>
                  <a:srgbClr val="EAE6DE"/>
                </a:solidFill>
              </a:rPr>
              <a:t>23 verified contracts</a:t>
            </a:r>
            <a:endParaRPr lang="en-US" sz="9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900" dirty="0">
                <a:solidFill>
                  <a:srgbClr val="EAE6DE"/>
                </a:solidFill>
              </a:rPr>
              <a:t>Full feature set</a:t>
            </a:r>
            <a:endParaRPr lang="en-US" sz="9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900" dirty="0">
                <a:solidFill>
                  <a:srgbClr val="EAE6DE"/>
                </a:solidFill>
              </a:rPr>
              <a:t>Admin dashboard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95728" y="1536192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82696" y="1984248"/>
            <a:ext cx="201168" cy="201168"/>
          </a:xfrm>
          <a:prstGeom prst="ellipse">
            <a:avLst/>
          </a:prstGeom>
          <a:solidFill>
            <a:srgbClr val="F5F3EE"/>
          </a:solidFill>
          <a:ln w="12700">
            <a:solidFill>
              <a:srgbClr val="3A45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395728" y="2331720"/>
            <a:ext cx="2029968" cy="1728216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395728" y="2331720"/>
            <a:ext cx="2029968" cy="4114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395728" y="239572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395728" y="2615184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852928" y="2980944"/>
            <a:ext cx="1115568" cy="27432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532888" y="3063240"/>
            <a:ext cx="1828800" cy="994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900" dirty="0">
                <a:solidFill>
                  <a:srgbClr val="EAE6DE"/>
                </a:solidFill>
              </a:rPr>
              <a:t>Security audit</a:t>
            </a:r>
            <a:endParaRPr lang="en-US" sz="9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900" dirty="0">
                <a:solidFill>
                  <a:srgbClr val="EAE6DE"/>
                </a:solidFill>
              </a:rPr>
              <a:t>Mainnet launch (Avax, Polygon)</a:t>
            </a:r>
            <a:endParaRPr lang="en-US" sz="9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900" dirty="0">
                <a:solidFill>
                  <a:srgbClr val="EAE6DE"/>
                </a:solidFill>
              </a:rPr>
              <a:t>First 5 pilot projects</a:t>
            </a:r>
            <a:endParaRPr lang="en-US" sz="9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900" dirty="0">
                <a:solidFill>
                  <a:srgbClr val="EAE6DE"/>
                </a:solidFill>
              </a:rPr>
              <a:t>Marketing launch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90288" y="1536192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77256" y="1984248"/>
            <a:ext cx="201168" cy="201168"/>
          </a:xfrm>
          <a:prstGeom prst="ellipse">
            <a:avLst/>
          </a:prstGeom>
          <a:solidFill>
            <a:srgbClr val="2A3245"/>
          </a:solidFill>
          <a:ln w="12700">
            <a:solidFill>
              <a:srgbClr val="3A45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590288" y="2331720"/>
            <a:ext cx="2029968" cy="1725939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90288" y="239572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590288" y="2615184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047488" y="2980944"/>
            <a:ext cx="1115568" cy="27432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727448" y="3063240"/>
            <a:ext cx="182880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900" dirty="0">
                <a:solidFill>
                  <a:srgbClr val="EAE6DE"/>
                </a:solidFill>
              </a:rPr>
              <a:t>25 tokenized projects</a:t>
            </a:r>
            <a:endParaRPr lang="en-US" sz="9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900" dirty="0">
                <a:solidFill>
                  <a:srgbClr val="EAE6DE"/>
                </a:solidFill>
              </a:rPr>
              <a:t>5,000 verified users</a:t>
            </a:r>
            <a:endParaRPr lang="en-US" sz="900" dirty="0"/>
          </a:p>
          <a:p>
            <a:pPr marL="342900" indent="-342900">
              <a:lnSpc>
                <a:spcPct val="155000"/>
              </a:lnSpc>
              <a:buSzPct val="100000"/>
              <a:buFontTx/>
              <a:buChar char="•"/>
            </a:pPr>
            <a:r>
              <a:rPr lang="en-US" sz="900" dirty="0">
                <a:solidFill>
                  <a:srgbClr val="EAE6DE"/>
                </a:solidFill>
              </a:rPr>
              <a:t>Mobile application</a:t>
            </a:r>
            <a:endParaRPr lang="en-US" sz="9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900" dirty="0">
                <a:solidFill>
                  <a:srgbClr val="EAE6DE"/>
                </a:solidFill>
              </a:rPr>
              <a:t>API integrations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84848" y="1536192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671816" y="1984248"/>
            <a:ext cx="201168" cy="201168"/>
          </a:xfrm>
          <a:prstGeom prst="ellipse">
            <a:avLst/>
          </a:prstGeom>
          <a:solidFill>
            <a:srgbClr val="2A3245"/>
          </a:solidFill>
          <a:ln w="12700">
            <a:solidFill>
              <a:srgbClr val="3A45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6784848" y="2331720"/>
            <a:ext cx="2029968" cy="1728216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6784848" y="239572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784848" y="2615184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242048" y="2980944"/>
            <a:ext cx="1115568" cy="27432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922008" y="3063240"/>
            <a:ext cx="1828800" cy="994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900" dirty="0">
                <a:solidFill>
                  <a:srgbClr val="EAE6DE"/>
                </a:solidFill>
              </a:rPr>
              <a:t>36-chains expansion</a:t>
            </a:r>
            <a:endParaRPr lang="en-US" sz="9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900" dirty="0">
                <a:solidFill>
                  <a:srgbClr val="EAE6DE"/>
                </a:solidFill>
              </a:rPr>
              <a:t>Institutional partnerships</a:t>
            </a:r>
            <a:endParaRPr lang="en-US" sz="9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900" dirty="0">
                <a:solidFill>
                  <a:srgbClr val="EAE6DE"/>
                </a:solidFill>
              </a:rPr>
              <a:t>Fiat on/off ramp</a:t>
            </a:r>
            <a:endParaRPr lang="en-US" sz="9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900" dirty="0">
                <a:solidFill>
                  <a:srgbClr val="EAE6DE"/>
                </a:solidFill>
              </a:rPr>
              <a:t>Governance token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81D27"/>
          </a:solidFill>
          <a:ln w="12700">
            <a:solidFill>
              <a:srgbClr val="181D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0" y="4818888"/>
            <a:ext cx="9144000" cy="32004"/>
          </a:xfrm>
          <a:prstGeom prst="rect">
            <a:avLst/>
          </a:prstGeom>
          <a:solidFill>
            <a:srgbClr val="B8975A">
              <a:alpha val="60000"/>
            </a:srgbClr>
          </a:solidFill>
          <a:ln w="12700">
            <a:solidFill>
              <a:srgbClr val="B8975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201168" y="4846320"/>
            <a:ext cx="8741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TARGET   ·   500 tokenized projects   ·   $50M TVL   ·   Series A readiness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81D27"/>
          </a:solidFill>
          <a:ln w="12700">
            <a:solidFill>
              <a:srgbClr val="181D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04672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01168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FISCAL STRUCTURE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01168" y="310896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Optimized Holding Structure for Global Operations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017520" y="969264"/>
            <a:ext cx="3108960" cy="960120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017520" y="969264"/>
            <a:ext cx="3108960" cy="4114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017520" y="10241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COMPANY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017520" y="1225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UAE · Switzerland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14813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corporate tax  ·  DIFC / ADGM framework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417320" y="1929384"/>
            <a:ext cx="1920240" cy="0"/>
          </a:xfrm>
          <a:prstGeom prst="line">
            <a:avLst/>
          </a:prstGeom>
          <a:noFill/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572000" y="1929384"/>
            <a:ext cx="0" cy="365760"/>
          </a:xfrm>
          <a:prstGeom prst="line">
            <a:avLst/>
          </a:prstGeom>
          <a:noFill/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5806440" y="1929384"/>
            <a:ext cx="1920240" cy="0"/>
          </a:xfrm>
          <a:prstGeom prst="line">
            <a:avLst/>
          </a:prstGeom>
          <a:noFill/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1417320" y="1929384"/>
            <a:ext cx="0" cy="365760"/>
          </a:xfrm>
          <a:prstGeom prst="line">
            <a:avLst/>
          </a:prstGeom>
          <a:noFill/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7726680" y="1929384"/>
            <a:ext cx="0" cy="365760"/>
          </a:xfrm>
          <a:prstGeom prst="line">
            <a:avLst/>
          </a:prstGeom>
          <a:noFill/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201168" y="2295144"/>
            <a:ext cx="2331720" cy="138988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01168" y="2295144"/>
            <a:ext cx="2331720" cy="36576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29184" y="2350008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OpCo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" y="2642616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9184" y="2953282"/>
            <a:ext cx="73152" cy="73152"/>
          </a:xfrm>
          <a:prstGeom prst="ellipse">
            <a:avLst/>
          </a:prstGeom>
          <a:solidFill>
            <a:srgbClr val="525C6E"/>
          </a:solidFill>
          <a:ln w="12700">
            <a:solidFill>
              <a:srgbClr val="525C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7200" y="28712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VASP licensed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" y="3209314"/>
            <a:ext cx="73152" cy="73152"/>
          </a:xfrm>
          <a:prstGeom prst="ellipse">
            <a:avLst/>
          </a:prstGeom>
          <a:solidFill>
            <a:srgbClr val="525C6E"/>
          </a:solidFill>
          <a:ln w="12700">
            <a:solidFill>
              <a:srgbClr val="525C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57200" y="31272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MiCA compliant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9184" y="3465346"/>
            <a:ext cx="73152" cy="73152"/>
          </a:xfrm>
          <a:prstGeom prst="ellipse">
            <a:avLst/>
          </a:prstGeom>
          <a:solidFill>
            <a:srgbClr val="525C6E"/>
          </a:solidFill>
          <a:ln w="12700">
            <a:solidFill>
              <a:srgbClr val="525C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57200" y="3383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market operations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83280" y="2295144"/>
            <a:ext cx="2331720" cy="138988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383280" y="2295144"/>
            <a:ext cx="2331720" cy="36576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511296" y="2350008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Foundation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11296" y="2642616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Mauritius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511296" y="2953282"/>
            <a:ext cx="73152" cy="73152"/>
          </a:xfrm>
          <a:prstGeom prst="ellipse">
            <a:avLst/>
          </a:prstGeom>
          <a:solidFill>
            <a:srgbClr val="525C6E"/>
          </a:solidFill>
          <a:ln w="12700">
            <a:solidFill>
              <a:srgbClr val="525C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639312" y="28712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&amp; tech ownership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511296" y="3209314"/>
            <a:ext cx="73152" cy="73152"/>
          </a:xfrm>
          <a:prstGeom prst="ellipse">
            <a:avLst/>
          </a:prstGeom>
          <a:solidFill>
            <a:srgbClr val="525C6E"/>
          </a:solidFill>
          <a:ln w="12700">
            <a:solidFill>
              <a:srgbClr val="525C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639312" y="31272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issuance rights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511296" y="3465346"/>
            <a:ext cx="73152" cy="73152"/>
          </a:xfrm>
          <a:prstGeom prst="ellipse">
            <a:avLst/>
          </a:prstGeom>
          <a:solidFill>
            <a:srgbClr val="525C6E"/>
          </a:solidFill>
          <a:ln w="12700">
            <a:solidFill>
              <a:srgbClr val="525C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3639312" y="3383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governance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565392" y="2295144"/>
            <a:ext cx="2331720" cy="138988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6565392" y="2295144"/>
            <a:ext cx="2331720" cy="36576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693408" y="2350008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 Operations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693408" y="2642616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Delaware LLC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693408" y="2953282"/>
            <a:ext cx="73152" cy="73152"/>
          </a:xfrm>
          <a:prstGeom prst="ellipse">
            <a:avLst/>
          </a:prstGeom>
          <a:solidFill>
            <a:srgbClr val="525C6E"/>
          </a:solidFill>
          <a:ln w="12700">
            <a:solidFill>
              <a:srgbClr val="525C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6821424" y="28712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MSB registration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693408" y="3209314"/>
            <a:ext cx="73152" cy="73152"/>
          </a:xfrm>
          <a:prstGeom prst="ellipse">
            <a:avLst/>
          </a:prstGeom>
          <a:solidFill>
            <a:srgbClr val="525C6E"/>
          </a:solidFill>
          <a:ln w="12700">
            <a:solidFill>
              <a:srgbClr val="525C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6821424" y="31272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investor access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693408" y="3465346"/>
            <a:ext cx="73152" cy="73152"/>
          </a:xfrm>
          <a:prstGeom prst="ellipse">
            <a:avLst/>
          </a:prstGeom>
          <a:solidFill>
            <a:srgbClr val="525C6E"/>
          </a:solidFill>
          <a:ln w="12700">
            <a:solidFill>
              <a:srgbClr val="525C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6821424" y="3383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bridge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01168" y="38221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FISCAL BENEFITS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01168" y="4078224"/>
            <a:ext cx="1645920" cy="868680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201168" y="4078224"/>
            <a:ext cx="36576" cy="868680"/>
          </a:xfrm>
          <a:prstGeom prst="rect">
            <a:avLst/>
          </a:prstGeom>
          <a:solidFill>
            <a:srgbClr val="B8975A">
              <a:alpha val="60000"/>
            </a:srgbClr>
          </a:solidFill>
          <a:ln w="12700">
            <a:solidFill>
              <a:srgbClr val="B8975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292608" y="413308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0–9% Corp Tax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92608" y="43891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&amp; Swiss structures minimize corporate tax burden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956816" y="4078224"/>
            <a:ext cx="1645920" cy="868680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1956816" y="4078224"/>
            <a:ext cx="36576" cy="868680"/>
          </a:xfrm>
          <a:prstGeom prst="rect">
            <a:avLst/>
          </a:prstGeom>
          <a:solidFill>
            <a:srgbClr val="B8975A">
              <a:alpha val="60000"/>
            </a:srgbClr>
          </a:solidFill>
          <a:ln w="12700">
            <a:solidFill>
              <a:srgbClr val="B8975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2048256" y="413308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Transfer Pricing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048256" y="43891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assets held where most tax-efficient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712464" y="4078224"/>
            <a:ext cx="1645920" cy="868680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3712464" y="4078224"/>
            <a:ext cx="36576" cy="868680"/>
          </a:xfrm>
          <a:prstGeom prst="rect">
            <a:avLst/>
          </a:prstGeom>
          <a:solidFill>
            <a:srgbClr val="B8975A">
              <a:alpha val="60000"/>
            </a:srgbClr>
          </a:solidFill>
          <a:ln w="12700">
            <a:solidFill>
              <a:srgbClr val="B8975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3803904" y="413308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Revenue Split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803904" y="43891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token proceeds routed via Foundation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468112" y="4078224"/>
            <a:ext cx="1645920" cy="868680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5468112" y="4078224"/>
            <a:ext cx="36576" cy="868680"/>
          </a:xfrm>
          <a:prstGeom prst="rect">
            <a:avLst/>
          </a:prstGeom>
          <a:solidFill>
            <a:srgbClr val="B8975A">
              <a:alpha val="60000"/>
            </a:srgbClr>
          </a:solidFill>
          <a:ln w="12700">
            <a:solidFill>
              <a:srgbClr val="B8975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5559552" y="413308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Pass-Through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559552" y="43891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withholding minimized via treaty network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223760" y="4078224"/>
            <a:ext cx="1645920" cy="868680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Shape 62"/>
          <p:cNvSpPr/>
          <p:nvPr/>
        </p:nvSpPr>
        <p:spPr>
          <a:xfrm>
            <a:off x="7223760" y="4078224"/>
            <a:ext cx="36576" cy="868680"/>
          </a:xfrm>
          <a:prstGeom prst="rect">
            <a:avLst/>
          </a:prstGeom>
          <a:solidFill>
            <a:srgbClr val="B8975A">
              <a:alpha val="60000"/>
            </a:srgbClr>
          </a:solidFill>
          <a:ln w="12700">
            <a:solidFill>
              <a:srgbClr val="B8975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Text 63"/>
          <p:cNvSpPr/>
          <p:nvPr/>
        </p:nvSpPr>
        <p:spPr>
          <a:xfrm>
            <a:off x="7315200" y="413308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MiCA Passporting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315200" y="43891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EU license covers 27-country operations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201168" y="4974336"/>
            <a:ext cx="87416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structure subject to legal and tax counsel review. Jurisdictions selected for regulatory clarity and treaty network coverage.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81D27"/>
          </a:solidFill>
          <a:ln w="12700">
            <a:solidFill>
              <a:srgbClr val="181D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04672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01168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01168" y="310896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Builders of RWA Experts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01168" y="914400"/>
            <a:ext cx="2029968" cy="3557516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01168" y="914400"/>
            <a:ext cx="2029968" cy="3657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758952" y="1051560"/>
            <a:ext cx="914400" cy="914400"/>
          </a:xfrm>
          <a:prstGeom prst="ellipse">
            <a:avLst/>
          </a:prstGeom>
          <a:solidFill>
            <a:srgbClr val="232B3C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58952" y="1051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92608" y="2066544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Christopher Fourquier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" y="2377440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Vision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2670048"/>
            <a:ext cx="1298448" cy="22860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92608" y="274320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i="1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years in FinTech &amp; Blockchain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1700784" cy="320040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32004" cy="320040"/>
          </a:xfrm>
          <a:prstGeom prst="rect">
            <a:avLst/>
          </a:prstGeom>
          <a:solidFill>
            <a:srgbClr val="B8975A">
              <a:alpha val="70000"/>
            </a:srgbClr>
          </a:solidFill>
          <a:ln w="12700">
            <a:solidFill>
              <a:srgbClr val="B8975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Architecture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3611880"/>
            <a:ext cx="1700784" cy="320040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65760" y="3611880"/>
            <a:ext cx="32004" cy="320040"/>
          </a:xfrm>
          <a:prstGeom prst="rect">
            <a:avLst/>
          </a:prstGeom>
          <a:solidFill>
            <a:srgbClr val="B8975A">
              <a:alpha val="70000"/>
            </a:srgbClr>
          </a:solidFill>
          <a:ln w="12700">
            <a:solidFill>
              <a:srgbClr val="B8975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57200" y="3611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Fundraising &amp; Investor Relations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4023360"/>
            <a:ext cx="1700784" cy="320040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65760" y="4023360"/>
            <a:ext cx="32004" cy="320040"/>
          </a:xfrm>
          <a:prstGeom prst="rect">
            <a:avLst/>
          </a:prstGeom>
          <a:solidFill>
            <a:srgbClr val="B8975A">
              <a:alpha val="70000"/>
            </a:srgbClr>
          </a:solidFill>
          <a:ln w="12700">
            <a:solidFill>
              <a:srgbClr val="B8975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57200" y="4023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Strategy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395728" y="914400"/>
            <a:ext cx="2029968" cy="3557516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2395728" y="914400"/>
            <a:ext cx="2029968" cy="3657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2953512" y="1051560"/>
            <a:ext cx="914400" cy="914400"/>
          </a:xfrm>
          <a:prstGeom prst="ellipse">
            <a:avLst/>
          </a:prstGeom>
          <a:solidFill>
            <a:srgbClr val="232B3C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953512" y="1051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2487168" y="2066544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Christopher Fourquier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487168" y="2377440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Engineering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61488" y="2670048"/>
            <a:ext cx="1298448" cy="22860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2487168" y="274320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i="1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expert — 8+ years DeFi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560320" y="3200400"/>
            <a:ext cx="1700784" cy="320040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2560320" y="3200400"/>
            <a:ext cx="32004" cy="320040"/>
          </a:xfrm>
          <a:prstGeom prst="rect">
            <a:avLst/>
          </a:prstGeom>
          <a:solidFill>
            <a:srgbClr val="B8975A">
              <a:alpha val="70000"/>
            </a:srgbClr>
          </a:solidFill>
          <a:ln w="12700">
            <a:solidFill>
              <a:srgbClr val="B8975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2651760" y="3200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/ ERC-3643 Protocol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60320" y="3611880"/>
            <a:ext cx="1700784" cy="320040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2560320" y="3611880"/>
            <a:ext cx="32004" cy="320040"/>
          </a:xfrm>
          <a:prstGeom prst="rect">
            <a:avLst/>
          </a:prstGeom>
          <a:solidFill>
            <a:srgbClr val="B8975A">
              <a:alpha val="70000"/>
            </a:srgbClr>
          </a:solidFill>
          <a:ln w="12700">
            <a:solidFill>
              <a:srgbClr val="B8975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2651760" y="3611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UUPS Upgradeable Proxies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60320" y="4023360"/>
            <a:ext cx="1700784" cy="320040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2560320" y="4023360"/>
            <a:ext cx="32004" cy="320040"/>
          </a:xfrm>
          <a:prstGeom prst="rect">
            <a:avLst/>
          </a:prstGeom>
          <a:solidFill>
            <a:srgbClr val="B8975A">
              <a:alpha val="70000"/>
            </a:srgbClr>
          </a:solidFill>
          <a:ln w="12700">
            <a:solidFill>
              <a:srgbClr val="B8975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2651760" y="4023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Multichain Infrastructure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90288" y="914400"/>
            <a:ext cx="2029968" cy="3557516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4590288" y="914400"/>
            <a:ext cx="2029968" cy="3657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5148072" y="1051560"/>
            <a:ext cx="914400" cy="914400"/>
          </a:xfrm>
          <a:prstGeom prst="ellipse">
            <a:avLst/>
          </a:prstGeom>
          <a:solidFill>
            <a:srgbClr val="232B3C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5148072" y="1051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4681728" y="2066544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Lester Timothee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Chief Legal Officer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681728" y="2377440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Regulatory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956048" y="2670048"/>
            <a:ext cx="1298448" cy="22860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4681728" y="274320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i="1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Securities law — Global markets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54880" y="3200400"/>
            <a:ext cx="1700784" cy="320040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4754880" y="3200400"/>
            <a:ext cx="32004" cy="320040"/>
          </a:xfrm>
          <a:prstGeom prst="rect">
            <a:avLst/>
          </a:prstGeom>
          <a:solidFill>
            <a:srgbClr val="B8975A">
              <a:alpha val="70000"/>
            </a:srgbClr>
          </a:solidFill>
          <a:ln w="12700">
            <a:solidFill>
              <a:srgbClr val="B8975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4846320" y="3200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MiCA / VASP Licensing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754880" y="3611880"/>
            <a:ext cx="1700784" cy="320040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4754880" y="3611880"/>
            <a:ext cx="32004" cy="320040"/>
          </a:xfrm>
          <a:prstGeom prst="rect">
            <a:avLst/>
          </a:prstGeom>
          <a:solidFill>
            <a:srgbClr val="B8975A">
              <a:alpha val="70000"/>
            </a:srgbClr>
          </a:solidFill>
          <a:ln w="12700">
            <a:solidFill>
              <a:srgbClr val="B8975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4846320" y="3611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KYC/AML Frameworks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54880" y="4023360"/>
            <a:ext cx="1700784" cy="320040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4754880" y="4023360"/>
            <a:ext cx="32004" cy="320040"/>
          </a:xfrm>
          <a:prstGeom prst="rect">
            <a:avLst/>
          </a:prstGeom>
          <a:solidFill>
            <a:srgbClr val="B8975A">
              <a:alpha val="70000"/>
            </a:srgbClr>
          </a:solidFill>
          <a:ln w="12700">
            <a:solidFill>
              <a:srgbClr val="B8975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4846320" y="4023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Classification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784848" y="914400"/>
            <a:ext cx="2029968" cy="3557516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8" name="Shape 56"/>
          <p:cNvSpPr/>
          <p:nvPr/>
        </p:nvSpPr>
        <p:spPr>
          <a:xfrm>
            <a:off x="6784848" y="914400"/>
            <a:ext cx="2029968" cy="3657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Shape 57"/>
          <p:cNvSpPr/>
          <p:nvPr/>
        </p:nvSpPr>
        <p:spPr>
          <a:xfrm>
            <a:off x="7342632" y="1051560"/>
            <a:ext cx="914400" cy="914400"/>
          </a:xfrm>
          <a:prstGeom prst="ellipse">
            <a:avLst/>
          </a:prstGeom>
          <a:solidFill>
            <a:srgbClr val="232B3C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7342632" y="1051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3200" dirty="0"/>
          </a:p>
        </p:txBody>
      </p:sp>
      <p:sp>
        <p:nvSpPr>
          <p:cNvPr id="61" name="Text 59"/>
          <p:cNvSpPr/>
          <p:nvPr/>
        </p:nvSpPr>
        <p:spPr>
          <a:xfrm>
            <a:off x="6876288" y="2066544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Frances Regina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of Growth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876288" y="2377440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Development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150608" y="2670048"/>
            <a:ext cx="1298448" cy="22860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6876288" y="274320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i="1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sales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949440" y="3200400"/>
            <a:ext cx="1700784" cy="320040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Shape 64"/>
          <p:cNvSpPr/>
          <p:nvPr/>
        </p:nvSpPr>
        <p:spPr>
          <a:xfrm>
            <a:off x="6949440" y="3200400"/>
            <a:ext cx="32004" cy="320040"/>
          </a:xfrm>
          <a:prstGeom prst="rect">
            <a:avLst/>
          </a:prstGeom>
          <a:solidFill>
            <a:srgbClr val="B8975A">
              <a:alpha val="70000"/>
            </a:srgbClr>
          </a:solidFill>
          <a:ln w="12700">
            <a:solidFill>
              <a:srgbClr val="B8975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7" name="Text 65"/>
          <p:cNvSpPr/>
          <p:nvPr/>
        </p:nvSpPr>
        <p:spPr>
          <a:xfrm>
            <a:off x="7040880" y="3200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Owner Acquisition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949440" y="3611880"/>
            <a:ext cx="1700784" cy="320040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Shape 67"/>
          <p:cNvSpPr/>
          <p:nvPr/>
        </p:nvSpPr>
        <p:spPr>
          <a:xfrm>
            <a:off x="6949440" y="3611880"/>
            <a:ext cx="32004" cy="320040"/>
          </a:xfrm>
          <a:prstGeom prst="rect">
            <a:avLst/>
          </a:prstGeom>
          <a:solidFill>
            <a:srgbClr val="B8975A">
              <a:alpha val="70000"/>
            </a:srgbClr>
          </a:solidFill>
          <a:ln w="12700">
            <a:solidFill>
              <a:srgbClr val="B8975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Text 68"/>
          <p:cNvSpPr/>
          <p:nvPr/>
        </p:nvSpPr>
        <p:spPr>
          <a:xfrm>
            <a:off x="7040880" y="3611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Partnerships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949440" y="4023360"/>
            <a:ext cx="1700784" cy="320040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Shape 70"/>
          <p:cNvSpPr/>
          <p:nvPr/>
        </p:nvSpPr>
        <p:spPr>
          <a:xfrm>
            <a:off x="6949440" y="4023360"/>
            <a:ext cx="32004" cy="320040"/>
          </a:xfrm>
          <a:prstGeom prst="rect">
            <a:avLst/>
          </a:prstGeom>
          <a:solidFill>
            <a:srgbClr val="B8975A">
              <a:alpha val="70000"/>
            </a:srgbClr>
          </a:solidFill>
          <a:ln w="12700">
            <a:solidFill>
              <a:srgbClr val="B8975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3" name="Text 71"/>
          <p:cNvSpPr/>
          <p:nvPr/>
        </p:nvSpPr>
        <p:spPr>
          <a:xfrm>
            <a:off x="7040880" y="4023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0" y="4687118"/>
            <a:ext cx="9144000" cy="456382"/>
          </a:xfrm>
          <a:prstGeom prst="rect">
            <a:avLst/>
          </a:prstGeom>
          <a:solidFill>
            <a:srgbClr val="181D27"/>
          </a:solidFill>
          <a:ln w="12700">
            <a:solidFill>
              <a:srgbClr val="181D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5" name="Shape 73"/>
          <p:cNvSpPr/>
          <p:nvPr/>
        </p:nvSpPr>
        <p:spPr>
          <a:xfrm>
            <a:off x="0" y="4655114"/>
            <a:ext cx="9144000" cy="32004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6" name="Text 74"/>
          <p:cNvSpPr/>
          <p:nvPr/>
        </p:nvSpPr>
        <p:spPr>
          <a:xfrm>
            <a:off x="201168" y="4778081"/>
            <a:ext cx="8741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 </a:t>
            </a:r>
            <a:r>
              <a:rPr lang="en-US" sz="9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Blockchain-specialized legal counsel  ·  Securities &amp; compliance experts  ·  International tax advisors  ·  Tokenization veterans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81D27"/>
          </a:solidFill>
          <a:ln w="12700">
            <a:solidFill>
              <a:srgbClr val="181D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04672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01168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OPPORTUNITY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01168" y="310896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Raising $2M Across Three Milestone-Based Rounds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01168" y="914400"/>
            <a:ext cx="2743200" cy="1752737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01168" y="914400"/>
            <a:ext cx="2743200" cy="4114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01168" y="9875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50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01168" y="1088727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$400K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01168" y="1669759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Valuation: $2.7M (15% equity)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41248" y="1962367"/>
            <a:ext cx="1463040" cy="22860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01168" y="2017231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9184" y="2155073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audit, mainnet deployment, first hires, Cloud infrastructure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45536" y="914400"/>
            <a:ext cx="2743200" cy="1746504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145536" y="9875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145536" y="1090183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$600K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145536" y="1669759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Valuation: $6M (10% equity)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85616" y="1962367"/>
            <a:ext cx="1463040" cy="22860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145536" y="2017231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73552" y="2155073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9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team, 10+ chain expansion (Solana &amp; Sui), operate own node, </a:t>
            </a:r>
            <a:r>
              <a:rPr lang="en-US" sz="900" dirty="0" err="1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Whitelabel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89904" y="914400"/>
            <a:ext cx="2743200" cy="1746504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089904" y="9875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PRE-SALE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089904" y="10972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$1M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089904" y="1669759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Valuation: $10M (10% Equity)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29984" y="1962367"/>
            <a:ext cx="1463040" cy="22860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089904" y="2017231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17920" y="2155073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features, proprietary blockchain integration, Multi portfolio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01168" y="3036535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USE OF FUNDS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01168" y="3292567"/>
            <a:ext cx="2029968" cy="138988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201168" y="3292567"/>
            <a:ext cx="2029968" cy="3657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201168" y="3329143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201168" y="3832063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— $160K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92608" y="4078951"/>
            <a:ext cx="1865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optimization, full solution development, Cloud Setup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395728" y="3292567"/>
            <a:ext cx="2029968" cy="138988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2395728" y="3292567"/>
            <a:ext cx="2029968" cy="36576"/>
          </a:xfrm>
          <a:prstGeom prst="rect">
            <a:avLst/>
          </a:prstGeom>
          <a:solidFill>
            <a:srgbClr val="B8975A">
              <a:alpha val="50000"/>
            </a:srgbClr>
          </a:solidFill>
          <a:ln w="12700">
            <a:solidFill>
              <a:srgbClr val="B8975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2395728" y="3329143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2395728" y="3832063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— $100K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487168" y="4078951"/>
            <a:ext cx="1865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structure, compliance setup, regulatory guidance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90288" y="3292567"/>
            <a:ext cx="2029968" cy="138988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4590288" y="3292567"/>
            <a:ext cx="2029968" cy="36576"/>
          </a:xfrm>
          <a:prstGeom prst="rect">
            <a:avLst/>
          </a:prstGeom>
          <a:solidFill>
            <a:srgbClr val="B8975A">
              <a:alpha val="50000"/>
            </a:srgbClr>
          </a:solidFill>
          <a:ln w="12700">
            <a:solidFill>
              <a:srgbClr val="B8975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590288" y="3329143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4590288" y="3832063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— $80K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681728" y="4078951"/>
            <a:ext cx="1865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audits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784848" y="3292567"/>
            <a:ext cx="2029968" cy="138988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6784848" y="3292567"/>
            <a:ext cx="2029968" cy="36576"/>
          </a:xfrm>
          <a:prstGeom prst="rect">
            <a:avLst/>
          </a:prstGeom>
          <a:solidFill>
            <a:srgbClr val="B8975A">
              <a:alpha val="50000"/>
            </a:srgbClr>
          </a:solidFill>
          <a:ln w="12700">
            <a:solidFill>
              <a:srgbClr val="B8975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6784848" y="3329143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3000" dirty="0"/>
          </a:p>
        </p:txBody>
      </p:sp>
      <p:sp>
        <p:nvSpPr>
          <p:cNvPr id="47" name="Text 45"/>
          <p:cNvSpPr/>
          <p:nvPr/>
        </p:nvSpPr>
        <p:spPr>
          <a:xfrm>
            <a:off x="6784848" y="3832063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— $60K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876288" y="4078951"/>
            <a:ext cx="1865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 pilot customers, product-market fit validation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01168" y="4819386"/>
            <a:ext cx="8741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valuation growth potential from Pre-Seed ($2.7M) to Pre-Sale ($10M) ahead of Series A.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81D27"/>
          </a:solidFill>
          <a:ln w="12700">
            <a:solidFill>
              <a:srgbClr val="181D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04672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01168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INVEST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01168" y="310896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Compelling Reasons to Join the RWA Revolution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01168" y="914400"/>
            <a:ext cx="4206240" cy="1275588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01168" y="914400"/>
            <a:ext cx="54864" cy="127558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8784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3356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Equity at Lowest Valuation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664848"/>
            <a:ext cx="3858768" cy="46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valuation growth from $2.7M Pre-Seed to $10M Pre-Sale before Series A. Non-dilutive security token revenue stream planned alongside equity.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81728" y="914400"/>
            <a:ext cx="4206240" cy="1275588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681728" y="914400"/>
            <a:ext cx="41148" cy="127558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846320" y="910283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0" y="1367483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Token Allocation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696667"/>
            <a:ext cx="3858768" cy="433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token with platform fee discounts, governance rights, and revenue sharing for stakers. Strategic allocation reserved for early investors.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1168" y="2479116"/>
            <a:ext cx="4206240" cy="1289304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01168" y="2479116"/>
            <a:ext cx="41148" cy="1289304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65760" y="2483961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65760" y="2941161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Board Input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270345"/>
            <a:ext cx="3858768" cy="414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above $100K receive board observer seat, product roadmap input, and network introductions to asset owners and exchange partners.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81728" y="2479116"/>
            <a:ext cx="4206240" cy="1289304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681728" y="2479116"/>
            <a:ext cx="41148" cy="1289304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846320" y="2483961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0" y="2941161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 Reporting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3270345"/>
            <a:ext cx="3858768" cy="414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metrics on TVL, users, and revenue. Direct founder access. Milestone-based fund releases ensure accountability at every stage.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" y="4257645"/>
            <a:ext cx="2359152" cy="548640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658368" y="4257645"/>
            <a:ext cx="2359152" cy="4114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58368" y="4275933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4–10×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499616" y="4440525"/>
            <a:ext cx="0" cy="182880"/>
          </a:xfrm>
          <a:prstGeom prst="line">
            <a:avLst/>
          </a:prstGeom>
          <a:noFill/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1591056" y="4285077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Growth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591056" y="4522821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to Series A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91840" y="4257645"/>
            <a:ext cx="2359152" cy="548640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3291840" y="4257645"/>
            <a:ext cx="2359152" cy="4114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291840" y="4275933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$16T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4133088" y="4440525"/>
            <a:ext cx="0" cy="182880"/>
          </a:xfrm>
          <a:prstGeom prst="line">
            <a:avLst/>
          </a:prstGeom>
          <a:noFill/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224528" y="4285077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224528" y="4522821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assets by 2030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925312" y="4257645"/>
            <a:ext cx="2359152" cy="548640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5925312" y="4257645"/>
            <a:ext cx="2359152" cy="41148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5925312" y="4275933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6766560" y="4440525"/>
            <a:ext cx="0" cy="182880"/>
          </a:xfrm>
          <a:prstGeom prst="line">
            <a:avLst/>
          </a:prstGeom>
          <a:noFill/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6858000" y="4285077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by 2027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858000" y="4522821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adoption target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566928"/>
            <a:ext cx="41148" cy="4206240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FUTURE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TOGETHER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58368" y="274320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is live on testnets today.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deployment targeted for Q3 2026.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81D27"/>
          </a:solidFill>
          <a:ln w="12700">
            <a:solidFill>
              <a:srgbClr val="181D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943599" y="0"/>
            <a:ext cx="45719" cy="5143500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144768" y="5029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144768" y="804672"/>
            <a:ext cx="2798064" cy="38404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236208" y="80467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00" dirty="0"/>
          </a:p>
          <a:p>
            <a:pPr marL="0" indent="0"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christopher@sermiumglobal.com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144768" y="1261872"/>
            <a:ext cx="2798064" cy="38404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236208" y="126187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800" dirty="0"/>
          </a:p>
          <a:p>
            <a:pPr marL="0" indent="0"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TBD.com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44768" y="1719072"/>
            <a:ext cx="2798064" cy="38404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236208" y="171907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  <a:p>
            <a:pPr marL="0" indent="0"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rwa-launchpad-frontend.vercel.app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44768" y="2176272"/>
            <a:ext cx="2798064" cy="38404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236208" y="217627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</a:t>
            </a:r>
            <a:endParaRPr lang="en-US" sz="800" dirty="0"/>
          </a:p>
          <a:p>
            <a:pPr marL="0" indent="0"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@TBD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44768" y="2633472"/>
            <a:ext cx="2798064" cy="38404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236208" y="263347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800" dirty="0"/>
          </a:p>
          <a:p>
            <a:pPr marL="0" indent="0"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@TBD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44768" y="3090672"/>
            <a:ext cx="2798064" cy="38404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236208" y="309067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800" dirty="0"/>
          </a:p>
          <a:p>
            <a:pPr marL="0" indent="0"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linkedin.com/company/TBD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44768" y="3639312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LIVE ON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144768" y="3972772"/>
            <a:ext cx="91440" cy="91440"/>
          </a:xfrm>
          <a:prstGeom prst="ellipse">
            <a:avLst/>
          </a:prstGeom>
          <a:solidFill>
            <a:srgbClr val="4A8C6F"/>
          </a:solidFill>
          <a:ln w="12700">
            <a:solidFill>
              <a:srgbClr val="4A8C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291072" y="387705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Fuji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44768" y="4292812"/>
            <a:ext cx="91440" cy="91440"/>
          </a:xfrm>
          <a:prstGeom prst="ellipse">
            <a:avLst/>
          </a:prstGeom>
          <a:solidFill>
            <a:srgbClr val="4A8C6F"/>
          </a:solidFill>
          <a:ln w="12700">
            <a:solidFill>
              <a:srgbClr val="4A8C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291072" y="41970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Amoy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68684" y="3977048"/>
            <a:ext cx="91440" cy="91440"/>
          </a:xfrm>
          <a:prstGeom prst="ellipse">
            <a:avLst/>
          </a:prstGeom>
          <a:solidFill>
            <a:srgbClr val="4A8C6F"/>
          </a:solidFill>
          <a:ln w="12700">
            <a:solidFill>
              <a:srgbClr val="4A8C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7714988" y="3881332"/>
            <a:ext cx="10787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BNB Chain Testnet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" y="47731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 and consideration.</a:t>
            </a:r>
            <a:endParaRPr lang="en-US" sz="900" dirty="0"/>
          </a:p>
        </p:txBody>
      </p:sp>
      <p:sp>
        <p:nvSpPr>
          <p:cNvPr id="28" name="Shape 23">
            <a:extLst>
              <a:ext uri="{FF2B5EF4-FFF2-40B4-BE49-F238E27FC236}">
                <a16:creationId xmlns:a16="http://schemas.microsoft.com/office/drawing/2014/main" id="{D40A13EF-6FE7-BAAA-5028-040956D0676C}"/>
              </a:ext>
            </a:extLst>
          </p:cNvPr>
          <p:cNvSpPr/>
          <p:nvPr/>
        </p:nvSpPr>
        <p:spPr>
          <a:xfrm>
            <a:off x="7568684" y="4269656"/>
            <a:ext cx="91440" cy="91440"/>
          </a:xfrm>
          <a:prstGeom prst="ellipse">
            <a:avLst/>
          </a:prstGeom>
          <a:solidFill>
            <a:srgbClr val="4A8C6F"/>
          </a:solidFill>
          <a:ln w="12700">
            <a:solidFill>
              <a:srgbClr val="4A8C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1C93ED7E-DA70-A18E-8DE7-DB124D98FF4B}"/>
              </a:ext>
            </a:extLst>
          </p:cNvPr>
          <p:cNvSpPr/>
          <p:nvPr/>
        </p:nvSpPr>
        <p:spPr>
          <a:xfrm>
            <a:off x="7714988" y="4173940"/>
            <a:ext cx="8421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Cronos Testnet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1508</Words>
  <Application>Microsoft Office PowerPoint</Application>
  <PresentationFormat>Affichage à l'écran (16:9)</PresentationFormat>
  <Paragraphs>438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RWA Experts — Pitch Deck</dc:title>
  <dc:subject>PptxGenJS Presentation</dc:subject>
  <dc:creator>PptxGenJS</dc:creator>
  <cp:lastModifiedBy>Christopher fourquier</cp:lastModifiedBy>
  <cp:revision>4</cp:revision>
  <dcterms:created xsi:type="dcterms:W3CDTF">2026-03-06T00:00:02Z</dcterms:created>
  <dcterms:modified xsi:type="dcterms:W3CDTF">2026-03-06T06:48:42Z</dcterms:modified>
</cp:coreProperties>
</file>