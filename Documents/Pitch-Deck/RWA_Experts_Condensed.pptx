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210" d="100"/>
          <a:sy n="210" d="100"/>
        </p:scale>
        <p:origin x="38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4026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4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" y="9144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91440" y="60350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91440" y="111556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91440" y="162763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91440" y="213969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91440" y="265176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91440" y="316382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91440" y="367588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91440" y="418795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91440" y="470001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603504" y="9144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603504" y="60350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603504" y="111556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603504" y="162763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Shape 14"/>
          <p:cNvSpPr/>
          <p:nvPr/>
        </p:nvSpPr>
        <p:spPr>
          <a:xfrm>
            <a:off x="603504" y="213969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603504" y="265176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Shape 16"/>
          <p:cNvSpPr/>
          <p:nvPr/>
        </p:nvSpPr>
        <p:spPr>
          <a:xfrm>
            <a:off x="603504" y="316382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7"/>
          <p:cNvSpPr/>
          <p:nvPr/>
        </p:nvSpPr>
        <p:spPr>
          <a:xfrm>
            <a:off x="603504" y="367588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Shape 18"/>
          <p:cNvSpPr/>
          <p:nvPr/>
        </p:nvSpPr>
        <p:spPr>
          <a:xfrm>
            <a:off x="603504" y="418795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603504" y="470001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Shape 20"/>
          <p:cNvSpPr/>
          <p:nvPr/>
        </p:nvSpPr>
        <p:spPr>
          <a:xfrm>
            <a:off x="1115568" y="9144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Shape 21"/>
          <p:cNvSpPr/>
          <p:nvPr/>
        </p:nvSpPr>
        <p:spPr>
          <a:xfrm>
            <a:off x="1115568" y="60350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Shape 22"/>
          <p:cNvSpPr/>
          <p:nvPr/>
        </p:nvSpPr>
        <p:spPr>
          <a:xfrm>
            <a:off x="1115568" y="111556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Shape 23"/>
          <p:cNvSpPr/>
          <p:nvPr/>
        </p:nvSpPr>
        <p:spPr>
          <a:xfrm>
            <a:off x="1115568" y="162763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hape 24"/>
          <p:cNvSpPr/>
          <p:nvPr/>
        </p:nvSpPr>
        <p:spPr>
          <a:xfrm>
            <a:off x="1115568" y="213969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Shape 25"/>
          <p:cNvSpPr/>
          <p:nvPr/>
        </p:nvSpPr>
        <p:spPr>
          <a:xfrm>
            <a:off x="1115568" y="265176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Shape 26"/>
          <p:cNvSpPr/>
          <p:nvPr/>
        </p:nvSpPr>
        <p:spPr>
          <a:xfrm>
            <a:off x="1115568" y="316382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hape 27"/>
          <p:cNvSpPr/>
          <p:nvPr/>
        </p:nvSpPr>
        <p:spPr>
          <a:xfrm>
            <a:off x="1115568" y="367588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Shape 28"/>
          <p:cNvSpPr/>
          <p:nvPr/>
        </p:nvSpPr>
        <p:spPr>
          <a:xfrm>
            <a:off x="1115568" y="418795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Shape 29"/>
          <p:cNvSpPr/>
          <p:nvPr/>
        </p:nvSpPr>
        <p:spPr>
          <a:xfrm>
            <a:off x="1115568" y="470001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Shape 30"/>
          <p:cNvSpPr/>
          <p:nvPr/>
        </p:nvSpPr>
        <p:spPr>
          <a:xfrm>
            <a:off x="1627632" y="9144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Shape 31"/>
          <p:cNvSpPr/>
          <p:nvPr/>
        </p:nvSpPr>
        <p:spPr>
          <a:xfrm>
            <a:off x="1627632" y="60350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Shape 32"/>
          <p:cNvSpPr/>
          <p:nvPr/>
        </p:nvSpPr>
        <p:spPr>
          <a:xfrm>
            <a:off x="1627632" y="111556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Shape 33"/>
          <p:cNvSpPr/>
          <p:nvPr/>
        </p:nvSpPr>
        <p:spPr>
          <a:xfrm>
            <a:off x="1627632" y="162763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Shape 34"/>
          <p:cNvSpPr/>
          <p:nvPr/>
        </p:nvSpPr>
        <p:spPr>
          <a:xfrm>
            <a:off x="1627632" y="213969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Shape 35"/>
          <p:cNvSpPr/>
          <p:nvPr/>
        </p:nvSpPr>
        <p:spPr>
          <a:xfrm>
            <a:off x="1627632" y="265176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Shape 36"/>
          <p:cNvSpPr/>
          <p:nvPr/>
        </p:nvSpPr>
        <p:spPr>
          <a:xfrm>
            <a:off x="1627632" y="316382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Shape 37"/>
          <p:cNvSpPr/>
          <p:nvPr/>
        </p:nvSpPr>
        <p:spPr>
          <a:xfrm>
            <a:off x="1627632" y="367588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Shape 38"/>
          <p:cNvSpPr/>
          <p:nvPr/>
        </p:nvSpPr>
        <p:spPr>
          <a:xfrm>
            <a:off x="1627632" y="418795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1" name="Shape 39"/>
          <p:cNvSpPr/>
          <p:nvPr/>
        </p:nvSpPr>
        <p:spPr>
          <a:xfrm>
            <a:off x="1627632" y="470001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Shape 40"/>
          <p:cNvSpPr/>
          <p:nvPr/>
        </p:nvSpPr>
        <p:spPr>
          <a:xfrm>
            <a:off x="2139696" y="9144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3" name="Shape 41"/>
          <p:cNvSpPr/>
          <p:nvPr/>
        </p:nvSpPr>
        <p:spPr>
          <a:xfrm>
            <a:off x="2139696" y="60350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Shape 42"/>
          <p:cNvSpPr/>
          <p:nvPr/>
        </p:nvSpPr>
        <p:spPr>
          <a:xfrm>
            <a:off x="2139696" y="111556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5" name="Shape 43"/>
          <p:cNvSpPr/>
          <p:nvPr/>
        </p:nvSpPr>
        <p:spPr>
          <a:xfrm>
            <a:off x="2139696" y="162763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6" name="Shape 44"/>
          <p:cNvSpPr/>
          <p:nvPr/>
        </p:nvSpPr>
        <p:spPr>
          <a:xfrm>
            <a:off x="2139696" y="213969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7" name="Shape 45"/>
          <p:cNvSpPr/>
          <p:nvPr/>
        </p:nvSpPr>
        <p:spPr>
          <a:xfrm>
            <a:off x="2139696" y="265176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8" name="Shape 46"/>
          <p:cNvSpPr/>
          <p:nvPr/>
        </p:nvSpPr>
        <p:spPr>
          <a:xfrm>
            <a:off x="2139696" y="316382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9" name="Shape 47"/>
          <p:cNvSpPr/>
          <p:nvPr/>
        </p:nvSpPr>
        <p:spPr>
          <a:xfrm>
            <a:off x="2139696" y="367588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0" name="Shape 48"/>
          <p:cNvSpPr/>
          <p:nvPr/>
        </p:nvSpPr>
        <p:spPr>
          <a:xfrm>
            <a:off x="2139696" y="418795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1" name="Shape 49"/>
          <p:cNvSpPr/>
          <p:nvPr/>
        </p:nvSpPr>
        <p:spPr>
          <a:xfrm>
            <a:off x="2139696" y="470001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2" name="Shape 50"/>
          <p:cNvSpPr/>
          <p:nvPr/>
        </p:nvSpPr>
        <p:spPr>
          <a:xfrm>
            <a:off x="2651760" y="9144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3" name="Shape 51"/>
          <p:cNvSpPr/>
          <p:nvPr/>
        </p:nvSpPr>
        <p:spPr>
          <a:xfrm>
            <a:off x="2651760" y="60350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4" name="Shape 52"/>
          <p:cNvSpPr/>
          <p:nvPr/>
        </p:nvSpPr>
        <p:spPr>
          <a:xfrm>
            <a:off x="2651760" y="111556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5" name="Shape 53"/>
          <p:cNvSpPr/>
          <p:nvPr/>
        </p:nvSpPr>
        <p:spPr>
          <a:xfrm>
            <a:off x="2651760" y="162763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6" name="Shape 54"/>
          <p:cNvSpPr/>
          <p:nvPr/>
        </p:nvSpPr>
        <p:spPr>
          <a:xfrm>
            <a:off x="2651760" y="213969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7" name="Shape 55"/>
          <p:cNvSpPr/>
          <p:nvPr/>
        </p:nvSpPr>
        <p:spPr>
          <a:xfrm>
            <a:off x="2651760" y="265176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8" name="Shape 56"/>
          <p:cNvSpPr/>
          <p:nvPr/>
        </p:nvSpPr>
        <p:spPr>
          <a:xfrm>
            <a:off x="2651760" y="316382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9" name="Shape 57"/>
          <p:cNvSpPr/>
          <p:nvPr/>
        </p:nvSpPr>
        <p:spPr>
          <a:xfrm>
            <a:off x="2651760" y="367588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0" name="Shape 58"/>
          <p:cNvSpPr/>
          <p:nvPr/>
        </p:nvSpPr>
        <p:spPr>
          <a:xfrm>
            <a:off x="2651760" y="418795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1" name="Shape 59"/>
          <p:cNvSpPr/>
          <p:nvPr/>
        </p:nvSpPr>
        <p:spPr>
          <a:xfrm>
            <a:off x="2651760" y="470001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2" name="Shape 60"/>
          <p:cNvSpPr/>
          <p:nvPr/>
        </p:nvSpPr>
        <p:spPr>
          <a:xfrm>
            <a:off x="3163824" y="9144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3" name="Shape 61"/>
          <p:cNvSpPr/>
          <p:nvPr/>
        </p:nvSpPr>
        <p:spPr>
          <a:xfrm>
            <a:off x="3163824" y="60350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4" name="Shape 62"/>
          <p:cNvSpPr/>
          <p:nvPr/>
        </p:nvSpPr>
        <p:spPr>
          <a:xfrm>
            <a:off x="3163824" y="111556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5" name="Shape 63"/>
          <p:cNvSpPr/>
          <p:nvPr/>
        </p:nvSpPr>
        <p:spPr>
          <a:xfrm>
            <a:off x="3163824" y="162763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6" name="Shape 64"/>
          <p:cNvSpPr/>
          <p:nvPr/>
        </p:nvSpPr>
        <p:spPr>
          <a:xfrm>
            <a:off x="3163824" y="213969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7" name="Shape 65"/>
          <p:cNvSpPr/>
          <p:nvPr/>
        </p:nvSpPr>
        <p:spPr>
          <a:xfrm>
            <a:off x="3163824" y="265176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8" name="Shape 66"/>
          <p:cNvSpPr/>
          <p:nvPr/>
        </p:nvSpPr>
        <p:spPr>
          <a:xfrm>
            <a:off x="3163824" y="316382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9" name="Shape 67"/>
          <p:cNvSpPr/>
          <p:nvPr/>
        </p:nvSpPr>
        <p:spPr>
          <a:xfrm>
            <a:off x="3163824" y="367588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0" name="Shape 68"/>
          <p:cNvSpPr/>
          <p:nvPr/>
        </p:nvSpPr>
        <p:spPr>
          <a:xfrm>
            <a:off x="3163824" y="418795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1" name="Shape 69"/>
          <p:cNvSpPr/>
          <p:nvPr/>
        </p:nvSpPr>
        <p:spPr>
          <a:xfrm>
            <a:off x="3163824" y="470001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2" name="Shape 70"/>
          <p:cNvSpPr/>
          <p:nvPr/>
        </p:nvSpPr>
        <p:spPr>
          <a:xfrm>
            <a:off x="3675888" y="9144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3" name="Shape 71"/>
          <p:cNvSpPr/>
          <p:nvPr/>
        </p:nvSpPr>
        <p:spPr>
          <a:xfrm>
            <a:off x="3675888" y="60350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4" name="Shape 72"/>
          <p:cNvSpPr/>
          <p:nvPr/>
        </p:nvSpPr>
        <p:spPr>
          <a:xfrm>
            <a:off x="3675888" y="111556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5" name="Shape 73"/>
          <p:cNvSpPr/>
          <p:nvPr/>
        </p:nvSpPr>
        <p:spPr>
          <a:xfrm>
            <a:off x="3675888" y="162763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6" name="Shape 74"/>
          <p:cNvSpPr/>
          <p:nvPr/>
        </p:nvSpPr>
        <p:spPr>
          <a:xfrm>
            <a:off x="3675888" y="213969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7" name="Shape 75"/>
          <p:cNvSpPr/>
          <p:nvPr/>
        </p:nvSpPr>
        <p:spPr>
          <a:xfrm>
            <a:off x="3675888" y="265176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8" name="Shape 76"/>
          <p:cNvSpPr/>
          <p:nvPr/>
        </p:nvSpPr>
        <p:spPr>
          <a:xfrm>
            <a:off x="3675888" y="316382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9" name="Shape 77"/>
          <p:cNvSpPr/>
          <p:nvPr/>
        </p:nvSpPr>
        <p:spPr>
          <a:xfrm>
            <a:off x="3675888" y="367588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0" name="Shape 78"/>
          <p:cNvSpPr/>
          <p:nvPr/>
        </p:nvSpPr>
        <p:spPr>
          <a:xfrm>
            <a:off x="3675888" y="418795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1" name="Shape 79"/>
          <p:cNvSpPr/>
          <p:nvPr/>
        </p:nvSpPr>
        <p:spPr>
          <a:xfrm>
            <a:off x="3675888" y="470001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2" name="Shape 80"/>
          <p:cNvSpPr/>
          <p:nvPr/>
        </p:nvSpPr>
        <p:spPr>
          <a:xfrm>
            <a:off x="4187952" y="9144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3" name="Shape 81"/>
          <p:cNvSpPr/>
          <p:nvPr/>
        </p:nvSpPr>
        <p:spPr>
          <a:xfrm>
            <a:off x="4187952" y="60350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4" name="Shape 82"/>
          <p:cNvSpPr/>
          <p:nvPr/>
        </p:nvSpPr>
        <p:spPr>
          <a:xfrm>
            <a:off x="4187952" y="111556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5" name="Shape 83"/>
          <p:cNvSpPr/>
          <p:nvPr/>
        </p:nvSpPr>
        <p:spPr>
          <a:xfrm>
            <a:off x="4187952" y="162763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6" name="Shape 84"/>
          <p:cNvSpPr/>
          <p:nvPr/>
        </p:nvSpPr>
        <p:spPr>
          <a:xfrm>
            <a:off x="4187952" y="213969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7" name="Shape 85"/>
          <p:cNvSpPr/>
          <p:nvPr/>
        </p:nvSpPr>
        <p:spPr>
          <a:xfrm>
            <a:off x="4187952" y="265176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8" name="Shape 86"/>
          <p:cNvSpPr/>
          <p:nvPr/>
        </p:nvSpPr>
        <p:spPr>
          <a:xfrm>
            <a:off x="4187952" y="316382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9" name="Shape 87"/>
          <p:cNvSpPr/>
          <p:nvPr/>
        </p:nvSpPr>
        <p:spPr>
          <a:xfrm>
            <a:off x="4187952" y="367588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0" name="Shape 88"/>
          <p:cNvSpPr/>
          <p:nvPr/>
        </p:nvSpPr>
        <p:spPr>
          <a:xfrm>
            <a:off x="4187952" y="418795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1" name="Shape 89"/>
          <p:cNvSpPr/>
          <p:nvPr/>
        </p:nvSpPr>
        <p:spPr>
          <a:xfrm>
            <a:off x="4187952" y="470001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2" name="Shape 90"/>
          <p:cNvSpPr/>
          <p:nvPr/>
        </p:nvSpPr>
        <p:spPr>
          <a:xfrm>
            <a:off x="4700016" y="9144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3" name="Shape 91"/>
          <p:cNvSpPr/>
          <p:nvPr/>
        </p:nvSpPr>
        <p:spPr>
          <a:xfrm>
            <a:off x="4700016" y="60350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4" name="Shape 92"/>
          <p:cNvSpPr/>
          <p:nvPr/>
        </p:nvSpPr>
        <p:spPr>
          <a:xfrm>
            <a:off x="4700016" y="111556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5" name="Shape 93"/>
          <p:cNvSpPr/>
          <p:nvPr/>
        </p:nvSpPr>
        <p:spPr>
          <a:xfrm>
            <a:off x="4700016" y="162763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6" name="Shape 94"/>
          <p:cNvSpPr/>
          <p:nvPr/>
        </p:nvSpPr>
        <p:spPr>
          <a:xfrm>
            <a:off x="4700016" y="213969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7" name="Shape 95"/>
          <p:cNvSpPr/>
          <p:nvPr/>
        </p:nvSpPr>
        <p:spPr>
          <a:xfrm>
            <a:off x="4700016" y="265176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8" name="Shape 96"/>
          <p:cNvSpPr/>
          <p:nvPr/>
        </p:nvSpPr>
        <p:spPr>
          <a:xfrm>
            <a:off x="4700016" y="316382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9" name="Shape 97"/>
          <p:cNvSpPr/>
          <p:nvPr/>
        </p:nvSpPr>
        <p:spPr>
          <a:xfrm>
            <a:off x="4700016" y="367588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0" name="Shape 98"/>
          <p:cNvSpPr/>
          <p:nvPr/>
        </p:nvSpPr>
        <p:spPr>
          <a:xfrm>
            <a:off x="4700016" y="418795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1" name="Shape 99"/>
          <p:cNvSpPr/>
          <p:nvPr/>
        </p:nvSpPr>
        <p:spPr>
          <a:xfrm>
            <a:off x="4700016" y="470001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2" name="Shape 100"/>
          <p:cNvSpPr/>
          <p:nvPr/>
        </p:nvSpPr>
        <p:spPr>
          <a:xfrm>
            <a:off x="5212080" y="9144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3" name="Shape 101"/>
          <p:cNvSpPr/>
          <p:nvPr/>
        </p:nvSpPr>
        <p:spPr>
          <a:xfrm>
            <a:off x="5212080" y="60350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4" name="Shape 102"/>
          <p:cNvSpPr/>
          <p:nvPr/>
        </p:nvSpPr>
        <p:spPr>
          <a:xfrm>
            <a:off x="5212080" y="111556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5" name="Shape 103"/>
          <p:cNvSpPr/>
          <p:nvPr/>
        </p:nvSpPr>
        <p:spPr>
          <a:xfrm>
            <a:off x="5212080" y="162763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6" name="Shape 104"/>
          <p:cNvSpPr/>
          <p:nvPr/>
        </p:nvSpPr>
        <p:spPr>
          <a:xfrm>
            <a:off x="5212080" y="213969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7" name="Shape 105"/>
          <p:cNvSpPr/>
          <p:nvPr/>
        </p:nvSpPr>
        <p:spPr>
          <a:xfrm>
            <a:off x="5212080" y="265176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8" name="Shape 106"/>
          <p:cNvSpPr/>
          <p:nvPr/>
        </p:nvSpPr>
        <p:spPr>
          <a:xfrm>
            <a:off x="5212080" y="316382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9" name="Shape 107"/>
          <p:cNvSpPr/>
          <p:nvPr/>
        </p:nvSpPr>
        <p:spPr>
          <a:xfrm>
            <a:off x="5212080" y="367588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0" name="Shape 108"/>
          <p:cNvSpPr/>
          <p:nvPr/>
        </p:nvSpPr>
        <p:spPr>
          <a:xfrm>
            <a:off x="5212080" y="418795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1" name="Shape 109"/>
          <p:cNvSpPr/>
          <p:nvPr/>
        </p:nvSpPr>
        <p:spPr>
          <a:xfrm>
            <a:off x="5212080" y="470001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2" name="Shape 110"/>
          <p:cNvSpPr/>
          <p:nvPr/>
        </p:nvSpPr>
        <p:spPr>
          <a:xfrm>
            <a:off x="5724144" y="9144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3" name="Shape 111"/>
          <p:cNvSpPr/>
          <p:nvPr/>
        </p:nvSpPr>
        <p:spPr>
          <a:xfrm>
            <a:off x="5724144" y="60350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4" name="Shape 112"/>
          <p:cNvSpPr/>
          <p:nvPr/>
        </p:nvSpPr>
        <p:spPr>
          <a:xfrm>
            <a:off x="5724144" y="111556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5" name="Shape 113"/>
          <p:cNvSpPr/>
          <p:nvPr/>
        </p:nvSpPr>
        <p:spPr>
          <a:xfrm>
            <a:off x="5724144" y="162763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6" name="Shape 114"/>
          <p:cNvSpPr/>
          <p:nvPr/>
        </p:nvSpPr>
        <p:spPr>
          <a:xfrm>
            <a:off x="5724144" y="213969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7" name="Shape 115"/>
          <p:cNvSpPr/>
          <p:nvPr/>
        </p:nvSpPr>
        <p:spPr>
          <a:xfrm>
            <a:off x="5724144" y="265176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8" name="Shape 116"/>
          <p:cNvSpPr/>
          <p:nvPr/>
        </p:nvSpPr>
        <p:spPr>
          <a:xfrm>
            <a:off x="5724144" y="316382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9" name="Shape 117"/>
          <p:cNvSpPr/>
          <p:nvPr/>
        </p:nvSpPr>
        <p:spPr>
          <a:xfrm>
            <a:off x="5724144" y="367588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0" name="Shape 118"/>
          <p:cNvSpPr/>
          <p:nvPr/>
        </p:nvSpPr>
        <p:spPr>
          <a:xfrm>
            <a:off x="5724144" y="418795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1" name="Shape 119"/>
          <p:cNvSpPr/>
          <p:nvPr/>
        </p:nvSpPr>
        <p:spPr>
          <a:xfrm>
            <a:off x="5724144" y="470001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2" name="Shape 120"/>
          <p:cNvSpPr/>
          <p:nvPr/>
        </p:nvSpPr>
        <p:spPr>
          <a:xfrm>
            <a:off x="6236208" y="9144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3" name="Shape 121"/>
          <p:cNvSpPr/>
          <p:nvPr/>
        </p:nvSpPr>
        <p:spPr>
          <a:xfrm>
            <a:off x="6236208" y="60350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4" name="Shape 122"/>
          <p:cNvSpPr/>
          <p:nvPr/>
        </p:nvSpPr>
        <p:spPr>
          <a:xfrm>
            <a:off x="6236208" y="111556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5" name="Shape 123"/>
          <p:cNvSpPr/>
          <p:nvPr/>
        </p:nvSpPr>
        <p:spPr>
          <a:xfrm>
            <a:off x="6236208" y="162763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6" name="Shape 124"/>
          <p:cNvSpPr/>
          <p:nvPr/>
        </p:nvSpPr>
        <p:spPr>
          <a:xfrm>
            <a:off x="6236208" y="213969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7" name="Shape 125"/>
          <p:cNvSpPr/>
          <p:nvPr/>
        </p:nvSpPr>
        <p:spPr>
          <a:xfrm>
            <a:off x="6236208" y="265176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8" name="Shape 126"/>
          <p:cNvSpPr/>
          <p:nvPr/>
        </p:nvSpPr>
        <p:spPr>
          <a:xfrm>
            <a:off x="6236208" y="316382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9" name="Shape 127"/>
          <p:cNvSpPr/>
          <p:nvPr/>
        </p:nvSpPr>
        <p:spPr>
          <a:xfrm>
            <a:off x="6236208" y="367588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0" name="Shape 128"/>
          <p:cNvSpPr/>
          <p:nvPr/>
        </p:nvSpPr>
        <p:spPr>
          <a:xfrm>
            <a:off x="6236208" y="418795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1" name="Shape 129"/>
          <p:cNvSpPr/>
          <p:nvPr/>
        </p:nvSpPr>
        <p:spPr>
          <a:xfrm>
            <a:off x="6236208" y="470001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2" name="Shape 130"/>
          <p:cNvSpPr/>
          <p:nvPr/>
        </p:nvSpPr>
        <p:spPr>
          <a:xfrm>
            <a:off x="6748272" y="9144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3" name="Shape 131"/>
          <p:cNvSpPr/>
          <p:nvPr/>
        </p:nvSpPr>
        <p:spPr>
          <a:xfrm>
            <a:off x="6748272" y="60350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4" name="Shape 132"/>
          <p:cNvSpPr/>
          <p:nvPr/>
        </p:nvSpPr>
        <p:spPr>
          <a:xfrm>
            <a:off x="6748272" y="111556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5" name="Shape 133"/>
          <p:cNvSpPr/>
          <p:nvPr/>
        </p:nvSpPr>
        <p:spPr>
          <a:xfrm>
            <a:off x="6748272" y="162763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6" name="Shape 134"/>
          <p:cNvSpPr/>
          <p:nvPr/>
        </p:nvSpPr>
        <p:spPr>
          <a:xfrm>
            <a:off x="6748272" y="213969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7" name="Shape 135"/>
          <p:cNvSpPr/>
          <p:nvPr/>
        </p:nvSpPr>
        <p:spPr>
          <a:xfrm>
            <a:off x="6748272" y="265176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8" name="Shape 136"/>
          <p:cNvSpPr/>
          <p:nvPr/>
        </p:nvSpPr>
        <p:spPr>
          <a:xfrm>
            <a:off x="6748272" y="316382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9" name="Shape 137"/>
          <p:cNvSpPr/>
          <p:nvPr/>
        </p:nvSpPr>
        <p:spPr>
          <a:xfrm>
            <a:off x="6748272" y="367588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0" name="Shape 138"/>
          <p:cNvSpPr/>
          <p:nvPr/>
        </p:nvSpPr>
        <p:spPr>
          <a:xfrm>
            <a:off x="6748272" y="418795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1" name="Shape 139"/>
          <p:cNvSpPr/>
          <p:nvPr/>
        </p:nvSpPr>
        <p:spPr>
          <a:xfrm>
            <a:off x="6748272" y="470001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2" name="Shape 140"/>
          <p:cNvSpPr/>
          <p:nvPr/>
        </p:nvSpPr>
        <p:spPr>
          <a:xfrm>
            <a:off x="7260336" y="9144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3" name="Shape 141"/>
          <p:cNvSpPr/>
          <p:nvPr/>
        </p:nvSpPr>
        <p:spPr>
          <a:xfrm>
            <a:off x="7260336" y="60350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4" name="Shape 142"/>
          <p:cNvSpPr/>
          <p:nvPr/>
        </p:nvSpPr>
        <p:spPr>
          <a:xfrm>
            <a:off x="7260336" y="111556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5" name="Shape 143"/>
          <p:cNvSpPr/>
          <p:nvPr/>
        </p:nvSpPr>
        <p:spPr>
          <a:xfrm>
            <a:off x="7260336" y="162763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6" name="Shape 144"/>
          <p:cNvSpPr/>
          <p:nvPr/>
        </p:nvSpPr>
        <p:spPr>
          <a:xfrm>
            <a:off x="7260336" y="213969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7" name="Shape 145"/>
          <p:cNvSpPr/>
          <p:nvPr/>
        </p:nvSpPr>
        <p:spPr>
          <a:xfrm>
            <a:off x="7260336" y="265176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8" name="Shape 146"/>
          <p:cNvSpPr/>
          <p:nvPr/>
        </p:nvSpPr>
        <p:spPr>
          <a:xfrm>
            <a:off x="7260336" y="316382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9" name="Shape 147"/>
          <p:cNvSpPr/>
          <p:nvPr/>
        </p:nvSpPr>
        <p:spPr>
          <a:xfrm>
            <a:off x="7260336" y="367588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0" name="Shape 148"/>
          <p:cNvSpPr/>
          <p:nvPr/>
        </p:nvSpPr>
        <p:spPr>
          <a:xfrm>
            <a:off x="7260336" y="418795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1" name="Shape 149"/>
          <p:cNvSpPr/>
          <p:nvPr/>
        </p:nvSpPr>
        <p:spPr>
          <a:xfrm>
            <a:off x="7260336" y="470001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2" name="Shape 150"/>
          <p:cNvSpPr/>
          <p:nvPr/>
        </p:nvSpPr>
        <p:spPr>
          <a:xfrm>
            <a:off x="7772400" y="9144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3" name="Shape 151"/>
          <p:cNvSpPr/>
          <p:nvPr/>
        </p:nvSpPr>
        <p:spPr>
          <a:xfrm>
            <a:off x="7772400" y="60350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4" name="Shape 152"/>
          <p:cNvSpPr/>
          <p:nvPr/>
        </p:nvSpPr>
        <p:spPr>
          <a:xfrm>
            <a:off x="7772400" y="111556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5" name="Shape 153"/>
          <p:cNvSpPr/>
          <p:nvPr/>
        </p:nvSpPr>
        <p:spPr>
          <a:xfrm>
            <a:off x="7772400" y="162763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6" name="Shape 154"/>
          <p:cNvSpPr/>
          <p:nvPr/>
        </p:nvSpPr>
        <p:spPr>
          <a:xfrm>
            <a:off x="7772400" y="213969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7" name="Shape 155"/>
          <p:cNvSpPr/>
          <p:nvPr/>
        </p:nvSpPr>
        <p:spPr>
          <a:xfrm>
            <a:off x="7772400" y="265176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8" name="Shape 156"/>
          <p:cNvSpPr/>
          <p:nvPr/>
        </p:nvSpPr>
        <p:spPr>
          <a:xfrm>
            <a:off x="7772400" y="316382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9" name="Shape 157"/>
          <p:cNvSpPr/>
          <p:nvPr/>
        </p:nvSpPr>
        <p:spPr>
          <a:xfrm>
            <a:off x="7772400" y="367588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0" name="Shape 158"/>
          <p:cNvSpPr/>
          <p:nvPr/>
        </p:nvSpPr>
        <p:spPr>
          <a:xfrm>
            <a:off x="7772400" y="418795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1" name="Shape 159"/>
          <p:cNvSpPr/>
          <p:nvPr/>
        </p:nvSpPr>
        <p:spPr>
          <a:xfrm>
            <a:off x="7772400" y="470001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2" name="Shape 160"/>
          <p:cNvSpPr/>
          <p:nvPr/>
        </p:nvSpPr>
        <p:spPr>
          <a:xfrm>
            <a:off x="8284464" y="9144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3" name="Shape 161"/>
          <p:cNvSpPr/>
          <p:nvPr/>
        </p:nvSpPr>
        <p:spPr>
          <a:xfrm>
            <a:off x="8284464" y="60350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4" name="Shape 162"/>
          <p:cNvSpPr/>
          <p:nvPr/>
        </p:nvSpPr>
        <p:spPr>
          <a:xfrm>
            <a:off x="8284464" y="111556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5" name="Shape 163"/>
          <p:cNvSpPr/>
          <p:nvPr/>
        </p:nvSpPr>
        <p:spPr>
          <a:xfrm>
            <a:off x="8284464" y="162763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6" name="Shape 164"/>
          <p:cNvSpPr/>
          <p:nvPr/>
        </p:nvSpPr>
        <p:spPr>
          <a:xfrm>
            <a:off x="8284464" y="213969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7" name="Shape 165"/>
          <p:cNvSpPr/>
          <p:nvPr/>
        </p:nvSpPr>
        <p:spPr>
          <a:xfrm>
            <a:off x="8284464" y="265176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8" name="Shape 166"/>
          <p:cNvSpPr/>
          <p:nvPr/>
        </p:nvSpPr>
        <p:spPr>
          <a:xfrm>
            <a:off x="8284464" y="316382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9" name="Shape 167"/>
          <p:cNvSpPr/>
          <p:nvPr/>
        </p:nvSpPr>
        <p:spPr>
          <a:xfrm>
            <a:off x="8284464" y="367588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0" name="Shape 168"/>
          <p:cNvSpPr/>
          <p:nvPr/>
        </p:nvSpPr>
        <p:spPr>
          <a:xfrm>
            <a:off x="8284464" y="418795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1" name="Shape 169"/>
          <p:cNvSpPr/>
          <p:nvPr/>
        </p:nvSpPr>
        <p:spPr>
          <a:xfrm>
            <a:off x="8284464" y="470001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2" name="Shape 170"/>
          <p:cNvSpPr/>
          <p:nvPr/>
        </p:nvSpPr>
        <p:spPr>
          <a:xfrm>
            <a:off x="8796528" y="9144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3" name="Shape 171"/>
          <p:cNvSpPr/>
          <p:nvPr/>
        </p:nvSpPr>
        <p:spPr>
          <a:xfrm>
            <a:off x="8796528" y="60350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4" name="Shape 172"/>
          <p:cNvSpPr/>
          <p:nvPr/>
        </p:nvSpPr>
        <p:spPr>
          <a:xfrm>
            <a:off x="8796528" y="111556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5" name="Shape 173"/>
          <p:cNvSpPr/>
          <p:nvPr/>
        </p:nvSpPr>
        <p:spPr>
          <a:xfrm>
            <a:off x="8796528" y="162763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6" name="Shape 174"/>
          <p:cNvSpPr/>
          <p:nvPr/>
        </p:nvSpPr>
        <p:spPr>
          <a:xfrm>
            <a:off x="8796528" y="213969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7" name="Shape 175"/>
          <p:cNvSpPr/>
          <p:nvPr/>
        </p:nvSpPr>
        <p:spPr>
          <a:xfrm>
            <a:off x="8796528" y="265176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8" name="Shape 176"/>
          <p:cNvSpPr/>
          <p:nvPr/>
        </p:nvSpPr>
        <p:spPr>
          <a:xfrm>
            <a:off x="8796528" y="316382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9" name="Shape 177"/>
          <p:cNvSpPr/>
          <p:nvPr/>
        </p:nvSpPr>
        <p:spPr>
          <a:xfrm>
            <a:off x="8796528" y="367588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0" name="Shape 178"/>
          <p:cNvSpPr/>
          <p:nvPr/>
        </p:nvSpPr>
        <p:spPr>
          <a:xfrm>
            <a:off x="8796528" y="418795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1" name="Shape 179"/>
          <p:cNvSpPr/>
          <p:nvPr/>
        </p:nvSpPr>
        <p:spPr>
          <a:xfrm>
            <a:off x="8796528" y="470001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2" name="Shape 180"/>
          <p:cNvSpPr/>
          <p:nvPr/>
        </p:nvSpPr>
        <p:spPr>
          <a:xfrm>
            <a:off x="0" y="0"/>
            <a:ext cx="5486400" cy="5143500"/>
          </a:xfrm>
          <a:prstGeom prst="rect">
            <a:avLst/>
          </a:prstGeom>
          <a:solidFill>
            <a:srgbClr val="10141C"/>
          </a:solidFill>
          <a:ln w="12700">
            <a:solidFill>
              <a:srgbClr val="10141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3" name="Shape 181"/>
          <p:cNvSpPr/>
          <p:nvPr/>
        </p:nvSpPr>
        <p:spPr>
          <a:xfrm>
            <a:off x="457200" y="594360"/>
            <a:ext cx="41148" cy="3931920"/>
          </a:xfrm>
          <a:prstGeom prst="rect">
            <a:avLst/>
          </a:prstGeom>
          <a:solidFill>
            <a:srgbClr val="B8975A"/>
          </a:solidFill>
          <a:ln w="12700">
            <a:solidFill>
              <a:srgbClr val="B8975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4" name="Text 182"/>
          <p:cNvSpPr/>
          <p:nvPr/>
        </p:nvSpPr>
        <p:spPr>
          <a:xfrm>
            <a:off x="640080" y="59436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250" dirty="0">
                <a:solidFill>
                  <a:srgbClr val="8C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WORLD ASSET TOKENIZATION</a:t>
            </a:r>
            <a:endParaRPr lang="en-US" sz="750" dirty="0"/>
          </a:p>
        </p:txBody>
      </p:sp>
      <p:sp>
        <p:nvSpPr>
          <p:cNvPr id="185" name="Text 183"/>
          <p:cNvSpPr/>
          <p:nvPr/>
        </p:nvSpPr>
        <p:spPr>
          <a:xfrm>
            <a:off x="640080" y="91440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RWA Experts</a:t>
            </a:r>
            <a:endParaRPr lang="en-US" sz="5200" dirty="0"/>
          </a:p>
        </p:txBody>
      </p:sp>
      <p:sp>
        <p:nvSpPr>
          <p:cNvPr id="186" name="Text 184"/>
          <p:cNvSpPr/>
          <p:nvPr/>
        </p:nvSpPr>
        <p:spPr>
          <a:xfrm>
            <a:off x="640080" y="1810512"/>
            <a:ext cx="4663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B897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Bring World Wealth to Blockchain</a:t>
            </a:r>
            <a:endParaRPr lang="en-US" sz="1800" dirty="0"/>
          </a:p>
        </p:txBody>
      </p:sp>
      <p:sp>
        <p:nvSpPr>
          <p:cNvPr id="187" name="Shape 185"/>
          <p:cNvSpPr/>
          <p:nvPr/>
        </p:nvSpPr>
        <p:spPr>
          <a:xfrm>
            <a:off x="640080" y="2359152"/>
            <a:ext cx="2377440" cy="27432"/>
          </a:xfrm>
          <a:prstGeom prst="rect">
            <a:avLst/>
          </a:prstGeom>
          <a:solidFill>
            <a:srgbClr val="B8975A">
              <a:alpha val="55000"/>
            </a:srgbClr>
          </a:solidFill>
          <a:ln w="12700">
            <a:solidFill>
              <a:srgbClr val="B8975A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8" name="Text 186"/>
          <p:cNvSpPr/>
          <p:nvPr/>
        </p:nvSpPr>
        <p:spPr>
          <a:xfrm>
            <a:off x="640080" y="2523744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8000"/>
              </a:lnSpc>
              <a:buNone/>
            </a:pPr>
            <a:r>
              <a:rPr lang="en-US" sz="1250" dirty="0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if launching a tokenized real estate fund</a:t>
            </a:r>
            <a:endParaRPr lang="en-US" sz="1250" dirty="0"/>
          </a:p>
          <a:p>
            <a:pPr marL="0" indent="0">
              <a:lnSpc>
                <a:spcPct val="138000"/>
              </a:lnSpc>
              <a:buNone/>
            </a:pPr>
            <a:r>
              <a:rPr lang="en-US" sz="1250" dirty="0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$750 instead of $50,000—and took</a:t>
            </a:r>
            <a:endParaRPr lang="en-US" sz="1250" dirty="0"/>
          </a:p>
          <a:p>
            <a:pPr marL="0" indent="0">
              <a:lnSpc>
                <a:spcPct val="138000"/>
              </a:lnSpc>
              <a:buNone/>
            </a:pPr>
            <a:r>
              <a:rPr lang="en-US" sz="1250" dirty="0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hours instead of 6 months?</a:t>
            </a:r>
            <a:endParaRPr lang="en-US" sz="1250" dirty="0"/>
          </a:p>
        </p:txBody>
      </p:sp>
      <p:sp>
        <p:nvSpPr>
          <p:cNvPr id="189" name="Shape 187"/>
          <p:cNvSpPr/>
          <p:nvPr/>
        </p:nvSpPr>
        <p:spPr>
          <a:xfrm>
            <a:off x="640080" y="3913632"/>
            <a:ext cx="1417320" cy="804672"/>
          </a:xfrm>
          <a:prstGeom prst="rect">
            <a:avLst/>
          </a:prstGeom>
          <a:solidFill>
            <a:srgbClr val="181D27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0" name="Shape 188"/>
          <p:cNvSpPr/>
          <p:nvPr/>
        </p:nvSpPr>
        <p:spPr>
          <a:xfrm>
            <a:off x="640080" y="3913632"/>
            <a:ext cx="1417320" cy="36576"/>
          </a:xfrm>
          <a:prstGeom prst="rect">
            <a:avLst/>
          </a:prstGeom>
          <a:solidFill>
            <a:srgbClr val="B8975A"/>
          </a:solidFill>
          <a:ln w="12700">
            <a:solidFill>
              <a:srgbClr val="B8975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1" name="Text 189"/>
          <p:cNvSpPr/>
          <p:nvPr/>
        </p:nvSpPr>
        <p:spPr>
          <a:xfrm>
            <a:off x="640080" y="3968496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$280T</a:t>
            </a:r>
            <a:endParaRPr lang="en-US" sz="2000" dirty="0"/>
          </a:p>
        </p:txBody>
      </p:sp>
      <p:sp>
        <p:nvSpPr>
          <p:cNvPr id="192" name="Text 190"/>
          <p:cNvSpPr/>
          <p:nvPr/>
        </p:nvSpPr>
        <p:spPr>
          <a:xfrm>
            <a:off x="640080" y="438912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C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800" dirty="0"/>
          </a:p>
        </p:txBody>
      </p:sp>
      <p:sp>
        <p:nvSpPr>
          <p:cNvPr id="193" name="Shape 191"/>
          <p:cNvSpPr/>
          <p:nvPr/>
        </p:nvSpPr>
        <p:spPr>
          <a:xfrm>
            <a:off x="2212848" y="3913632"/>
            <a:ext cx="1417320" cy="804672"/>
          </a:xfrm>
          <a:prstGeom prst="rect">
            <a:avLst/>
          </a:prstGeom>
          <a:solidFill>
            <a:srgbClr val="181D27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4" name="Shape 192"/>
          <p:cNvSpPr/>
          <p:nvPr/>
        </p:nvSpPr>
        <p:spPr>
          <a:xfrm>
            <a:off x="2212848" y="3913632"/>
            <a:ext cx="1417320" cy="36576"/>
          </a:xfrm>
          <a:prstGeom prst="rect">
            <a:avLst/>
          </a:prstGeom>
          <a:solidFill>
            <a:srgbClr val="B8975A"/>
          </a:solidFill>
          <a:ln w="12700">
            <a:solidFill>
              <a:srgbClr val="B8975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5" name="Text 193"/>
          <p:cNvSpPr/>
          <p:nvPr/>
        </p:nvSpPr>
        <p:spPr>
          <a:xfrm>
            <a:off x="2212848" y="3968496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$750</a:t>
            </a:r>
            <a:endParaRPr lang="en-US" sz="2000" dirty="0"/>
          </a:p>
        </p:txBody>
      </p:sp>
      <p:sp>
        <p:nvSpPr>
          <p:cNvPr id="196" name="Text 194"/>
          <p:cNvSpPr/>
          <p:nvPr/>
        </p:nvSpPr>
        <p:spPr>
          <a:xfrm>
            <a:off x="2212848" y="438912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C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Cost</a:t>
            </a:r>
            <a:endParaRPr lang="en-US" sz="800" dirty="0"/>
          </a:p>
        </p:txBody>
      </p:sp>
      <p:sp>
        <p:nvSpPr>
          <p:cNvPr id="197" name="Shape 195"/>
          <p:cNvSpPr/>
          <p:nvPr/>
        </p:nvSpPr>
        <p:spPr>
          <a:xfrm>
            <a:off x="3785616" y="3913632"/>
            <a:ext cx="1417320" cy="804672"/>
          </a:xfrm>
          <a:prstGeom prst="rect">
            <a:avLst/>
          </a:prstGeom>
          <a:solidFill>
            <a:srgbClr val="181D27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8" name="Shape 196"/>
          <p:cNvSpPr/>
          <p:nvPr/>
        </p:nvSpPr>
        <p:spPr>
          <a:xfrm>
            <a:off x="3785616" y="3913632"/>
            <a:ext cx="1417320" cy="36576"/>
          </a:xfrm>
          <a:prstGeom prst="rect">
            <a:avLst/>
          </a:prstGeom>
          <a:solidFill>
            <a:srgbClr val="B8975A"/>
          </a:solidFill>
          <a:ln w="12700">
            <a:solidFill>
              <a:srgbClr val="B8975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9" name="Text 197"/>
          <p:cNvSpPr/>
          <p:nvPr/>
        </p:nvSpPr>
        <p:spPr>
          <a:xfrm>
            <a:off x="3785616" y="3968496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 hrs</a:t>
            </a:r>
            <a:endParaRPr lang="en-US" sz="2000" dirty="0"/>
          </a:p>
        </p:txBody>
      </p:sp>
      <p:sp>
        <p:nvSpPr>
          <p:cNvPr id="200" name="Text 198"/>
          <p:cNvSpPr/>
          <p:nvPr/>
        </p:nvSpPr>
        <p:spPr>
          <a:xfrm>
            <a:off x="3785616" y="438912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C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Market</a:t>
            </a:r>
            <a:endParaRPr lang="en-US" sz="800" dirty="0"/>
          </a:p>
        </p:txBody>
      </p:sp>
      <p:sp>
        <p:nvSpPr>
          <p:cNvPr id="201" name="Shape 199"/>
          <p:cNvSpPr/>
          <p:nvPr/>
        </p:nvSpPr>
        <p:spPr>
          <a:xfrm>
            <a:off x="5486400" y="0"/>
            <a:ext cx="3657600" cy="5143500"/>
          </a:xfrm>
          <a:prstGeom prst="rect">
            <a:avLst/>
          </a:prstGeom>
          <a:solidFill>
            <a:srgbClr val="181D27"/>
          </a:solidFill>
          <a:ln w="12700">
            <a:solidFill>
              <a:srgbClr val="181D2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2" name="Shape 200"/>
          <p:cNvSpPr/>
          <p:nvPr/>
        </p:nvSpPr>
        <p:spPr>
          <a:xfrm>
            <a:off x="5486400" y="0"/>
            <a:ext cx="36576" cy="5143500"/>
          </a:xfrm>
          <a:prstGeom prst="rect">
            <a:avLst/>
          </a:prstGeom>
          <a:solidFill>
            <a:srgbClr val="2A3245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3" name="Text 201"/>
          <p:cNvSpPr/>
          <p:nvPr/>
        </p:nvSpPr>
        <p:spPr>
          <a:xfrm>
            <a:off x="5669280" y="5029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250" dirty="0">
                <a:solidFill>
                  <a:srgbClr val="525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 ROUND</a:t>
            </a:r>
            <a:endParaRPr lang="en-US" sz="750" dirty="0"/>
          </a:p>
        </p:txBody>
      </p:sp>
      <p:sp>
        <p:nvSpPr>
          <p:cNvPr id="204" name="Text 202"/>
          <p:cNvSpPr/>
          <p:nvPr/>
        </p:nvSpPr>
        <p:spPr>
          <a:xfrm>
            <a:off x="5669280" y="768096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B897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$400,000</a:t>
            </a:r>
            <a:endParaRPr lang="en-US" sz="4600" dirty="0"/>
          </a:p>
        </p:txBody>
      </p:sp>
      <p:sp>
        <p:nvSpPr>
          <p:cNvPr id="205" name="Text 203"/>
          <p:cNvSpPr/>
          <p:nvPr/>
        </p:nvSpPr>
        <p:spPr>
          <a:xfrm>
            <a:off x="5669280" y="149961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C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$2.7M valuation · 15% equity</a:t>
            </a:r>
            <a:endParaRPr lang="en-US" sz="1000" dirty="0"/>
          </a:p>
        </p:txBody>
      </p:sp>
      <p:sp>
        <p:nvSpPr>
          <p:cNvPr id="206" name="Shape 204"/>
          <p:cNvSpPr/>
          <p:nvPr/>
        </p:nvSpPr>
        <p:spPr>
          <a:xfrm>
            <a:off x="6035040" y="1865376"/>
            <a:ext cx="2560320" cy="27432"/>
          </a:xfrm>
          <a:prstGeom prst="rect">
            <a:avLst/>
          </a:prstGeom>
          <a:solidFill>
            <a:srgbClr val="2A3245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7" name="Text 205"/>
          <p:cNvSpPr/>
          <p:nvPr/>
        </p:nvSpPr>
        <p:spPr>
          <a:xfrm>
            <a:off x="5669280" y="1975104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250" dirty="0">
                <a:solidFill>
                  <a:srgbClr val="525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OF FUNDS</a:t>
            </a:r>
            <a:endParaRPr lang="en-US" sz="700" dirty="0"/>
          </a:p>
        </p:txBody>
      </p:sp>
      <p:sp>
        <p:nvSpPr>
          <p:cNvPr id="208" name="Shape 206"/>
          <p:cNvSpPr/>
          <p:nvPr/>
        </p:nvSpPr>
        <p:spPr>
          <a:xfrm>
            <a:off x="5715000" y="2231136"/>
            <a:ext cx="2834640" cy="256032"/>
          </a:xfrm>
          <a:prstGeom prst="rect">
            <a:avLst/>
          </a:prstGeom>
          <a:solidFill>
            <a:srgbClr val="1F2535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9" name="Shape 207"/>
          <p:cNvSpPr/>
          <p:nvPr/>
        </p:nvSpPr>
        <p:spPr>
          <a:xfrm>
            <a:off x="5715000" y="2231136"/>
            <a:ext cx="1133856" cy="256032"/>
          </a:xfrm>
          <a:prstGeom prst="rect">
            <a:avLst/>
          </a:prstGeom>
          <a:solidFill>
            <a:srgbClr val="B8975A">
              <a:alpha val="40000"/>
            </a:srgbClr>
          </a:solidFill>
          <a:ln w="12700">
            <a:solidFill>
              <a:srgbClr val="B8975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0" name="Text 208"/>
          <p:cNvSpPr/>
          <p:nvPr/>
        </p:nvSpPr>
        <p:spPr>
          <a:xfrm>
            <a:off x="5742432" y="223113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B897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40%</a:t>
            </a:r>
            <a:endParaRPr lang="en-US" sz="950" dirty="0"/>
          </a:p>
        </p:txBody>
      </p:sp>
      <p:sp>
        <p:nvSpPr>
          <p:cNvPr id="211" name="Text 209"/>
          <p:cNvSpPr/>
          <p:nvPr/>
        </p:nvSpPr>
        <p:spPr>
          <a:xfrm>
            <a:off x="6236208" y="223113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</a:t>
            </a:r>
            <a:endParaRPr lang="en-US" sz="900" dirty="0"/>
          </a:p>
        </p:txBody>
      </p:sp>
      <p:sp>
        <p:nvSpPr>
          <p:cNvPr id="212" name="Text 210"/>
          <p:cNvSpPr/>
          <p:nvPr/>
        </p:nvSpPr>
        <p:spPr>
          <a:xfrm>
            <a:off x="8229600" y="2231136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C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$160K</a:t>
            </a:r>
            <a:endParaRPr lang="en-US" sz="900" dirty="0"/>
          </a:p>
        </p:txBody>
      </p:sp>
      <p:sp>
        <p:nvSpPr>
          <p:cNvPr id="213" name="Shape 211"/>
          <p:cNvSpPr/>
          <p:nvPr/>
        </p:nvSpPr>
        <p:spPr>
          <a:xfrm>
            <a:off x="5715000" y="2889504"/>
            <a:ext cx="2834640" cy="256032"/>
          </a:xfrm>
          <a:prstGeom prst="rect">
            <a:avLst/>
          </a:prstGeom>
          <a:solidFill>
            <a:srgbClr val="1F2535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4" name="Shape 212"/>
          <p:cNvSpPr/>
          <p:nvPr/>
        </p:nvSpPr>
        <p:spPr>
          <a:xfrm>
            <a:off x="5715000" y="2889504"/>
            <a:ext cx="708660" cy="256032"/>
          </a:xfrm>
          <a:prstGeom prst="rect">
            <a:avLst/>
          </a:prstGeom>
          <a:solidFill>
            <a:srgbClr val="B8975A">
              <a:alpha val="40000"/>
            </a:srgbClr>
          </a:solidFill>
          <a:ln w="12700">
            <a:solidFill>
              <a:srgbClr val="B8975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5" name="Text 213"/>
          <p:cNvSpPr/>
          <p:nvPr/>
        </p:nvSpPr>
        <p:spPr>
          <a:xfrm>
            <a:off x="5742432" y="28895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B897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950" dirty="0"/>
          </a:p>
        </p:txBody>
      </p:sp>
      <p:sp>
        <p:nvSpPr>
          <p:cNvPr id="216" name="Text 214"/>
          <p:cNvSpPr/>
          <p:nvPr/>
        </p:nvSpPr>
        <p:spPr>
          <a:xfrm>
            <a:off x="6236208" y="288950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&amp; Compliance</a:t>
            </a:r>
            <a:endParaRPr lang="en-US" sz="900" dirty="0"/>
          </a:p>
        </p:txBody>
      </p:sp>
      <p:sp>
        <p:nvSpPr>
          <p:cNvPr id="217" name="Text 215"/>
          <p:cNvSpPr/>
          <p:nvPr/>
        </p:nvSpPr>
        <p:spPr>
          <a:xfrm>
            <a:off x="8229600" y="2889504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C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$100K</a:t>
            </a:r>
            <a:endParaRPr lang="en-US" sz="900" dirty="0"/>
          </a:p>
        </p:txBody>
      </p:sp>
      <p:sp>
        <p:nvSpPr>
          <p:cNvPr id="218" name="Shape 216"/>
          <p:cNvSpPr/>
          <p:nvPr/>
        </p:nvSpPr>
        <p:spPr>
          <a:xfrm>
            <a:off x="5715000" y="3547872"/>
            <a:ext cx="2834640" cy="256032"/>
          </a:xfrm>
          <a:prstGeom prst="rect">
            <a:avLst/>
          </a:prstGeom>
          <a:solidFill>
            <a:srgbClr val="1F2535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9" name="Shape 217"/>
          <p:cNvSpPr/>
          <p:nvPr/>
        </p:nvSpPr>
        <p:spPr>
          <a:xfrm>
            <a:off x="5715000" y="3547872"/>
            <a:ext cx="566928" cy="256032"/>
          </a:xfrm>
          <a:prstGeom prst="rect">
            <a:avLst/>
          </a:prstGeom>
          <a:solidFill>
            <a:srgbClr val="B8975A">
              <a:alpha val="40000"/>
            </a:srgbClr>
          </a:solidFill>
          <a:ln w="12700">
            <a:solidFill>
              <a:srgbClr val="B8975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0" name="Text 218"/>
          <p:cNvSpPr/>
          <p:nvPr/>
        </p:nvSpPr>
        <p:spPr>
          <a:xfrm>
            <a:off x="5742432" y="354787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B897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950" dirty="0"/>
          </a:p>
        </p:txBody>
      </p:sp>
      <p:sp>
        <p:nvSpPr>
          <p:cNvPr id="221" name="Text 219"/>
          <p:cNvSpPr/>
          <p:nvPr/>
        </p:nvSpPr>
        <p:spPr>
          <a:xfrm>
            <a:off x="6236208" y="35478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Audit</a:t>
            </a:r>
            <a:endParaRPr lang="en-US" sz="900" dirty="0"/>
          </a:p>
        </p:txBody>
      </p:sp>
      <p:sp>
        <p:nvSpPr>
          <p:cNvPr id="222" name="Text 220"/>
          <p:cNvSpPr/>
          <p:nvPr/>
        </p:nvSpPr>
        <p:spPr>
          <a:xfrm>
            <a:off x="8229600" y="3547872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C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$80K</a:t>
            </a:r>
            <a:endParaRPr lang="en-US" sz="900" dirty="0"/>
          </a:p>
        </p:txBody>
      </p:sp>
      <p:sp>
        <p:nvSpPr>
          <p:cNvPr id="223" name="Shape 221"/>
          <p:cNvSpPr/>
          <p:nvPr/>
        </p:nvSpPr>
        <p:spPr>
          <a:xfrm>
            <a:off x="5715000" y="4206240"/>
            <a:ext cx="2834640" cy="256032"/>
          </a:xfrm>
          <a:prstGeom prst="rect">
            <a:avLst/>
          </a:prstGeom>
          <a:solidFill>
            <a:srgbClr val="1F2535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4" name="Shape 222"/>
          <p:cNvSpPr/>
          <p:nvPr/>
        </p:nvSpPr>
        <p:spPr>
          <a:xfrm>
            <a:off x="5715000" y="4206240"/>
            <a:ext cx="425196" cy="256032"/>
          </a:xfrm>
          <a:prstGeom prst="rect">
            <a:avLst/>
          </a:prstGeom>
          <a:solidFill>
            <a:srgbClr val="B8975A">
              <a:alpha val="40000"/>
            </a:srgbClr>
          </a:solidFill>
          <a:ln w="12700">
            <a:solidFill>
              <a:srgbClr val="B8975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5" name="Text 223"/>
          <p:cNvSpPr/>
          <p:nvPr/>
        </p:nvSpPr>
        <p:spPr>
          <a:xfrm>
            <a:off x="5742432" y="420624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B897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15%</a:t>
            </a:r>
            <a:endParaRPr lang="en-US" sz="950" dirty="0"/>
          </a:p>
        </p:txBody>
      </p:sp>
      <p:sp>
        <p:nvSpPr>
          <p:cNvPr id="226" name="Text 224"/>
          <p:cNvSpPr/>
          <p:nvPr/>
        </p:nvSpPr>
        <p:spPr>
          <a:xfrm>
            <a:off x="6236208" y="420624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&amp; GTM</a:t>
            </a:r>
            <a:endParaRPr lang="en-US" sz="900" dirty="0"/>
          </a:p>
        </p:txBody>
      </p:sp>
      <p:sp>
        <p:nvSpPr>
          <p:cNvPr id="227" name="Text 225"/>
          <p:cNvSpPr/>
          <p:nvPr/>
        </p:nvSpPr>
        <p:spPr>
          <a:xfrm>
            <a:off x="8229600" y="4206240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C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$60K</a:t>
            </a:r>
            <a:endParaRPr lang="en-US" sz="900" dirty="0"/>
          </a:p>
        </p:txBody>
      </p:sp>
      <p:sp>
        <p:nvSpPr>
          <p:cNvPr id="228" name="Shape 226"/>
          <p:cNvSpPr/>
          <p:nvPr/>
        </p:nvSpPr>
        <p:spPr>
          <a:xfrm>
            <a:off x="6035040" y="4901184"/>
            <a:ext cx="2560320" cy="27432"/>
          </a:xfrm>
          <a:prstGeom prst="rect">
            <a:avLst/>
          </a:prstGeom>
          <a:solidFill>
            <a:srgbClr val="2A3245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9" name="Text 227"/>
          <p:cNvSpPr/>
          <p:nvPr/>
        </p:nvSpPr>
        <p:spPr>
          <a:xfrm>
            <a:off x="5687568" y="4956048"/>
            <a:ext cx="32552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C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  $400K  @$2.7M   ·   Seed  $600K  @$6M   ·   Pre-Sale  $1M  @$10M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14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81D27"/>
          </a:solidFill>
          <a:ln w="12700">
            <a:solidFill>
              <a:srgbClr val="181D2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0292" cy="713232"/>
          </a:xfrm>
          <a:prstGeom prst="rect">
            <a:avLst/>
          </a:prstGeom>
          <a:solidFill>
            <a:srgbClr val="B8975A"/>
          </a:solidFill>
          <a:ln w="12700">
            <a:solidFill>
              <a:srgbClr val="B8975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182880" y="9144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300" dirty="0">
                <a:solidFill>
                  <a:srgbClr val="525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&amp; SOLUTION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182880" y="27432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$280 Trillion Locked Away — and How We Unlock It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01168" y="82296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250" dirty="0">
                <a:solidFill>
                  <a:srgbClr val="525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201168" y="1042416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525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2322576" y="1042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B89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RWA Experts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01168" y="1243584"/>
            <a:ext cx="2057400" cy="603504"/>
          </a:xfrm>
          <a:prstGeom prst="rect">
            <a:avLst/>
          </a:prstGeom>
          <a:solidFill>
            <a:srgbClr val="181D27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201168" y="1243584"/>
            <a:ext cx="36576" cy="603504"/>
          </a:xfrm>
          <a:prstGeom prst="rect">
            <a:avLst/>
          </a:prstGeom>
          <a:solidFill>
            <a:srgbClr val="525C6E"/>
          </a:solidFill>
          <a:ln w="12700">
            <a:solidFill>
              <a:srgbClr val="525C6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292608" y="1335024"/>
            <a:ext cx="1901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8C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$100K–$1M minimums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258568" y="1517904"/>
            <a:ext cx="219456" cy="0"/>
          </a:xfrm>
          <a:prstGeom prst="line">
            <a:avLst/>
          </a:prstGeom>
          <a:noFill/>
          <a:ln w="15240">
            <a:solidFill>
              <a:srgbClr val="B8975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2496312" y="1243584"/>
            <a:ext cx="2057400" cy="603504"/>
          </a:xfrm>
          <a:prstGeom prst="rect">
            <a:avLst/>
          </a:prstGeom>
          <a:solidFill>
            <a:srgbClr val="1F2535"/>
          </a:solidFill>
          <a:ln w="12700">
            <a:solidFill>
              <a:srgbClr val="B8975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2496312" y="1243584"/>
            <a:ext cx="36576" cy="603504"/>
          </a:xfrm>
          <a:prstGeom prst="rect">
            <a:avLst/>
          </a:prstGeom>
          <a:solidFill>
            <a:srgbClr val="B8975A"/>
          </a:solidFill>
          <a:ln w="12700">
            <a:solidFill>
              <a:srgbClr val="B8975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2587752" y="1335024"/>
            <a:ext cx="1901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Invest from $100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01168" y="1956816"/>
            <a:ext cx="2057400" cy="603504"/>
          </a:xfrm>
          <a:prstGeom prst="rect">
            <a:avLst/>
          </a:prstGeom>
          <a:solidFill>
            <a:srgbClr val="181D27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201168" y="1956816"/>
            <a:ext cx="36576" cy="603504"/>
          </a:xfrm>
          <a:prstGeom prst="rect">
            <a:avLst/>
          </a:prstGeom>
          <a:solidFill>
            <a:srgbClr val="525C6E"/>
          </a:solidFill>
          <a:ln w="12700">
            <a:solidFill>
              <a:srgbClr val="525C6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292608" y="2048256"/>
            <a:ext cx="1901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8C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5–10 year lockups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258568" y="2231136"/>
            <a:ext cx="219456" cy="0"/>
          </a:xfrm>
          <a:prstGeom prst="line">
            <a:avLst/>
          </a:prstGeom>
          <a:noFill/>
          <a:ln w="15240">
            <a:solidFill>
              <a:srgbClr val="B8975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Shape 18"/>
          <p:cNvSpPr/>
          <p:nvPr/>
        </p:nvSpPr>
        <p:spPr>
          <a:xfrm>
            <a:off x="2496312" y="1956816"/>
            <a:ext cx="2057400" cy="603504"/>
          </a:xfrm>
          <a:prstGeom prst="rect">
            <a:avLst/>
          </a:prstGeom>
          <a:solidFill>
            <a:srgbClr val="1F2535"/>
          </a:solidFill>
          <a:ln w="12700">
            <a:solidFill>
              <a:srgbClr val="B8975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2496312" y="1956816"/>
            <a:ext cx="36576" cy="603504"/>
          </a:xfrm>
          <a:prstGeom prst="rect">
            <a:avLst/>
          </a:prstGeom>
          <a:solidFill>
            <a:srgbClr val="B8975A"/>
          </a:solidFill>
          <a:ln w="12700">
            <a:solidFill>
              <a:srgbClr val="B8975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2587752" y="2048256"/>
            <a:ext cx="1901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Trade 24/7, secondary market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01168" y="2670048"/>
            <a:ext cx="2057400" cy="603504"/>
          </a:xfrm>
          <a:prstGeom prst="rect">
            <a:avLst/>
          </a:prstGeom>
          <a:solidFill>
            <a:srgbClr val="181D27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Shape 22"/>
          <p:cNvSpPr/>
          <p:nvPr/>
        </p:nvSpPr>
        <p:spPr>
          <a:xfrm>
            <a:off x="201168" y="2670048"/>
            <a:ext cx="36576" cy="603504"/>
          </a:xfrm>
          <a:prstGeom prst="rect">
            <a:avLst/>
          </a:prstGeom>
          <a:solidFill>
            <a:srgbClr val="525C6E"/>
          </a:solidFill>
          <a:ln w="12700">
            <a:solidFill>
              <a:srgbClr val="525C6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292608" y="2761488"/>
            <a:ext cx="1901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8C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Geographic restrictions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258568" y="2944368"/>
            <a:ext cx="219456" cy="0"/>
          </a:xfrm>
          <a:prstGeom prst="line">
            <a:avLst/>
          </a:prstGeom>
          <a:noFill/>
          <a:ln w="15240">
            <a:solidFill>
              <a:srgbClr val="B8975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Shape 25"/>
          <p:cNvSpPr/>
          <p:nvPr/>
        </p:nvSpPr>
        <p:spPr>
          <a:xfrm>
            <a:off x="2496312" y="2670048"/>
            <a:ext cx="2057400" cy="603504"/>
          </a:xfrm>
          <a:prstGeom prst="rect">
            <a:avLst/>
          </a:prstGeom>
          <a:solidFill>
            <a:srgbClr val="1F2535"/>
          </a:solidFill>
          <a:ln w="12700">
            <a:solidFill>
              <a:srgbClr val="B8975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Shape 26"/>
          <p:cNvSpPr/>
          <p:nvPr/>
        </p:nvSpPr>
        <p:spPr>
          <a:xfrm>
            <a:off x="2496312" y="2670048"/>
            <a:ext cx="36576" cy="603504"/>
          </a:xfrm>
          <a:prstGeom prst="rect">
            <a:avLst/>
          </a:prstGeom>
          <a:solidFill>
            <a:srgbClr val="B8975A"/>
          </a:solidFill>
          <a:ln w="12700">
            <a:solidFill>
              <a:srgbClr val="B8975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2587752" y="2761488"/>
            <a:ext cx="1901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Multichain, global access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201168" y="3383280"/>
            <a:ext cx="2057400" cy="603504"/>
          </a:xfrm>
          <a:prstGeom prst="rect">
            <a:avLst/>
          </a:prstGeom>
          <a:solidFill>
            <a:srgbClr val="181D27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Shape 29"/>
          <p:cNvSpPr/>
          <p:nvPr/>
        </p:nvSpPr>
        <p:spPr>
          <a:xfrm>
            <a:off x="201168" y="3383280"/>
            <a:ext cx="36576" cy="603504"/>
          </a:xfrm>
          <a:prstGeom prst="rect">
            <a:avLst/>
          </a:prstGeom>
          <a:solidFill>
            <a:srgbClr val="525C6E"/>
          </a:solidFill>
          <a:ln w="12700">
            <a:solidFill>
              <a:srgbClr val="525C6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30"/>
          <p:cNvSpPr/>
          <p:nvPr/>
        </p:nvSpPr>
        <p:spPr>
          <a:xfrm>
            <a:off x="292608" y="3474720"/>
            <a:ext cx="1901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8C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Weeks to close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258568" y="3657600"/>
            <a:ext cx="219456" cy="0"/>
          </a:xfrm>
          <a:prstGeom prst="line">
            <a:avLst/>
          </a:prstGeom>
          <a:noFill/>
          <a:ln w="15240">
            <a:solidFill>
              <a:srgbClr val="B8975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Shape 32"/>
          <p:cNvSpPr/>
          <p:nvPr/>
        </p:nvSpPr>
        <p:spPr>
          <a:xfrm>
            <a:off x="2496312" y="3383280"/>
            <a:ext cx="2057400" cy="603504"/>
          </a:xfrm>
          <a:prstGeom prst="rect">
            <a:avLst/>
          </a:prstGeom>
          <a:solidFill>
            <a:srgbClr val="1F2535"/>
          </a:solidFill>
          <a:ln w="12700">
            <a:solidFill>
              <a:srgbClr val="B8975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Shape 33"/>
          <p:cNvSpPr/>
          <p:nvPr/>
        </p:nvSpPr>
        <p:spPr>
          <a:xfrm>
            <a:off x="2496312" y="3383280"/>
            <a:ext cx="36576" cy="603504"/>
          </a:xfrm>
          <a:prstGeom prst="rect">
            <a:avLst/>
          </a:prstGeom>
          <a:solidFill>
            <a:srgbClr val="B8975A"/>
          </a:solidFill>
          <a:ln w="12700">
            <a:solidFill>
              <a:srgbClr val="B8975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34"/>
          <p:cNvSpPr/>
          <p:nvPr/>
        </p:nvSpPr>
        <p:spPr>
          <a:xfrm>
            <a:off x="2587752" y="3474720"/>
            <a:ext cx="1901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On-chain, 48-hour settlement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201168" y="4096512"/>
            <a:ext cx="2057400" cy="603504"/>
          </a:xfrm>
          <a:prstGeom prst="rect">
            <a:avLst/>
          </a:prstGeom>
          <a:solidFill>
            <a:srgbClr val="181D27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Shape 36"/>
          <p:cNvSpPr/>
          <p:nvPr/>
        </p:nvSpPr>
        <p:spPr>
          <a:xfrm>
            <a:off x="201168" y="4096512"/>
            <a:ext cx="36576" cy="603504"/>
          </a:xfrm>
          <a:prstGeom prst="rect">
            <a:avLst/>
          </a:prstGeom>
          <a:solidFill>
            <a:srgbClr val="525C6E"/>
          </a:solidFill>
          <a:ln w="12700">
            <a:solidFill>
              <a:srgbClr val="525C6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Text 37"/>
          <p:cNvSpPr/>
          <p:nvPr/>
        </p:nvSpPr>
        <p:spPr>
          <a:xfrm>
            <a:off x="292608" y="4187952"/>
            <a:ext cx="1901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8C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Opaque processes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2258568" y="4370832"/>
            <a:ext cx="219456" cy="0"/>
          </a:xfrm>
          <a:prstGeom prst="line">
            <a:avLst/>
          </a:prstGeom>
          <a:noFill/>
          <a:ln w="15240">
            <a:solidFill>
              <a:srgbClr val="B8975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1" name="Shape 39"/>
          <p:cNvSpPr/>
          <p:nvPr/>
        </p:nvSpPr>
        <p:spPr>
          <a:xfrm>
            <a:off x="2496312" y="4096512"/>
            <a:ext cx="2057400" cy="603504"/>
          </a:xfrm>
          <a:prstGeom prst="rect">
            <a:avLst/>
          </a:prstGeom>
          <a:solidFill>
            <a:srgbClr val="1F2535"/>
          </a:solidFill>
          <a:ln w="12700">
            <a:solidFill>
              <a:srgbClr val="B8975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Shape 40"/>
          <p:cNvSpPr/>
          <p:nvPr/>
        </p:nvSpPr>
        <p:spPr>
          <a:xfrm>
            <a:off x="2496312" y="4096512"/>
            <a:ext cx="36576" cy="603504"/>
          </a:xfrm>
          <a:prstGeom prst="rect">
            <a:avLst/>
          </a:prstGeom>
          <a:solidFill>
            <a:srgbClr val="B8975A"/>
          </a:solidFill>
          <a:ln w="12700">
            <a:solidFill>
              <a:srgbClr val="B8975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3" name="Text 41"/>
          <p:cNvSpPr/>
          <p:nvPr/>
        </p:nvSpPr>
        <p:spPr>
          <a:xfrm>
            <a:off x="2587752" y="4187952"/>
            <a:ext cx="1901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Full transparency dashboard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846320" y="82296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250" dirty="0">
                <a:solidFill>
                  <a:srgbClr val="525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4846320" y="1042416"/>
            <a:ext cx="4133088" cy="1170432"/>
          </a:xfrm>
          <a:prstGeom prst="rect">
            <a:avLst/>
          </a:prstGeom>
          <a:solidFill>
            <a:srgbClr val="181D27"/>
          </a:solidFill>
          <a:ln w="12700">
            <a:solidFill>
              <a:srgbClr val="2A3245"/>
            </a:solidFill>
            <a:prstDash val="solid"/>
          </a:ln>
          <a:effectLst>
            <a:outerShdw blurRad="152400" dist="50800" dir="87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6" name="Shape 44"/>
          <p:cNvSpPr/>
          <p:nvPr/>
        </p:nvSpPr>
        <p:spPr>
          <a:xfrm>
            <a:off x="4846320" y="1042416"/>
            <a:ext cx="36576" cy="1170432"/>
          </a:xfrm>
          <a:prstGeom prst="rect">
            <a:avLst/>
          </a:prstGeom>
          <a:solidFill>
            <a:srgbClr val="B8975A"/>
          </a:solidFill>
          <a:ln w="12700">
            <a:solidFill>
              <a:srgbClr val="B8975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7" name="Text 45"/>
          <p:cNvSpPr/>
          <p:nvPr/>
        </p:nvSpPr>
        <p:spPr>
          <a:xfrm>
            <a:off x="4992624" y="113385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B897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48" name="Text 46"/>
          <p:cNvSpPr/>
          <p:nvPr/>
        </p:nvSpPr>
        <p:spPr>
          <a:xfrm>
            <a:off x="5559552" y="1133856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Crowd Fund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5559552" y="1517904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C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Crowdfund tokenized projects with escrow &amp; automated compliance.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4846320" y="2340864"/>
            <a:ext cx="4133088" cy="1170432"/>
          </a:xfrm>
          <a:prstGeom prst="rect">
            <a:avLst/>
          </a:prstGeom>
          <a:solidFill>
            <a:srgbClr val="181D27"/>
          </a:solidFill>
          <a:ln w="12700">
            <a:solidFill>
              <a:srgbClr val="2A3245"/>
            </a:solidFill>
            <a:prstDash val="solid"/>
          </a:ln>
          <a:effectLst>
            <a:outerShdw blurRad="152400" dist="50800" dir="87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1" name="Shape 49"/>
          <p:cNvSpPr/>
          <p:nvPr/>
        </p:nvSpPr>
        <p:spPr>
          <a:xfrm>
            <a:off x="4846320" y="2340864"/>
            <a:ext cx="36576" cy="1170432"/>
          </a:xfrm>
          <a:prstGeom prst="rect">
            <a:avLst/>
          </a:prstGeom>
          <a:solidFill>
            <a:srgbClr val="B8975A"/>
          </a:solidFill>
          <a:ln w="12700">
            <a:solidFill>
              <a:srgbClr val="B8975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2" name="Text 50"/>
          <p:cNvSpPr/>
          <p:nvPr/>
        </p:nvSpPr>
        <p:spPr>
          <a:xfrm>
            <a:off x="4992624" y="24323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B897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53" name="Text 51"/>
          <p:cNvSpPr/>
          <p:nvPr/>
        </p:nvSpPr>
        <p:spPr>
          <a:xfrm>
            <a:off x="5559552" y="2432304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Tokenize</a:t>
            </a:r>
            <a:endParaRPr lang="en-US" sz="1500" dirty="0"/>
          </a:p>
        </p:txBody>
      </p:sp>
      <p:sp>
        <p:nvSpPr>
          <p:cNvPr id="54" name="Text 52"/>
          <p:cNvSpPr/>
          <p:nvPr/>
        </p:nvSpPr>
        <p:spPr>
          <a:xfrm>
            <a:off x="5559552" y="2816352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C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 ERC-3643 token minting in 48 hours — $750 flat.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846320" y="3639312"/>
            <a:ext cx="4133088" cy="1170432"/>
          </a:xfrm>
          <a:prstGeom prst="rect">
            <a:avLst/>
          </a:prstGeom>
          <a:solidFill>
            <a:srgbClr val="181D27"/>
          </a:solidFill>
          <a:ln w="12700">
            <a:solidFill>
              <a:srgbClr val="2A3245"/>
            </a:solidFill>
            <a:prstDash val="solid"/>
          </a:ln>
          <a:effectLst>
            <a:outerShdw blurRad="152400" dist="50800" dir="87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6" name="Shape 54"/>
          <p:cNvSpPr/>
          <p:nvPr/>
        </p:nvSpPr>
        <p:spPr>
          <a:xfrm>
            <a:off x="4846320" y="3639312"/>
            <a:ext cx="36576" cy="1170432"/>
          </a:xfrm>
          <a:prstGeom prst="rect">
            <a:avLst/>
          </a:prstGeom>
          <a:solidFill>
            <a:srgbClr val="B8975A"/>
          </a:solidFill>
          <a:ln w="12700">
            <a:solidFill>
              <a:srgbClr val="B8975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7" name="Text 55"/>
          <p:cNvSpPr/>
          <p:nvPr/>
        </p:nvSpPr>
        <p:spPr>
          <a:xfrm>
            <a:off x="4992624" y="373075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B897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58" name="Text 56"/>
          <p:cNvSpPr/>
          <p:nvPr/>
        </p:nvSpPr>
        <p:spPr>
          <a:xfrm>
            <a:off x="5559552" y="373075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Trade</a:t>
            </a:r>
            <a:endParaRPr lang="en-US" sz="1500" dirty="0"/>
          </a:p>
        </p:txBody>
      </p:sp>
      <p:sp>
        <p:nvSpPr>
          <p:cNvPr id="59" name="Text 57"/>
          <p:cNvSpPr/>
          <p:nvPr/>
        </p:nvSpPr>
        <p:spPr>
          <a:xfrm>
            <a:off x="5559552" y="4114800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C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24/7 P2P exchange with built-in escrow and dividend automation.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4645152" y="804672"/>
            <a:ext cx="0" cy="4206240"/>
          </a:xfrm>
          <a:prstGeom prst="line">
            <a:avLst/>
          </a:prstGeom>
          <a:noFill/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4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81D27"/>
          </a:solidFill>
          <a:ln w="12700">
            <a:solidFill>
              <a:srgbClr val="181D2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0292" cy="713232"/>
          </a:xfrm>
          <a:prstGeom prst="rect">
            <a:avLst/>
          </a:prstGeom>
          <a:solidFill>
            <a:srgbClr val="B8975A"/>
          </a:solidFill>
          <a:ln w="12700">
            <a:solidFill>
              <a:srgbClr val="B8975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182880" y="9144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300" dirty="0">
                <a:solidFill>
                  <a:srgbClr val="525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TRACTION &amp; COMPETITIVE ADVANTAGE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182880" y="27432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and Deployed — 98% Cheaper Than Any Alternative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201168" y="786384"/>
            <a:ext cx="1645920" cy="1078992"/>
          </a:xfrm>
          <a:prstGeom prst="rect">
            <a:avLst/>
          </a:prstGeom>
          <a:solidFill>
            <a:srgbClr val="181D27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r>
              <a:rPr lang="fr-FR" dirty="0"/>
              <a:t> </a:t>
            </a:r>
          </a:p>
        </p:txBody>
      </p:sp>
      <p:sp>
        <p:nvSpPr>
          <p:cNvPr id="7" name="Shape 5"/>
          <p:cNvSpPr/>
          <p:nvPr/>
        </p:nvSpPr>
        <p:spPr>
          <a:xfrm>
            <a:off x="201168" y="786384"/>
            <a:ext cx="1645920" cy="36576"/>
          </a:xfrm>
          <a:prstGeom prst="rect">
            <a:avLst/>
          </a:prstGeom>
          <a:solidFill>
            <a:srgbClr val="B8975A"/>
          </a:solidFill>
          <a:ln w="12700">
            <a:solidFill>
              <a:srgbClr val="B8975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201168" y="841248"/>
            <a:ext cx="1645920" cy="5610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01168" y="1369040"/>
            <a:ext cx="1645920" cy="28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Testnets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01168" y="1627998"/>
            <a:ext cx="1645920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750" dirty="0">
                <a:solidFill>
                  <a:srgbClr val="8C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Avax · Polygon · BNB · Cronos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956816" y="786384"/>
            <a:ext cx="1645920" cy="1078992"/>
          </a:xfrm>
          <a:prstGeom prst="rect">
            <a:avLst/>
          </a:prstGeom>
          <a:solidFill>
            <a:srgbClr val="181D27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1956816" y="786384"/>
            <a:ext cx="1645920" cy="36576"/>
          </a:xfrm>
          <a:prstGeom prst="rect">
            <a:avLst/>
          </a:prstGeom>
          <a:solidFill>
            <a:srgbClr val="B8975A"/>
          </a:solidFill>
          <a:ln w="12700">
            <a:solidFill>
              <a:srgbClr val="B8975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1956816" y="841248"/>
            <a:ext cx="1645920" cy="5610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1956816" y="1369040"/>
            <a:ext cx="1645920" cy="28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Contracts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956816" y="1627998"/>
            <a:ext cx="1645920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C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verified on-chain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3712464" y="786384"/>
            <a:ext cx="1645920" cy="1078992"/>
          </a:xfrm>
          <a:prstGeom prst="rect">
            <a:avLst/>
          </a:prstGeom>
          <a:solidFill>
            <a:srgbClr val="181D27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3712464" y="786384"/>
            <a:ext cx="1645920" cy="36576"/>
          </a:xfrm>
          <a:prstGeom prst="rect">
            <a:avLst/>
          </a:prstGeom>
          <a:solidFill>
            <a:srgbClr val="B8975A"/>
          </a:solidFill>
          <a:ln w="12700">
            <a:solidFill>
              <a:srgbClr val="B8975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3712464" y="841248"/>
            <a:ext cx="1645920" cy="5610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3712464" y="1369040"/>
            <a:ext cx="1645920" cy="28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Complete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712464" y="1627998"/>
            <a:ext cx="1645920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C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KYC · Trading · Dividends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5468112" y="786384"/>
            <a:ext cx="1645920" cy="1078992"/>
          </a:xfrm>
          <a:prstGeom prst="rect">
            <a:avLst/>
          </a:prstGeom>
          <a:solidFill>
            <a:srgbClr val="181D27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Shape 20"/>
          <p:cNvSpPr/>
          <p:nvPr/>
        </p:nvSpPr>
        <p:spPr>
          <a:xfrm>
            <a:off x="5468112" y="786384"/>
            <a:ext cx="1645920" cy="36576"/>
          </a:xfrm>
          <a:prstGeom prst="rect">
            <a:avLst/>
          </a:prstGeom>
          <a:solidFill>
            <a:srgbClr val="B8975A"/>
          </a:solidFill>
          <a:ln w="12700">
            <a:solidFill>
              <a:srgbClr val="B8975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5468112" y="841248"/>
            <a:ext cx="1645920" cy="5610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$750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5468112" y="1369040"/>
            <a:ext cx="1645920" cy="28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Cost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468112" y="1627998"/>
            <a:ext cx="1645920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C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$50,000+ enterprise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7223760" y="786384"/>
            <a:ext cx="1645920" cy="1078992"/>
          </a:xfrm>
          <a:prstGeom prst="rect">
            <a:avLst/>
          </a:prstGeom>
          <a:solidFill>
            <a:srgbClr val="181D27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Shape 25"/>
          <p:cNvSpPr/>
          <p:nvPr/>
        </p:nvSpPr>
        <p:spPr>
          <a:xfrm>
            <a:off x="7223760" y="786384"/>
            <a:ext cx="1645920" cy="36576"/>
          </a:xfrm>
          <a:prstGeom prst="rect">
            <a:avLst/>
          </a:prstGeom>
          <a:solidFill>
            <a:srgbClr val="B8975A"/>
          </a:solidFill>
          <a:ln w="12700">
            <a:solidFill>
              <a:srgbClr val="B8975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7223760" y="841248"/>
            <a:ext cx="1645920" cy="5610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48h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7223760" y="1369040"/>
            <a:ext cx="1645920" cy="28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Launch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223760" y="1627998"/>
            <a:ext cx="1645920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C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3–6 months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201168" y="1993392"/>
            <a:ext cx="8741664" cy="0"/>
          </a:xfrm>
          <a:prstGeom prst="line">
            <a:avLst/>
          </a:prstGeom>
          <a:noFill/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30"/>
          <p:cNvSpPr/>
          <p:nvPr/>
        </p:nvSpPr>
        <p:spPr>
          <a:xfrm>
            <a:off x="201168" y="20848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250" dirty="0">
                <a:solidFill>
                  <a:srgbClr val="525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COMPARISON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201168" y="2304288"/>
            <a:ext cx="2331720" cy="261153"/>
          </a:xfrm>
          <a:prstGeom prst="rect">
            <a:avLst/>
          </a:prstGeom>
          <a:solidFill>
            <a:srgbClr val="232B3C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2"/>
          <p:cNvSpPr/>
          <p:nvPr/>
        </p:nvSpPr>
        <p:spPr>
          <a:xfrm>
            <a:off x="274320" y="2304288"/>
            <a:ext cx="2258568" cy="261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C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532888" y="2304288"/>
            <a:ext cx="1481328" cy="261153"/>
          </a:xfrm>
          <a:prstGeom prst="rect">
            <a:avLst/>
          </a:prstGeom>
          <a:solidFill>
            <a:srgbClr val="B8975A">
              <a:alpha val="85000"/>
            </a:srgbClr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34"/>
          <p:cNvSpPr/>
          <p:nvPr/>
        </p:nvSpPr>
        <p:spPr>
          <a:xfrm>
            <a:off x="2606040" y="2304288"/>
            <a:ext cx="1408176" cy="261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01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RWA Experts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014216" y="2304288"/>
            <a:ext cx="1481328" cy="261153"/>
          </a:xfrm>
          <a:prstGeom prst="rect">
            <a:avLst/>
          </a:prstGeom>
          <a:solidFill>
            <a:srgbClr val="232B3C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6"/>
          <p:cNvSpPr/>
          <p:nvPr/>
        </p:nvSpPr>
        <p:spPr>
          <a:xfrm>
            <a:off x="4087368" y="2304288"/>
            <a:ext cx="1408176" cy="261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C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Securitize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95544" y="2304288"/>
            <a:ext cx="1481328" cy="261153"/>
          </a:xfrm>
          <a:prstGeom prst="rect">
            <a:avLst/>
          </a:prstGeom>
          <a:solidFill>
            <a:srgbClr val="232B3C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Text 38"/>
          <p:cNvSpPr/>
          <p:nvPr/>
        </p:nvSpPr>
        <p:spPr>
          <a:xfrm>
            <a:off x="5568696" y="2304288"/>
            <a:ext cx="1408176" cy="261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C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01168" y="2565441"/>
            <a:ext cx="2331720" cy="384048"/>
          </a:xfrm>
          <a:prstGeom prst="rect">
            <a:avLst/>
          </a:prstGeom>
          <a:solidFill>
            <a:srgbClr val="181D27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Text 40"/>
          <p:cNvSpPr/>
          <p:nvPr/>
        </p:nvSpPr>
        <p:spPr>
          <a:xfrm>
            <a:off x="274320" y="2565441"/>
            <a:ext cx="2258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 Tokenization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2532888" y="2565441"/>
            <a:ext cx="1481328" cy="384048"/>
          </a:xfrm>
          <a:prstGeom prst="rect">
            <a:avLst/>
          </a:prstGeom>
          <a:solidFill>
            <a:srgbClr val="1F2535"/>
          </a:solidFill>
          <a:ln w="12700">
            <a:solidFill>
              <a:srgbClr val="B8975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Text 42"/>
          <p:cNvSpPr/>
          <p:nvPr/>
        </p:nvSpPr>
        <p:spPr>
          <a:xfrm>
            <a:off x="2606040" y="2565441"/>
            <a:ext cx="1408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Yes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014216" y="2565441"/>
            <a:ext cx="1481328" cy="384048"/>
          </a:xfrm>
          <a:prstGeom prst="rect">
            <a:avLst/>
          </a:prstGeom>
          <a:solidFill>
            <a:srgbClr val="181D27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6" name="Text 44"/>
          <p:cNvSpPr/>
          <p:nvPr/>
        </p:nvSpPr>
        <p:spPr>
          <a:xfrm>
            <a:off x="4087368" y="2565441"/>
            <a:ext cx="1408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25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No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5495544" y="2565441"/>
            <a:ext cx="1481328" cy="384048"/>
          </a:xfrm>
          <a:prstGeom prst="rect">
            <a:avLst/>
          </a:prstGeom>
          <a:solidFill>
            <a:srgbClr val="181D27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8" name="Text 46"/>
          <p:cNvSpPr/>
          <p:nvPr/>
        </p:nvSpPr>
        <p:spPr>
          <a:xfrm>
            <a:off x="5568696" y="2565441"/>
            <a:ext cx="1408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25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No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201168" y="2949489"/>
            <a:ext cx="2331720" cy="384048"/>
          </a:xfrm>
          <a:prstGeom prst="rect">
            <a:avLst/>
          </a:prstGeom>
          <a:solidFill>
            <a:srgbClr val="1F2535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0" name="Text 48"/>
          <p:cNvSpPr/>
          <p:nvPr/>
        </p:nvSpPr>
        <p:spPr>
          <a:xfrm>
            <a:off x="274320" y="2949489"/>
            <a:ext cx="2258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P2P Trading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2532888" y="2949489"/>
            <a:ext cx="1481328" cy="384048"/>
          </a:xfrm>
          <a:prstGeom prst="rect">
            <a:avLst/>
          </a:prstGeom>
          <a:solidFill>
            <a:srgbClr val="1F2535"/>
          </a:solidFill>
          <a:ln w="12700">
            <a:solidFill>
              <a:srgbClr val="B8975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2" name="Text 50"/>
          <p:cNvSpPr/>
          <p:nvPr/>
        </p:nvSpPr>
        <p:spPr>
          <a:xfrm>
            <a:off x="2606040" y="2949489"/>
            <a:ext cx="1408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Yes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4014216" y="2949489"/>
            <a:ext cx="1481328" cy="384048"/>
          </a:xfrm>
          <a:prstGeom prst="rect">
            <a:avLst/>
          </a:prstGeom>
          <a:solidFill>
            <a:srgbClr val="1F2535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4" name="Text 52"/>
          <p:cNvSpPr/>
          <p:nvPr/>
        </p:nvSpPr>
        <p:spPr>
          <a:xfrm>
            <a:off x="4087368" y="2949489"/>
            <a:ext cx="1408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25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No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5495544" y="2949489"/>
            <a:ext cx="1481328" cy="384048"/>
          </a:xfrm>
          <a:prstGeom prst="rect">
            <a:avLst/>
          </a:prstGeom>
          <a:solidFill>
            <a:srgbClr val="1F2535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6" name="Text 54"/>
          <p:cNvSpPr/>
          <p:nvPr/>
        </p:nvSpPr>
        <p:spPr>
          <a:xfrm>
            <a:off x="5568696" y="2949489"/>
            <a:ext cx="1408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201168" y="3333537"/>
            <a:ext cx="2331720" cy="384048"/>
          </a:xfrm>
          <a:prstGeom prst="rect">
            <a:avLst/>
          </a:prstGeom>
          <a:solidFill>
            <a:srgbClr val="181D27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8" name="Text 56"/>
          <p:cNvSpPr/>
          <p:nvPr/>
        </p:nvSpPr>
        <p:spPr>
          <a:xfrm>
            <a:off x="274320" y="3333537"/>
            <a:ext cx="2258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Multichain Support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2532888" y="3333537"/>
            <a:ext cx="1481328" cy="384048"/>
          </a:xfrm>
          <a:prstGeom prst="rect">
            <a:avLst/>
          </a:prstGeom>
          <a:solidFill>
            <a:srgbClr val="1F2535"/>
          </a:solidFill>
          <a:ln w="12700">
            <a:solidFill>
              <a:srgbClr val="B8975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0" name="Text 58"/>
          <p:cNvSpPr/>
          <p:nvPr/>
        </p:nvSpPr>
        <p:spPr>
          <a:xfrm>
            <a:off x="2606040" y="3333537"/>
            <a:ext cx="1408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36+ chains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4014216" y="3333537"/>
            <a:ext cx="1481328" cy="384048"/>
          </a:xfrm>
          <a:prstGeom prst="rect">
            <a:avLst/>
          </a:prstGeom>
          <a:solidFill>
            <a:srgbClr val="181D27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2" name="Text 60"/>
          <p:cNvSpPr/>
          <p:nvPr/>
        </p:nvSpPr>
        <p:spPr>
          <a:xfrm>
            <a:off x="4087368" y="3333537"/>
            <a:ext cx="1408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25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None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5495544" y="3333537"/>
            <a:ext cx="1481328" cy="384048"/>
          </a:xfrm>
          <a:prstGeom prst="rect">
            <a:avLst/>
          </a:prstGeom>
          <a:solidFill>
            <a:srgbClr val="181D27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4" name="Text 62"/>
          <p:cNvSpPr/>
          <p:nvPr/>
        </p:nvSpPr>
        <p:spPr>
          <a:xfrm>
            <a:off x="5568696" y="3333537"/>
            <a:ext cx="1408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chain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201168" y="3717585"/>
            <a:ext cx="2331720" cy="384048"/>
          </a:xfrm>
          <a:prstGeom prst="rect">
            <a:avLst/>
          </a:prstGeom>
          <a:solidFill>
            <a:srgbClr val="1F2535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6" name="Text 64"/>
          <p:cNvSpPr/>
          <p:nvPr/>
        </p:nvSpPr>
        <p:spPr>
          <a:xfrm>
            <a:off x="274320" y="3717585"/>
            <a:ext cx="2258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Investment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2532888" y="3717585"/>
            <a:ext cx="1481328" cy="384048"/>
          </a:xfrm>
          <a:prstGeom prst="rect">
            <a:avLst/>
          </a:prstGeom>
          <a:solidFill>
            <a:srgbClr val="1F2535"/>
          </a:solidFill>
          <a:ln w="12700">
            <a:solidFill>
              <a:srgbClr val="B8975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8" name="Text 66"/>
          <p:cNvSpPr/>
          <p:nvPr/>
        </p:nvSpPr>
        <p:spPr>
          <a:xfrm>
            <a:off x="2606040" y="3717585"/>
            <a:ext cx="1408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$100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4014216" y="3717585"/>
            <a:ext cx="1481328" cy="384048"/>
          </a:xfrm>
          <a:prstGeom prst="rect">
            <a:avLst/>
          </a:prstGeom>
          <a:solidFill>
            <a:srgbClr val="1F2535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0" name="Text 68"/>
          <p:cNvSpPr/>
          <p:nvPr/>
        </p:nvSpPr>
        <p:spPr>
          <a:xfrm>
            <a:off x="4087368" y="3717585"/>
            <a:ext cx="1408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$5,000+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5495544" y="3717585"/>
            <a:ext cx="1481328" cy="384048"/>
          </a:xfrm>
          <a:prstGeom prst="rect">
            <a:avLst/>
          </a:prstGeom>
          <a:solidFill>
            <a:srgbClr val="1F2535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2" name="Text 70"/>
          <p:cNvSpPr/>
          <p:nvPr/>
        </p:nvSpPr>
        <p:spPr>
          <a:xfrm>
            <a:off x="5568696" y="3717585"/>
            <a:ext cx="1408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201168" y="4101633"/>
            <a:ext cx="2331720" cy="384048"/>
          </a:xfrm>
          <a:prstGeom prst="rect">
            <a:avLst/>
          </a:prstGeom>
          <a:solidFill>
            <a:srgbClr val="181D27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4" name="Text 72"/>
          <p:cNvSpPr/>
          <p:nvPr/>
        </p:nvSpPr>
        <p:spPr>
          <a:xfrm>
            <a:off x="274320" y="4101633"/>
            <a:ext cx="2258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Cost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2532888" y="4101633"/>
            <a:ext cx="1481328" cy="384048"/>
          </a:xfrm>
          <a:prstGeom prst="rect">
            <a:avLst/>
          </a:prstGeom>
          <a:solidFill>
            <a:srgbClr val="1F2535"/>
          </a:solidFill>
          <a:ln w="12700">
            <a:solidFill>
              <a:srgbClr val="B8975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6" name="Text 74"/>
          <p:cNvSpPr/>
          <p:nvPr/>
        </p:nvSpPr>
        <p:spPr>
          <a:xfrm>
            <a:off x="2606040" y="4101633"/>
            <a:ext cx="1408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$750</a:t>
            </a:r>
            <a:endParaRPr lang="en-US" sz="950" dirty="0"/>
          </a:p>
        </p:txBody>
      </p:sp>
      <p:sp>
        <p:nvSpPr>
          <p:cNvPr id="77" name="Shape 75"/>
          <p:cNvSpPr/>
          <p:nvPr/>
        </p:nvSpPr>
        <p:spPr>
          <a:xfrm>
            <a:off x="4014216" y="4101633"/>
            <a:ext cx="1481328" cy="384048"/>
          </a:xfrm>
          <a:prstGeom prst="rect">
            <a:avLst/>
          </a:prstGeom>
          <a:solidFill>
            <a:srgbClr val="181D27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8" name="Text 76"/>
          <p:cNvSpPr/>
          <p:nvPr/>
        </p:nvSpPr>
        <p:spPr>
          <a:xfrm>
            <a:off x="4087368" y="4101633"/>
            <a:ext cx="1408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$50,000+</a:t>
            </a:r>
            <a:endParaRPr lang="en-US" sz="950" dirty="0"/>
          </a:p>
        </p:txBody>
      </p:sp>
      <p:sp>
        <p:nvSpPr>
          <p:cNvPr id="79" name="Shape 77"/>
          <p:cNvSpPr/>
          <p:nvPr/>
        </p:nvSpPr>
        <p:spPr>
          <a:xfrm>
            <a:off x="5495544" y="4101633"/>
            <a:ext cx="1481328" cy="384048"/>
          </a:xfrm>
          <a:prstGeom prst="rect">
            <a:avLst/>
          </a:prstGeom>
          <a:solidFill>
            <a:srgbClr val="181D27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0" name="Text 78"/>
          <p:cNvSpPr/>
          <p:nvPr/>
        </p:nvSpPr>
        <p:spPr>
          <a:xfrm>
            <a:off x="5568696" y="4101633"/>
            <a:ext cx="1408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25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N/A</a:t>
            </a:r>
            <a:endParaRPr lang="en-US" sz="950" dirty="0"/>
          </a:p>
        </p:txBody>
      </p:sp>
      <p:sp>
        <p:nvSpPr>
          <p:cNvPr id="81" name="Shape 79"/>
          <p:cNvSpPr/>
          <p:nvPr/>
        </p:nvSpPr>
        <p:spPr>
          <a:xfrm>
            <a:off x="201168" y="4485681"/>
            <a:ext cx="2331720" cy="384048"/>
          </a:xfrm>
          <a:prstGeom prst="rect">
            <a:avLst/>
          </a:prstGeom>
          <a:solidFill>
            <a:srgbClr val="1F2535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2" name="Text 80"/>
          <p:cNvSpPr/>
          <p:nvPr/>
        </p:nvSpPr>
        <p:spPr>
          <a:xfrm>
            <a:off x="274320" y="4485681"/>
            <a:ext cx="2258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Launch</a:t>
            </a:r>
            <a:endParaRPr lang="en-US" sz="950" dirty="0"/>
          </a:p>
        </p:txBody>
      </p:sp>
      <p:sp>
        <p:nvSpPr>
          <p:cNvPr id="83" name="Shape 81"/>
          <p:cNvSpPr/>
          <p:nvPr/>
        </p:nvSpPr>
        <p:spPr>
          <a:xfrm>
            <a:off x="2532888" y="4485681"/>
            <a:ext cx="1481328" cy="384048"/>
          </a:xfrm>
          <a:prstGeom prst="rect">
            <a:avLst/>
          </a:prstGeom>
          <a:solidFill>
            <a:srgbClr val="1F2535"/>
          </a:solidFill>
          <a:ln w="12700">
            <a:solidFill>
              <a:srgbClr val="B8975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4" name="Text 82"/>
          <p:cNvSpPr/>
          <p:nvPr/>
        </p:nvSpPr>
        <p:spPr>
          <a:xfrm>
            <a:off x="2606040" y="4485681"/>
            <a:ext cx="1408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48 hours</a:t>
            </a:r>
            <a:endParaRPr lang="en-US" sz="950" dirty="0"/>
          </a:p>
        </p:txBody>
      </p:sp>
      <p:sp>
        <p:nvSpPr>
          <p:cNvPr id="85" name="Shape 83"/>
          <p:cNvSpPr/>
          <p:nvPr/>
        </p:nvSpPr>
        <p:spPr>
          <a:xfrm>
            <a:off x="4014216" y="4485681"/>
            <a:ext cx="1481328" cy="384048"/>
          </a:xfrm>
          <a:prstGeom prst="rect">
            <a:avLst/>
          </a:prstGeom>
          <a:solidFill>
            <a:srgbClr val="1F2535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6" name="Text 84"/>
          <p:cNvSpPr/>
          <p:nvPr/>
        </p:nvSpPr>
        <p:spPr>
          <a:xfrm>
            <a:off x="4087368" y="4485681"/>
            <a:ext cx="1408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3–6 months</a:t>
            </a:r>
            <a:endParaRPr lang="en-US" sz="950" dirty="0"/>
          </a:p>
        </p:txBody>
      </p:sp>
      <p:sp>
        <p:nvSpPr>
          <p:cNvPr id="87" name="Shape 85"/>
          <p:cNvSpPr/>
          <p:nvPr/>
        </p:nvSpPr>
        <p:spPr>
          <a:xfrm>
            <a:off x="5495544" y="4485681"/>
            <a:ext cx="1481328" cy="384048"/>
          </a:xfrm>
          <a:prstGeom prst="rect">
            <a:avLst/>
          </a:prstGeom>
          <a:solidFill>
            <a:srgbClr val="1F2535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8" name="Text 86"/>
          <p:cNvSpPr/>
          <p:nvPr/>
        </p:nvSpPr>
        <p:spPr>
          <a:xfrm>
            <a:off x="5568696" y="4485681"/>
            <a:ext cx="1408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25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N/A</a:t>
            </a:r>
            <a:endParaRPr lang="en-US" sz="950" dirty="0"/>
          </a:p>
        </p:txBody>
      </p:sp>
      <p:sp>
        <p:nvSpPr>
          <p:cNvPr id="89" name="Shape 87"/>
          <p:cNvSpPr/>
          <p:nvPr/>
        </p:nvSpPr>
        <p:spPr>
          <a:xfrm>
            <a:off x="7164755" y="2084832"/>
            <a:ext cx="1901952" cy="2834640"/>
          </a:xfrm>
          <a:prstGeom prst="rect">
            <a:avLst/>
          </a:prstGeom>
          <a:solidFill>
            <a:srgbClr val="181D27"/>
          </a:solidFill>
          <a:ln w="12700">
            <a:solidFill>
              <a:srgbClr val="2A3245"/>
            </a:solidFill>
            <a:prstDash val="solid"/>
          </a:ln>
          <a:effectLst>
            <a:outerShdw blurRad="152400" dist="50800" dir="87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0" name="Shape 88"/>
          <p:cNvSpPr/>
          <p:nvPr/>
        </p:nvSpPr>
        <p:spPr>
          <a:xfrm>
            <a:off x="7164755" y="2084832"/>
            <a:ext cx="1901952" cy="36576"/>
          </a:xfrm>
          <a:prstGeom prst="rect">
            <a:avLst/>
          </a:prstGeom>
          <a:solidFill>
            <a:srgbClr val="B8975A"/>
          </a:solidFill>
          <a:ln w="12700">
            <a:solidFill>
              <a:srgbClr val="B8975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1" name="Text 89"/>
          <p:cNvSpPr/>
          <p:nvPr/>
        </p:nvSpPr>
        <p:spPr>
          <a:xfrm>
            <a:off x="7164755" y="2157984"/>
            <a:ext cx="1901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</a:t>
            </a:r>
            <a:endParaRPr lang="en-US" sz="2600" dirty="0"/>
          </a:p>
          <a:p>
            <a:pPr marL="0" indent="0" algn="ctr">
              <a:buNone/>
            </a:pPr>
            <a:r>
              <a:rPr lang="en-US" sz="2600" b="1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Moat</a:t>
            </a:r>
            <a:endParaRPr lang="en-US" sz="2600" dirty="0"/>
          </a:p>
        </p:txBody>
      </p:sp>
      <p:sp>
        <p:nvSpPr>
          <p:cNvPr id="92" name="Shape 90"/>
          <p:cNvSpPr/>
          <p:nvPr/>
        </p:nvSpPr>
        <p:spPr>
          <a:xfrm>
            <a:off x="7530515" y="3017520"/>
            <a:ext cx="1170432" cy="27432"/>
          </a:xfrm>
          <a:prstGeom prst="rect">
            <a:avLst/>
          </a:prstGeom>
          <a:solidFill>
            <a:srgbClr val="2A3245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3" name="Shape 91"/>
          <p:cNvSpPr/>
          <p:nvPr/>
        </p:nvSpPr>
        <p:spPr>
          <a:xfrm>
            <a:off x="7329347" y="3231973"/>
            <a:ext cx="82296" cy="82296"/>
          </a:xfrm>
          <a:prstGeom prst="ellipse">
            <a:avLst/>
          </a:prstGeom>
          <a:solidFill>
            <a:srgbClr val="B8975A"/>
          </a:solidFill>
          <a:ln w="12700">
            <a:solidFill>
              <a:srgbClr val="B8975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4" name="Text 92"/>
          <p:cNvSpPr/>
          <p:nvPr/>
        </p:nvSpPr>
        <p:spPr>
          <a:xfrm>
            <a:off x="7466507" y="310896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 for SMBs</a:t>
            </a:r>
            <a:endParaRPr lang="en-US" sz="950" dirty="0"/>
          </a:p>
        </p:txBody>
      </p:sp>
      <p:sp>
        <p:nvSpPr>
          <p:cNvPr id="95" name="Shape 93"/>
          <p:cNvSpPr/>
          <p:nvPr/>
        </p:nvSpPr>
        <p:spPr>
          <a:xfrm>
            <a:off x="7329347" y="3643453"/>
            <a:ext cx="82296" cy="82296"/>
          </a:xfrm>
          <a:prstGeom prst="ellipse">
            <a:avLst/>
          </a:prstGeom>
          <a:solidFill>
            <a:srgbClr val="B8975A"/>
          </a:solidFill>
          <a:ln w="12700">
            <a:solidFill>
              <a:srgbClr val="B8975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6" name="Text 94"/>
          <p:cNvSpPr/>
          <p:nvPr/>
        </p:nvSpPr>
        <p:spPr>
          <a:xfrm>
            <a:off x="7466507" y="352044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compliance engine</a:t>
            </a:r>
            <a:endParaRPr lang="en-US" sz="950" dirty="0"/>
          </a:p>
        </p:txBody>
      </p:sp>
      <p:sp>
        <p:nvSpPr>
          <p:cNvPr id="97" name="Shape 95"/>
          <p:cNvSpPr/>
          <p:nvPr/>
        </p:nvSpPr>
        <p:spPr>
          <a:xfrm>
            <a:off x="7329347" y="4054933"/>
            <a:ext cx="82296" cy="82296"/>
          </a:xfrm>
          <a:prstGeom prst="ellipse">
            <a:avLst/>
          </a:prstGeom>
          <a:solidFill>
            <a:srgbClr val="B8975A"/>
          </a:solidFill>
          <a:ln w="12700">
            <a:solidFill>
              <a:srgbClr val="B8975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8" name="Text 96"/>
          <p:cNvSpPr/>
          <p:nvPr/>
        </p:nvSpPr>
        <p:spPr>
          <a:xfrm>
            <a:off x="7466507" y="39319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ERC-3643 native security</a:t>
            </a:r>
            <a:endParaRPr lang="en-US" sz="950" dirty="0"/>
          </a:p>
        </p:txBody>
      </p:sp>
      <p:sp>
        <p:nvSpPr>
          <p:cNvPr id="99" name="Shape 97"/>
          <p:cNvSpPr/>
          <p:nvPr/>
        </p:nvSpPr>
        <p:spPr>
          <a:xfrm>
            <a:off x="7329347" y="4466413"/>
            <a:ext cx="82296" cy="82296"/>
          </a:xfrm>
          <a:prstGeom prst="ellipse">
            <a:avLst/>
          </a:prstGeom>
          <a:solidFill>
            <a:srgbClr val="B8975A"/>
          </a:solidFill>
          <a:ln w="12700">
            <a:solidFill>
              <a:srgbClr val="B8975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0" name="Text 98"/>
          <p:cNvSpPr/>
          <p:nvPr/>
        </p:nvSpPr>
        <p:spPr>
          <a:xfrm>
            <a:off x="7466507" y="434340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6-chain from day one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14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81D27"/>
          </a:solidFill>
          <a:ln w="12700">
            <a:solidFill>
              <a:srgbClr val="181D2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0292" cy="713232"/>
          </a:xfrm>
          <a:prstGeom prst="rect">
            <a:avLst/>
          </a:prstGeom>
          <a:solidFill>
            <a:srgbClr val="B8975A"/>
          </a:solidFill>
          <a:ln w="12700">
            <a:solidFill>
              <a:srgbClr val="B8975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182880" y="9144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300" dirty="0">
                <a:solidFill>
                  <a:srgbClr val="525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 &amp; ROADMAP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182880" y="27432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85% Gross Margins — Mainnet Q2 2026 — Series A 2027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01168" y="804672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250" dirty="0">
                <a:solidFill>
                  <a:srgbClr val="525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STREAMS</a:t>
            </a:r>
            <a:endParaRPr lang="en-US" sz="700" dirty="0"/>
          </a:p>
        </p:txBody>
      </p:sp>
      <p:grpSp>
        <p:nvGrpSpPr>
          <p:cNvPr id="118" name="Groupe 117">
            <a:extLst>
              <a:ext uri="{FF2B5EF4-FFF2-40B4-BE49-F238E27FC236}">
                <a16:creationId xmlns:a16="http://schemas.microsoft.com/office/drawing/2014/main" id="{FC02739D-8F2E-BE8F-2F3E-512F5E4DE4F0}"/>
              </a:ext>
            </a:extLst>
          </p:cNvPr>
          <p:cNvGrpSpPr/>
          <p:nvPr/>
        </p:nvGrpSpPr>
        <p:grpSpPr>
          <a:xfrm>
            <a:off x="105317" y="1005840"/>
            <a:ext cx="4598609" cy="2221992"/>
            <a:chOff x="201168" y="1005840"/>
            <a:chExt cx="4745736" cy="2221992"/>
          </a:xfrm>
        </p:grpSpPr>
        <p:sp>
          <p:nvSpPr>
            <p:cNvPr id="7" name="Shape 5"/>
            <p:cNvSpPr/>
            <p:nvPr/>
          </p:nvSpPr>
          <p:spPr>
            <a:xfrm>
              <a:off x="201168" y="1005840"/>
              <a:ext cx="1691640" cy="246888"/>
            </a:xfrm>
            <a:prstGeom prst="rect">
              <a:avLst/>
            </a:prstGeom>
            <a:solidFill>
              <a:srgbClr val="232B3C"/>
            </a:solidFill>
            <a:ln w="12700">
              <a:solidFill>
                <a:srgbClr val="2A3245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8" name="Text 6"/>
            <p:cNvSpPr/>
            <p:nvPr/>
          </p:nvSpPr>
          <p:spPr>
            <a:xfrm>
              <a:off x="256032" y="1005840"/>
              <a:ext cx="1636776" cy="2468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b="1" dirty="0">
                  <a:solidFill>
                    <a:srgbClr val="8C95A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Stream</a:t>
              </a:r>
              <a:endParaRPr lang="en-US" sz="8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1892808" y="1005840"/>
              <a:ext cx="1188720" cy="246888"/>
            </a:xfrm>
            <a:prstGeom prst="rect">
              <a:avLst/>
            </a:prstGeom>
            <a:solidFill>
              <a:srgbClr val="232B3C"/>
            </a:solidFill>
            <a:ln w="12700">
              <a:solidFill>
                <a:srgbClr val="2A3245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0" name="Text 8"/>
            <p:cNvSpPr/>
            <p:nvPr/>
          </p:nvSpPr>
          <p:spPr>
            <a:xfrm>
              <a:off x="1947672" y="1005840"/>
              <a:ext cx="1133856" cy="2468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b="1" dirty="0">
                  <a:solidFill>
                    <a:srgbClr val="8C95A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Fee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81528" y="1005840"/>
              <a:ext cx="548640" cy="246888"/>
            </a:xfrm>
            <a:prstGeom prst="rect">
              <a:avLst/>
            </a:prstGeom>
            <a:solidFill>
              <a:srgbClr val="232B3C"/>
            </a:solidFill>
            <a:ln w="12700">
              <a:solidFill>
                <a:srgbClr val="2A3245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Text 10"/>
            <p:cNvSpPr/>
            <p:nvPr/>
          </p:nvSpPr>
          <p:spPr>
            <a:xfrm>
              <a:off x="3136392" y="1005840"/>
              <a:ext cx="493776" cy="2468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b="1" dirty="0">
                  <a:solidFill>
                    <a:srgbClr val="8C95A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Y1</a:t>
              </a:r>
              <a:endParaRPr lang="en-US" sz="8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630168" y="1005840"/>
              <a:ext cx="658368" cy="246888"/>
            </a:xfrm>
            <a:prstGeom prst="rect">
              <a:avLst/>
            </a:prstGeom>
            <a:solidFill>
              <a:srgbClr val="232B3C"/>
            </a:solidFill>
            <a:ln w="12700">
              <a:solidFill>
                <a:srgbClr val="2A3245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Text 12"/>
            <p:cNvSpPr/>
            <p:nvPr/>
          </p:nvSpPr>
          <p:spPr>
            <a:xfrm>
              <a:off x="3685032" y="1005840"/>
              <a:ext cx="603504" cy="2468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b="1" dirty="0">
                  <a:solidFill>
                    <a:srgbClr val="8C95A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Y3</a:t>
              </a:r>
              <a:endParaRPr lang="en-US" sz="8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288536" y="1005840"/>
              <a:ext cx="658368" cy="246888"/>
            </a:xfrm>
            <a:prstGeom prst="rect">
              <a:avLst/>
            </a:prstGeom>
            <a:solidFill>
              <a:srgbClr val="232B3C"/>
            </a:solidFill>
            <a:ln w="12700">
              <a:solidFill>
                <a:srgbClr val="2A3245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Text 14"/>
            <p:cNvSpPr/>
            <p:nvPr/>
          </p:nvSpPr>
          <p:spPr>
            <a:xfrm>
              <a:off x="4343400" y="1005840"/>
              <a:ext cx="603504" cy="2468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b="1" dirty="0">
                  <a:solidFill>
                    <a:srgbClr val="8C95A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Y5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201168" y="1252728"/>
              <a:ext cx="1691640" cy="329184"/>
            </a:xfrm>
            <a:prstGeom prst="rect">
              <a:avLst/>
            </a:prstGeom>
            <a:solidFill>
              <a:srgbClr val="181D27"/>
            </a:solidFill>
            <a:ln w="12700">
              <a:solidFill>
                <a:srgbClr val="2A3245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Text 16"/>
            <p:cNvSpPr/>
            <p:nvPr/>
          </p:nvSpPr>
          <p:spPr>
            <a:xfrm>
              <a:off x="256032" y="1252728"/>
              <a:ext cx="1636776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EAE6D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Crowdfunding Fee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1892808" y="1252728"/>
              <a:ext cx="1188720" cy="329184"/>
            </a:xfrm>
            <a:prstGeom prst="rect">
              <a:avLst/>
            </a:prstGeom>
            <a:solidFill>
              <a:srgbClr val="181D27"/>
            </a:solidFill>
            <a:ln w="12700">
              <a:solidFill>
                <a:srgbClr val="2A3245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Text 18"/>
            <p:cNvSpPr/>
            <p:nvPr/>
          </p:nvSpPr>
          <p:spPr>
            <a:xfrm>
              <a:off x="1947672" y="1252728"/>
              <a:ext cx="1133856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EAE6D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2.5%/project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81528" y="1252728"/>
              <a:ext cx="548640" cy="329184"/>
            </a:xfrm>
            <a:prstGeom prst="rect">
              <a:avLst/>
            </a:prstGeom>
            <a:solidFill>
              <a:srgbClr val="181D27"/>
            </a:solidFill>
            <a:ln w="12700">
              <a:solidFill>
                <a:srgbClr val="2A3245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Text 20"/>
            <p:cNvSpPr/>
            <p:nvPr/>
          </p:nvSpPr>
          <p:spPr>
            <a:xfrm>
              <a:off x="3136392" y="1252728"/>
              <a:ext cx="493776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8C95A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$300K</a:t>
              </a:r>
              <a:endParaRPr lang="en-US" sz="85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630168" y="1252728"/>
              <a:ext cx="658368" cy="329184"/>
            </a:xfrm>
            <a:prstGeom prst="rect">
              <a:avLst/>
            </a:prstGeom>
            <a:solidFill>
              <a:srgbClr val="181D27"/>
            </a:solidFill>
            <a:ln w="12700">
              <a:solidFill>
                <a:srgbClr val="2A3245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Text 22"/>
            <p:cNvSpPr/>
            <p:nvPr/>
          </p:nvSpPr>
          <p:spPr>
            <a:xfrm>
              <a:off x="3685032" y="1252728"/>
              <a:ext cx="603504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8C95A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$2.5M</a:t>
              </a:r>
              <a:endParaRPr lang="en-US" sz="8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288536" y="1252728"/>
              <a:ext cx="658368" cy="329184"/>
            </a:xfrm>
            <a:prstGeom prst="rect">
              <a:avLst/>
            </a:prstGeom>
            <a:solidFill>
              <a:srgbClr val="181D27"/>
            </a:solidFill>
            <a:ln w="12700">
              <a:solidFill>
                <a:srgbClr val="2A3245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Text 24"/>
            <p:cNvSpPr/>
            <p:nvPr/>
          </p:nvSpPr>
          <p:spPr>
            <a:xfrm>
              <a:off x="4343400" y="1252728"/>
              <a:ext cx="603504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8C95A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$25M</a:t>
              </a:r>
              <a:endParaRPr lang="en-US" sz="85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201168" y="1581912"/>
              <a:ext cx="1691640" cy="329184"/>
            </a:xfrm>
            <a:prstGeom prst="rect">
              <a:avLst/>
            </a:prstGeom>
            <a:solidFill>
              <a:srgbClr val="1F2535"/>
            </a:solidFill>
            <a:ln w="12700">
              <a:solidFill>
                <a:srgbClr val="2A3245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Text 26"/>
            <p:cNvSpPr/>
            <p:nvPr/>
          </p:nvSpPr>
          <p:spPr>
            <a:xfrm>
              <a:off x="256032" y="1581912"/>
              <a:ext cx="1636776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EAE6D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Tokenization Fee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1892808" y="1581912"/>
              <a:ext cx="1188720" cy="329184"/>
            </a:xfrm>
            <a:prstGeom prst="rect">
              <a:avLst/>
            </a:prstGeom>
            <a:solidFill>
              <a:srgbClr val="1F2535"/>
            </a:solidFill>
            <a:ln w="12700">
              <a:solidFill>
                <a:srgbClr val="2A3245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Text 28"/>
            <p:cNvSpPr/>
            <p:nvPr/>
          </p:nvSpPr>
          <p:spPr>
            <a:xfrm>
              <a:off x="1947672" y="1581912"/>
              <a:ext cx="1133856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EAE6D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$750–1,200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81528" y="1581912"/>
              <a:ext cx="548640" cy="329184"/>
            </a:xfrm>
            <a:prstGeom prst="rect">
              <a:avLst/>
            </a:prstGeom>
            <a:solidFill>
              <a:srgbClr val="1F2535"/>
            </a:solidFill>
            <a:ln w="12700">
              <a:solidFill>
                <a:srgbClr val="2A3245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Text 30"/>
            <p:cNvSpPr/>
            <p:nvPr/>
          </p:nvSpPr>
          <p:spPr>
            <a:xfrm>
              <a:off x="3136392" y="1581912"/>
              <a:ext cx="493776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8C95A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$20K</a:t>
              </a:r>
              <a:endParaRPr lang="en-US" sz="85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630168" y="1581912"/>
              <a:ext cx="658368" cy="329184"/>
            </a:xfrm>
            <a:prstGeom prst="rect">
              <a:avLst/>
            </a:prstGeom>
            <a:solidFill>
              <a:srgbClr val="1F2535"/>
            </a:solidFill>
            <a:ln w="12700">
              <a:solidFill>
                <a:srgbClr val="2A3245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Text 32"/>
            <p:cNvSpPr/>
            <p:nvPr/>
          </p:nvSpPr>
          <p:spPr>
            <a:xfrm>
              <a:off x="3685032" y="1581912"/>
              <a:ext cx="603504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8C95A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$500K</a:t>
              </a:r>
              <a:endParaRPr lang="en-US" sz="85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288536" y="1581912"/>
              <a:ext cx="658368" cy="329184"/>
            </a:xfrm>
            <a:prstGeom prst="rect">
              <a:avLst/>
            </a:prstGeom>
            <a:solidFill>
              <a:srgbClr val="1F2535"/>
            </a:solidFill>
            <a:ln w="12700">
              <a:solidFill>
                <a:srgbClr val="2A3245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Text 34"/>
            <p:cNvSpPr/>
            <p:nvPr/>
          </p:nvSpPr>
          <p:spPr>
            <a:xfrm>
              <a:off x="4343400" y="1581912"/>
              <a:ext cx="603504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8C95A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$3M</a:t>
              </a:r>
              <a:endParaRPr lang="en-US" sz="85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201168" y="1911096"/>
              <a:ext cx="1691640" cy="329184"/>
            </a:xfrm>
            <a:prstGeom prst="rect">
              <a:avLst/>
            </a:prstGeom>
            <a:solidFill>
              <a:srgbClr val="181D27"/>
            </a:solidFill>
            <a:ln w="12700">
              <a:solidFill>
                <a:srgbClr val="2A3245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Text 36"/>
            <p:cNvSpPr/>
            <p:nvPr/>
          </p:nvSpPr>
          <p:spPr>
            <a:xfrm>
              <a:off x="256032" y="1911096"/>
              <a:ext cx="1636776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EAE6D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Trading Fee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1892808" y="1911096"/>
              <a:ext cx="1188720" cy="329184"/>
            </a:xfrm>
            <a:prstGeom prst="rect">
              <a:avLst/>
            </a:prstGeom>
            <a:solidFill>
              <a:srgbClr val="181D27"/>
            </a:solidFill>
            <a:ln w="12700">
              <a:solidFill>
                <a:srgbClr val="2A3245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Text 38"/>
            <p:cNvSpPr/>
            <p:nvPr/>
          </p:nvSpPr>
          <p:spPr>
            <a:xfrm>
              <a:off x="1947672" y="1911096"/>
              <a:ext cx="1133856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EAE6D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1% of volume</a:t>
              </a:r>
              <a:endParaRPr lang="en-US" sz="85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081528" y="1911096"/>
              <a:ext cx="548640" cy="329184"/>
            </a:xfrm>
            <a:prstGeom prst="rect">
              <a:avLst/>
            </a:prstGeom>
            <a:solidFill>
              <a:srgbClr val="181D27"/>
            </a:solidFill>
            <a:ln w="12700">
              <a:solidFill>
                <a:srgbClr val="2A3245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Text 40"/>
            <p:cNvSpPr/>
            <p:nvPr/>
          </p:nvSpPr>
          <p:spPr>
            <a:xfrm>
              <a:off x="3136392" y="1911096"/>
              <a:ext cx="493776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8C95A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$5K</a:t>
              </a:r>
              <a:endParaRPr lang="en-US" sz="85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3630168" y="1911096"/>
              <a:ext cx="658368" cy="329184"/>
            </a:xfrm>
            <a:prstGeom prst="rect">
              <a:avLst/>
            </a:prstGeom>
            <a:solidFill>
              <a:srgbClr val="181D27"/>
            </a:solidFill>
            <a:ln w="12700">
              <a:solidFill>
                <a:srgbClr val="2A3245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44" name="Text 42"/>
            <p:cNvSpPr/>
            <p:nvPr/>
          </p:nvSpPr>
          <p:spPr>
            <a:xfrm>
              <a:off x="3685032" y="1911096"/>
              <a:ext cx="603504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8C95A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$500K</a:t>
              </a:r>
              <a:endParaRPr lang="en-US" sz="85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288536" y="1911096"/>
              <a:ext cx="658368" cy="329184"/>
            </a:xfrm>
            <a:prstGeom prst="rect">
              <a:avLst/>
            </a:prstGeom>
            <a:solidFill>
              <a:srgbClr val="181D27"/>
            </a:solidFill>
            <a:ln w="12700">
              <a:solidFill>
                <a:srgbClr val="2A3245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Text 44"/>
            <p:cNvSpPr/>
            <p:nvPr/>
          </p:nvSpPr>
          <p:spPr>
            <a:xfrm>
              <a:off x="4343400" y="1911096"/>
              <a:ext cx="603504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8C95A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$3M</a:t>
              </a:r>
              <a:endParaRPr lang="en-US" sz="85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201168" y="2240280"/>
              <a:ext cx="1691640" cy="329184"/>
            </a:xfrm>
            <a:prstGeom prst="rect">
              <a:avLst/>
            </a:prstGeom>
            <a:solidFill>
              <a:srgbClr val="1F2535"/>
            </a:solidFill>
            <a:ln w="12700">
              <a:solidFill>
                <a:srgbClr val="2A3245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48" name="Text 46"/>
            <p:cNvSpPr/>
            <p:nvPr/>
          </p:nvSpPr>
          <p:spPr>
            <a:xfrm>
              <a:off x="256032" y="2240280"/>
              <a:ext cx="1636776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EAE6D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KYC + Dividends</a:t>
              </a:r>
              <a:endParaRPr lang="en-US" sz="90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1892808" y="2240280"/>
              <a:ext cx="1188720" cy="329184"/>
            </a:xfrm>
            <a:prstGeom prst="rect">
              <a:avLst/>
            </a:prstGeom>
            <a:solidFill>
              <a:srgbClr val="1F2535"/>
            </a:solidFill>
            <a:ln w="12700">
              <a:solidFill>
                <a:srgbClr val="2A3245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50" name="Text 48"/>
            <p:cNvSpPr/>
            <p:nvPr/>
          </p:nvSpPr>
          <p:spPr>
            <a:xfrm>
              <a:off x="1947672" y="2240280"/>
              <a:ext cx="1133856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EAE6D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Usage-based</a:t>
              </a:r>
              <a:endParaRPr lang="en-US" sz="850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3081528" y="2240280"/>
              <a:ext cx="548640" cy="329184"/>
            </a:xfrm>
            <a:prstGeom prst="rect">
              <a:avLst/>
            </a:prstGeom>
            <a:solidFill>
              <a:srgbClr val="1F2535"/>
            </a:solidFill>
            <a:ln w="12700">
              <a:solidFill>
                <a:srgbClr val="2A3245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Text 50"/>
            <p:cNvSpPr/>
            <p:nvPr/>
          </p:nvSpPr>
          <p:spPr>
            <a:xfrm>
              <a:off x="3136392" y="2240280"/>
              <a:ext cx="493776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8C95A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$20K</a:t>
              </a:r>
              <a:endParaRPr lang="en-US" sz="85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3630168" y="2240280"/>
              <a:ext cx="658368" cy="329184"/>
            </a:xfrm>
            <a:prstGeom prst="rect">
              <a:avLst/>
            </a:prstGeom>
            <a:solidFill>
              <a:srgbClr val="1F2535"/>
            </a:solidFill>
            <a:ln w="12700">
              <a:solidFill>
                <a:srgbClr val="2A3245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Text 52"/>
            <p:cNvSpPr/>
            <p:nvPr/>
          </p:nvSpPr>
          <p:spPr>
            <a:xfrm>
              <a:off x="3685032" y="2240280"/>
              <a:ext cx="603504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8C95A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$375K</a:t>
              </a:r>
              <a:endParaRPr lang="en-US" sz="85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4288536" y="2240280"/>
              <a:ext cx="658368" cy="329184"/>
            </a:xfrm>
            <a:prstGeom prst="rect">
              <a:avLst/>
            </a:prstGeom>
            <a:solidFill>
              <a:srgbClr val="1F2535"/>
            </a:solidFill>
            <a:ln w="12700">
              <a:solidFill>
                <a:srgbClr val="2A3245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56" name="Text 54"/>
            <p:cNvSpPr/>
            <p:nvPr/>
          </p:nvSpPr>
          <p:spPr>
            <a:xfrm>
              <a:off x="4343400" y="2240280"/>
              <a:ext cx="603504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8C95A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$3.1M</a:t>
              </a:r>
              <a:endParaRPr lang="en-US" sz="85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201168" y="2569464"/>
              <a:ext cx="1691640" cy="329184"/>
            </a:xfrm>
            <a:prstGeom prst="rect">
              <a:avLst/>
            </a:prstGeom>
            <a:solidFill>
              <a:srgbClr val="181D27"/>
            </a:solidFill>
            <a:ln w="12700">
              <a:solidFill>
                <a:srgbClr val="2A3245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58" name="Text 56"/>
            <p:cNvSpPr/>
            <p:nvPr/>
          </p:nvSpPr>
          <p:spPr>
            <a:xfrm>
              <a:off x="256032" y="2569464"/>
              <a:ext cx="1636776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EAE6D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Enterprise</a:t>
              </a:r>
              <a:endParaRPr lang="en-US" sz="90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1892808" y="2569464"/>
              <a:ext cx="1188720" cy="329184"/>
            </a:xfrm>
            <a:prstGeom prst="rect">
              <a:avLst/>
            </a:prstGeom>
            <a:solidFill>
              <a:srgbClr val="181D27"/>
            </a:solidFill>
            <a:ln w="12700">
              <a:solidFill>
                <a:srgbClr val="2A3245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60" name="Text 58"/>
            <p:cNvSpPr/>
            <p:nvPr/>
          </p:nvSpPr>
          <p:spPr>
            <a:xfrm>
              <a:off x="1947672" y="2569464"/>
              <a:ext cx="1133856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EAE6D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Variable</a:t>
              </a:r>
              <a:endParaRPr lang="en-US" sz="85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3081528" y="2569464"/>
              <a:ext cx="548640" cy="329184"/>
            </a:xfrm>
            <a:prstGeom prst="rect">
              <a:avLst/>
            </a:prstGeom>
            <a:solidFill>
              <a:srgbClr val="181D27"/>
            </a:solidFill>
            <a:ln w="12700">
              <a:solidFill>
                <a:srgbClr val="2A3245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62" name="Text 60"/>
            <p:cNvSpPr/>
            <p:nvPr/>
          </p:nvSpPr>
          <p:spPr>
            <a:xfrm>
              <a:off x="3136392" y="2569464"/>
              <a:ext cx="493776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8C95A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$10K</a:t>
              </a:r>
              <a:endParaRPr lang="en-US" sz="85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630168" y="2569464"/>
              <a:ext cx="658368" cy="329184"/>
            </a:xfrm>
            <a:prstGeom prst="rect">
              <a:avLst/>
            </a:prstGeom>
            <a:solidFill>
              <a:srgbClr val="181D27"/>
            </a:solidFill>
            <a:ln w="12700">
              <a:solidFill>
                <a:srgbClr val="2A3245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64" name="Text 62"/>
            <p:cNvSpPr/>
            <p:nvPr/>
          </p:nvSpPr>
          <p:spPr>
            <a:xfrm>
              <a:off x="3685032" y="2569464"/>
              <a:ext cx="603504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8C95A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$100K</a:t>
              </a:r>
              <a:endParaRPr lang="en-US" sz="85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4288536" y="2569464"/>
              <a:ext cx="658368" cy="329184"/>
            </a:xfrm>
            <a:prstGeom prst="rect">
              <a:avLst/>
            </a:prstGeom>
            <a:solidFill>
              <a:srgbClr val="181D27"/>
            </a:solidFill>
            <a:ln w="12700">
              <a:solidFill>
                <a:srgbClr val="2A3245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66" name="Text 64"/>
            <p:cNvSpPr/>
            <p:nvPr/>
          </p:nvSpPr>
          <p:spPr>
            <a:xfrm>
              <a:off x="4343400" y="2569464"/>
              <a:ext cx="603504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8C95A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$500K</a:t>
              </a:r>
              <a:endParaRPr lang="en-US" sz="85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201168" y="2898648"/>
              <a:ext cx="1691640" cy="329184"/>
            </a:xfrm>
            <a:prstGeom prst="rect">
              <a:avLst/>
            </a:prstGeom>
            <a:solidFill>
              <a:srgbClr val="232B3C"/>
            </a:solidFill>
            <a:ln w="12700">
              <a:solidFill>
                <a:srgbClr val="B8975A">
                  <a:alpha val="45000"/>
                </a:srgbClr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68" name="Text 66"/>
            <p:cNvSpPr/>
            <p:nvPr/>
          </p:nvSpPr>
          <p:spPr>
            <a:xfrm>
              <a:off x="256032" y="2898648"/>
              <a:ext cx="1636776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dirty="0">
                  <a:solidFill>
                    <a:srgbClr val="F5F3E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TOTAL</a:t>
              </a:r>
              <a:endParaRPr lang="en-US" sz="900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1892808" y="2898648"/>
              <a:ext cx="1188720" cy="329184"/>
            </a:xfrm>
            <a:prstGeom prst="rect">
              <a:avLst/>
            </a:prstGeom>
            <a:solidFill>
              <a:srgbClr val="232B3C"/>
            </a:solidFill>
            <a:ln w="12700">
              <a:solidFill>
                <a:srgbClr val="B8975A">
                  <a:alpha val="45000"/>
                </a:srgbClr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70" name="Text 68"/>
            <p:cNvSpPr/>
            <p:nvPr/>
          </p:nvSpPr>
          <p:spPr>
            <a:xfrm>
              <a:off x="1947672" y="2898648"/>
              <a:ext cx="1133856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90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3081528" y="2898648"/>
              <a:ext cx="548640" cy="329184"/>
            </a:xfrm>
            <a:prstGeom prst="rect">
              <a:avLst/>
            </a:prstGeom>
            <a:solidFill>
              <a:srgbClr val="232B3C"/>
            </a:solidFill>
            <a:ln w="12700">
              <a:solidFill>
                <a:srgbClr val="B8975A">
                  <a:alpha val="45000"/>
                </a:srgbClr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72" name="Text 70"/>
            <p:cNvSpPr/>
            <p:nvPr/>
          </p:nvSpPr>
          <p:spPr>
            <a:xfrm>
              <a:off x="3136392" y="2898648"/>
              <a:ext cx="493776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dirty="0">
                  <a:solidFill>
                    <a:srgbClr val="B8975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$355K</a:t>
              </a:r>
              <a:endParaRPr lang="en-US" sz="900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3630168" y="2898648"/>
              <a:ext cx="658368" cy="329184"/>
            </a:xfrm>
            <a:prstGeom prst="rect">
              <a:avLst/>
            </a:prstGeom>
            <a:solidFill>
              <a:srgbClr val="232B3C"/>
            </a:solidFill>
            <a:ln w="12700">
              <a:solidFill>
                <a:srgbClr val="B8975A">
                  <a:alpha val="45000"/>
                </a:srgbClr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74" name="Text 72"/>
            <p:cNvSpPr/>
            <p:nvPr/>
          </p:nvSpPr>
          <p:spPr>
            <a:xfrm>
              <a:off x="3685032" y="2898648"/>
              <a:ext cx="603504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dirty="0">
                  <a:solidFill>
                    <a:srgbClr val="B8975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$4M</a:t>
              </a:r>
              <a:endParaRPr lang="en-US" sz="900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4288536" y="2898648"/>
              <a:ext cx="658368" cy="329184"/>
            </a:xfrm>
            <a:prstGeom prst="rect">
              <a:avLst/>
            </a:prstGeom>
            <a:solidFill>
              <a:srgbClr val="232B3C"/>
            </a:solidFill>
            <a:ln w="12700">
              <a:solidFill>
                <a:srgbClr val="B8975A">
                  <a:alpha val="45000"/>
                </a:srgbClr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76" name="Text 74"/>
            <p:cNvSpPr/>
            <p:nvPr/>
          </p:nvSpPr>
          <p:spPr>
            <a:xfrm>
              <a:off x="4343400" y="2898648"/>
              <a:ext cx="603504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dirty="0">
                  <a:solidFill>
                    <a:srgbClr val="B8975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$34.6M</a:t>
              </a:r>
              <a:endParaRPr lang="en-US" sz="900" dirty="0"/>
            </a:p>
          </p:txBody>
        </p:sp>
      </p:grpSp>
      <p:sp>
        <p:nvSpPr>
          <p:cNvPr id="77" name="Shape 75"/>
          <p:cNvSpPr/>
          <p:nvPr/>
        </p:nvSpPr>
        <p:spPr>
          <a:xfrm>
            <a:off x="201168" y="3674387"/>
            <a:ext cx="1024128" cy="676656"/>
          </a:xfrm>
          <a:prstGeom prst="rect">
            <a:avLst/>
          </a:prstGeom>
          <a:solidFill>
            <a:srgbClr val="1F2535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8" name="Shape 76"/>
          <p:cNvSpPr/>
          <p:nvPr/>
        </p:nvSpPr>
        <p:spPr>
          <a:xfrm>
            <a:off x="201168" y="3674387"/>
            <a:ext cx="1024128" cy="36576"/>
          </a:xfrm>
          <a:prstGeom prst="rect">
            <a:avLst/>
          </a:prstGeom>
          <a:solidFill>
            <a:srgbClr val="B8975A"/>
          </a:solidFill>
          <a:ln w="12700">
            <a:solidFill>
              <a:srgbClr val="B8975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9" name="Text 77"/>
          <p:cNvSpPr/>
          <p:nvPr/>
        </p:nvSpPr>
        <p:spPr>
          <a:xfrm>
            <a:off x="201168" y="3720107"/>
            <a:ext cx="10241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50K</a:t>
            </a:r>
            <a:endParaRPr lang="en-US" sz="1800" dirty="0"/>
          </a:p>
        </p:txBody>
      </p:sp>
      <p:sp>
        <p:nvSpPr>
          <p:cNvPr id="80" name="Text 78"/>
          <p:cNvSpPr/>
          <p:nvPr/>
        </p:nvSpPr>
        <p:spPr>
          <a:xfrm>
            <a:off x="201168" y="4076723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C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Investors</a:t>
            </a:r>
            <a:endParaRPr lang="en-US" sz="750" dirty="0"/>
          </a:p>
        </p:txBody>
      </p:sp>
      <p:sp>
        <p:nvSpPr>
          <p:cNvPr id="81" name="Shape 79"/>
          <p:cNvSpPr/>
          <p:nvPr/>
        </p:nvSpPr>
        <p:spPr>
          <a:xfrm>
            <a:off x="1316736" y="3674387"/>
            <a:ext cx="1024128" cy="676656"/>
          </a:xfrm>
          <a:prstGeom prst="rect">
            <a:avLst/>
          </a:prstGeom>
          <a:solidFill>
            <a:srgbClr val="1F2535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2" name="Shape 80"/>
          <p:cNvSpPr/>
          <p:nvPr/>
        </p:nvSpPr>
        <p:spPr>
          <a:xfrm>
            <a:off x="1316736" y="3674387"/>
            <a:ext cx="1024128" cy="36576"/>
          </a:xfrm>
          <a:prstGeom prst="rect">
            <a:avLst/>
          </a:prstGeom>
          <a:solidFill>
            <a:srgbClr val="B8975A"/>
          </a:solidFill>
          <a:ln w="12700">
            <a:solidFill>
              <a:srgbClr val="B8975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3" name="Text 81"/>
          <p:cNvSpPr/>
          <p:nvPr/>
        </p:nvSpPr>
        <p:spPr>
          <a:xfrm>
            <a:off x="1316736" y="3720107"/>
            <a:ext cx="10241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</a:t>
            </a:r>
            <a:endParaRPr lang="en-US" sz="1800" dirty="0"/>
          </a:p>
        </p:txBody>
      </p:sp>
      <p:sp>
        <p:nvSpPr>
          <p:cNvPr id="84" name="Text 82"/>
          <p:cNvSpPr/>
          <p:nvPr/>
        </p:nvSpPr>
        <p:spPr>
          <a:xfrm>
            <a:off x="1316736" y="4076723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C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</a:t>
            </a:r>
            <a:endParaRPr lang="en-US" sz="750" dirty="0"/>
          </a:p>
        </p:txBody>
      </p:sp>
      <p:sp>
        <p:nvSpPr>
          <p:cNvPr id="85" name="Shape 83"/>
          <p:cNvSpPr/>
          <p:nvPr/>
        </p:nvSpPr>
        <p:spPr>
          <a:xfrm>
            <a:off x="2432304" y="3674387"/>
            <a:ext cx="1024128" cy="676656"/>
          </a:xfrm>
          <a:prstGeom prst="rect">
            <a:avLst/>
          </a:prstGeom>
          <a:solidFill>
            <a:srgbClr val="1F2535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6" name="Shape 84"/>
          <p:cNvSpPr/>
          <p:nvPr/>
        </p:nvSpPr>
        <p:spPr>
          <a:xfrm>
            <a:off x="2432304" y="3674387"/>
            <a:ext cx="1024128" cy="36576"/>
          </a:xfrm>
          <a:prstGeom prst="rect">
            <a:avLst/>
          </a:prstGeom>
          <a:solidFill>
            <a:srgbClr val="B8975A"/>
          </a:solidFill>
          <a:ln w="12700">
            <a:solidFill>
              <a:srgbClr val="B8975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7" name="Text 85"/>
          <p:cNvSpPr/>
          <p:nvPr/>
        </p:nvSpPr>
        <p:spPr>
          <a:xfrm>
            <a:off x="2432304" y="3720107"/>
            <a:ext cx="10241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85%</a:t>
            </a:r>
            <a:endParaRPr lang="en-US" sz="1800" dirty="0"/>
          </a:p>
        </p:txBody>
      </p:sp>
      <p:sp>
        <p:nvSpPr>
          <p:cNvPr id="88" name="Text 86"/>
          <p:cNvSpPr/>
          <p:nvPr/>
        </p:nvSpPr>
        <p:spPr>
          <a:xfrm>
            <a:off x="2432304" y="4076723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C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</a:t>
            </a:r>
            <a:endParaRPr lang="en-US" sz="750" dirty="0"/>
          </a:p>
        </p:txBody>
      </p:sp>
      <p:sp>
        <p:nvSpPr>
          <p:cNvPr id="89" name="Shape 87"/>
          <p:cNvSpPr/>
          <p:nvPr/>
        </p:nvSpPr>
        <p:spPr>
          <a:xfrm>
            <a:off x="3547872" y="3674387"/>
            <a:ext cx="1024128" cy="676656"/>
          </a:xfrm>
          <a:prstGeom prst="rect">
            <a:avLst/>
          </a:prstGeom>
          <a:solidFill>
            <a:srgbClr val="1F2535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0" name="Shape 88"/>
          <p:cNvSpPr/>
          <p:nvPr/>
        </p:nvSpPr>
        <p:spPr>
          <a:xfrm>
            <a:off x="3547872" y="3674387"/>
            <a:ext cx="1024128" cy="36576"/>
          </a:xfrm>
          <a:prstGeom prst="rect">
            <a:avLst/>
          </a:prstGeom>
          <a:solidFill>
            <a:srgbClr val="B8975A"/>
          </a:solidFill>
          <a:ln w="12700">
            <a:solidFill>
              <a:srgbClr val="B8975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1" name="Text 89"/>
          <p:cNvSpPr/>
          <p:nvPr/>
        </p:nvSpPr>
        <p:spPr>
          <a:xfrm>
            <a:off x="3547872" y="3720107"/>
            <a:ext cx="10241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$50M</a:t>
            </a:r>
            <a:endParaRPr lang="en-US" sz="1800" dirty="0"/>
          </a:p>
        </p:txBody>
      </p:sp>
      <p:sp>
        <p:nvSpPr>
          <p:cNvPr id="92" name="Text 90"/>
          <p:cNvSpPr/>
          <p:nvPr/>
        </p:nvSpPr>
        <p:spPr>
          <a:xfrm>
            <a:off x="3547872" y="4076723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C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</a:t>
            </a:r>
            <a:endParaRPr lang="en-US" sz="750" dirty="0"/>
          </a:p>
        </p:txBody>
      </p:sp>
      <p:sp>
        <p:nvSpPr>
          <p:cNvPr id="93" name="Shape 91"/>
          <p:cNvSpPr/>
          <p:nvPr/>
        </p:nvSpPr>
        <p:spPr>
          <a:xfrm>
            <a:off x="4846320" y="804672"/>
            <a:ext cx="0" cy="4206240"/>
          </a:xfrm>
          <a:prstGeom prst="line">
            <a:avLst/>
          </a:prstGeom>
          <a:noFill/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4" name="Text 92"/>
          <p:cNvSpPr/>
          <p:nvPr/>
        </p:nvSpPr>
        <p:spPr>
          <a:xfrm>
            <a:off x="5029200" y="804672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250" dirty="0">
                <a:solidFill>
                  <a:srgbClr val="525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700" dirty="0"/>
          </a:p>
        </p:txBody>
      </p:sp>
      <p:sp>
        <p:nvSpPr>
          <p:cNvPr id="95" name="Shape 93"/>
          <p:cNvSpPr/>
          <p:nvPr/>
        </p:nvSpPr>
        <p:spPr>
          <a:xfrm>
            <a:off x="5029200" y="1024128"/>
            <a:ext cx="3931920" cy="877824"/>
          </a:xfrm>
          <a:prstGeom prst="rect">
            <a:avLst/>
          </a:prstGeom>
          <a:solidFill>
            <a:srgbClr val="181D27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6" name="Shape 94"/>
          <p:cNvSpPr/>
          <p:nvPr/>
        </p:nvSpPr>
        <p:spPr>
          <a:xfrm>
            <a:off x="5029200" y="1024128"/>
            <a:ext cx="36576" cy="877824"/>
          </a:xfrm>
          <a:prstGeom prst="rect">
            <a:avLst/>
          </a:prstGeom>
          <a:solidFill>
            <a:srgbClr val="B8975A"/>
          </a:solidFill>
          <a:ln w="12700">
            <a:solidFill>
              <a:srgbClr val="B8975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7" name="Text 95"/>
          <p:cNvSpPr/>
          <p:nvPr/>
        </p:nvSpPr>
        <p:spPr>
          <a:xfrm>
            <a:off x="5102352" y="106070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B897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98" name="Text 96"/>
          <p:cNvSpPr/>
          <p:nvPr/>
        </p:nvSpPr>
        <p:spPr>
          <a:xfrm>
            <a:off x="5541264" y="109728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</a:t>
            </a:r>
            <a:endParaRPr lang="en-US" sz="1300" dirty="0"/>
          </a:p>
        </p:txBody>
      </p:sp>
      <p:sp>
        <p:nvSpPr>
          <p:cNvPr id="99" name="Text 97"/>
          <p:cNvSpPr/>
          <p:nvPr/>
        </p:nvSpPr>
        <p:spPr>
          <a:xfrm>
            <a:off x="7406640" y="1097280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B89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900" dirty="0"/>
          </a:p>
        </p:txBody>
      </p:sp>
      <p:sp>
        <p:nvSpPr>
          <p:cNvPr id="100" name="Text 98"/>
          <p:cNvSpPr/>
          <p:nvPr/>
        </p:nvSpPr>
        <p:spPr>
          <a:xfrm>
            <a:off x="5541264" y="1444752"/>
            <a:ext cx="3310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8C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Testnets deployed · 23 contracts verified · full feature set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5029200" y="2011680"/>
            <a:ext cx="3931920" cy="877824"/>
          </a:xfrm>
          <a:prstGeom prst="rect">
            <a:avLst/>
          </a:prstGeom>
          <a:solidFill>
            <a:srgbClr val="181D27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2" name="Shape 100"/>
          <p:cNvSpPr/>
          <p:nvPr/>
        </p:nvSpPr>
        <p:spPr>
          <a:xfrm>
            <a:off x="5029200" y="2011680"/>
            <a:ext cx="36576" cy="877824"/>
          </a:xfrm>
          <a:prstGeom prst="rect">
            <a:avLst/>
          </a:prstGeom>
          <a:solidFill>
            <a:srgbClr val="B8975A"/>
          </a:solidFill>
          <a:ln w="12700">
            <a:solidFill>
              <a:srgbClr val="B8975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3" name="Text 101"/>
          <p:cNvSpPr/>
          <p:nvPr/>
        </p:nvSpPr>
        <p:spPr>
          <a:xfrm>
            <a:off x="5102352" y="2048256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B897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4" name="Text 102"/>
          <p:cNvSpPr/>
          <p:nvPr/>
        </p:nvSpPr>
        <p:spPr>
          <a:xfrm>
            <a:off x="5541264" y="208483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Mainnet</a:t>
            </a:r>
            <a:endParaRPr lang="en-US" sz="1300" dirty="0"/>
          </a:p>
        </p:txBody>
      </p:sp>
      <p:sp>
        <p:nvSpPr>
          <p:cNvPr id="105" name="Text 103"/>
          <p:cNvSpPr/>
          <p:nvPr/>
        </p:nvSpPr>
        <p:spPr>
          <a:xfrm>
            <a:off x="7406640" y="2084832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B89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900" dirty="0"/>
          </a:p>
        </p:txBody>
      </p:sp>
      <p:sp>
        <p:nvSpPr>
          <p:cNvPr id="106" name="Text 104"/>
          <p:cNvSpPr/>
          <p:nvPr/>
        </p:nvSpPr>
        <p:spPr>
          <a:xfrm>
            <a:off x="5541264" y="2432304"/>
            <a:ext cx="3310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8C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audit · Avax + Polygon mainnet · first 5 pilots</a:t>
            </a:r>
            <a:endParaRPr lang="en-US" sz="850" dirty="0"/>
          </a:p>
        </p:txBody>
      </p:sp>
      <p:sp>
        <p:nvSpPr>
          <p:cNvPr id="107" name="Shape 105"/>
          <p:cNvSpPr/>
          <p:nvPr/>
        </p:nvSpPr>
        <p:spPr>
          <a:xfrm>
            <a:off x="5029200" y="2999232"/>
            <a:ext cx="3931920" cy="877824"/>
          </a:xfrm>
          <a:prstGeom prst="rect">
            <a:avLst/>
          </a:prstGeom>
          <a:solidFill>
            <a:srgbClr val="181D27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8" name="Text 106"/>
          <p:cNvSpPr/>
          <p:nvPr/>
        </p:nvSpPr>
        <p:spPr>
          <a:xfrm>
            <a:off x="5102352" y="30358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525C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09" name="Text 107"/>
          <p:cNvSpPr/>
          <p:nvPr/>
        </p:nvSpPr>
        <p:spPr>
          <a:xfrm>
            <a:off x="5541264" y="307238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</a:t>
            </a:r>
            <a:endParaRPr lang="en-US" sz="1300" dirty="0"/>
          </a:p>
        </p:txBody>
      </p:sp>
      <p:sp>
        <p:nvSpPr>
          <p:cNvPr id="110" name="Text 108"/>
          <p:cNvSpPr/>
          <p:nvPr/>
        </p:nvSpPr>
        <p:spPr>
          <a:xfrm>
            <a:off x="7406640" y="3072384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25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2027</a:t>
            </a:r>
            <a:endParaRPr lang="en-US" sz="900" dirty="0"/>
          </a:p>
        </p:txBody>
      </p:sp>
      <p:sp>
        <p:nvSpPr>
          <p:cNvPr id="111" name="Text 109"/>
          <p:cNvSpPr/>
          <p:nvPr/>
        </p:nvSpPr>
        <p:spPr>
          <a:xfrm>
            <a:off x="5541264" y="3419856"/>
            <a:ext cx="3310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8C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projects · 5,000 users · 6-chain · API integrations</a:t>
            </a:r>
            <a:endParaRPr lang="en-US" sz="850" dirty="0"/>
          </a:p>
        </p:txBody>
      </p:sp>
      <p:sp>
        <p:nvSpPr>
          <p:cNvPr id="112" name="Shape 110"/>
          <p:cNvSpPr/>
          <p:nvPr/>
        </p:nvSpPr>
        <p:spPr>
          <a:xfrm>
            <a:off x="5029200" y="3986784"/>
            <a:ext cx="3931920" cy="877824"/>
          </a:xfrm>
          <a:prstGeom prst="rect">
            <a:avLst/>
          </a:prstGeom>
          <a:solidFill>
            <a:srgbClr val="181D27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3" name="Text 111"/>
          <p:cNvSpPr/>
          <p:nvPr/>
        </p:nvSpPr>
        <p:spPr>
          <a:xfrm>
            <a:off x="5102352" y="402336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525C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14" name="Text 112"/>
          <p:cNvSpPr/>
          <p:nvPr/>
        </p:nvSpPr>
        <p:spPr>
          <a:xfrm>
            <a:off x="5541264" y="405993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Institutional</a:t>
            </a:r>
            <a:endParaRPr lang="en-US" sz="1300" dirty="0"/>
          </a:p>
        </p:txBody>
      </p:sp>
      <p:sp>
        <p:nvSpPr>
          <p:cNvPr id="115" name="Text 113"/>
          <p:cNvSpPr/>
          <p:nvPr/>
        </p:nvSpPr>
        <p:spPr>
          <a:xfrm>
            <a:off x="7406640" y="4059936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25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2027</a:t>
            </a:r>
            <a:endParaRPr lang="en-US" sz="900" dirty="0"/>
          </a:p>
        </p:txBody>
      </p:sp>
      <p:sp>
        <p:nvSpPr>
          <p:cNvPr id="116" name="Text 114"/>
          <p:cNvSpPr/>
          <p:nvPr/>
        </p:nvSpPr>
        <p:spPr>
          <a:xfrm>
            <a:off x="5541264" y="4407408"/>
            <a:ext cx="3310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8C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app · fiat on/off ramp · governance token · Series A</a:t>
            </a:r>
            <a:endParaRPr lang="en-US" sz="850" dirty="0"/>
          </a:p>
        </p:txBody>
      </p:sp>
      <p:sp>
        <p:nvSpPr>
          <p:cNvPr id="117" name="Text 115"/>
          <p:cNvSpPr/>
          <p:nvPr/>
        </p:nvSpPr>
        <p:spPr>
          <a:xfrm>
            <a:off x="5029200" y="4882896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B89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 ·  500 projects  ·  $50M TVL  ·  Series A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4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81D27"/>
          </a:solidFill>
          <a:ln w="12700">
            <a:solidFill>
              <a:srgbClr val="181D2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0292" cy="713232"/>
          </a:xfrm>
          <a:prstGeom prst="rect">
            <a:avLst/>
          </a:prstGeom>
          <a:solidFill>
            <a:srgbClr val="B8975A"/>
          </a:solidFill>
          <a:ln w="12700">
            <a:solidFill>
              <a:srgbClr val="B8975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182880" y="9144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300" dirty="0">
                <a:solidFill>
                  <a:srgbClr val="525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&amp; TEAM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182880" y="27432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Optimized Holding Architecture and Core Team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01168" y="822960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250" dirty="0">
                <a:solidFill>
                  <a:srgbClr val="525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&amp; FISCAL STRUCTURE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165518" y="1042416"/>
            <a:ext cx="2286000" cy="749808"/>
          </a:xfrm>
          <a:prstGeom prst="rect">
            <a:avLst/>
          </a:prstGeom>
          <a:solidFill>
            <a:srgbClr val="181D27"/>
          </a:solidFill>
          <a:ln w="12700">
            <a:solidFill>
              <a:srgbClr val="B8975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1165518" y="1042416"/>
            <a:ext cx="2286000" cy="36576"/>
          </a:xfrm>
          <a:prstGeom prst="rect">
            <a:avLst/>
          </a:prstGeom>
          <a:solidFill>
            <a:srgbClr val="B8975A"/>
          </a:solidFill>
          <a:ln w="12700">
            <a:solidFill>
              <a:srgbClr val="B8975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1165518" y="107899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kern="0" spc="150" dirty="0">
                <a:solidFill>
                  <a:srgbClr val="B89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HOLDING COMPANY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65518" y="124358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UAE · Switzerland · Luxembourg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165518" y="1499616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C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 corp tax · DIFC/ADGM</a:t>
            </a:r>
            <a:endParaRPr lang="en-US" sz="750" dirty="0"/>
          </a:p>
        </p:txBody>
      </p:sp>
      <p:grpSp>
        <p:nvGrpSpPr>
          <p:cNvPr id="117" name="Groupe 116">
            <a:extLst>
              <a:ext uri="{FF2B5EF4-FFF2-40B4-BE49-F238E27FC236}">
                <a16:creationId xmlns:a16="http://schemas.microsoft.com/office/drawing/2014/main" id="{589B046D-F4D4-F8EF-7592-5184561284CB}"/>
              </a:ext>
            </a:extLst>
          </p:cNvPr>
          <p:cNvGrpSpPr/>
          <p:nvPr/>
        </p:nvGrpSpPr>
        <p:grpSpPr>
          <a:xfrm>
            <a:off x="123835" y="1792224"/>
            <a:ext cx="4493885" cy="1133856"/>
            <a:chOff x="123835" y="1792224"/>
            <a:chExt cx="4663440" cy="1133856"/>
          </a:xfrm>
        </p:grpSpPr>
        <p:sp>
          <p:nvSpPr>
            <p:cNvPr id="12" name="Shape 10"/>
            <p:cNvSpPr/>
            <p:nvPr/>
          </p:nvSpPr>
          <p:spPr>
            <a:xfrm>
              <a:off x="654187" y="1792224"/>
              <a:ext cx="1463040" cy="0"/>
            </a:xfrm>
            <a:prstGeom prst="line">
              <a:avLst/>
            </a:prstGeom>
            <a:noFill/>
            <a:ln w="12700">
              <a:solidFill>
                <a:srgbClr val="2A3245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Shape 11"/>
            <p:cNvSpPr/>
            <p:nvPr/>
          </p:nvSpPr>
          <p:spPr>
            <a:xfrm>
              <a:off x="2436758" y="1792224"/>
              <a:ext cx="0" cy="292608"/>
            </a:xfrm>
            <a:prstGeom prst="line">
              <a:avLst/>
            </a:prstGeom>
            <a:noFill/>
            <a:ln w="12700">
              <a:solidFill>
                <a:srgbClr val="2A3245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Shape 12"/>
            <p:cNvSpPr/>
            <p:nvPr/>
          </p:nvSpPr>
          <p:spPr>
            <a:xfrm>
              <a:off x="2757307" y="1792224"/>
              <a:ext cx="1463040" cy="0"/>
            </a:xfrm>
            <a:prstGeom prst="line">
              <a:avLst/>
            </a:prstGeom>
            <a:noFill/>
            <a:ln w="12700">
              <a:solidFill>
                <a:srgbClr val="2A3245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Shape 13"/>
            <p:cNvSpPr/>
            <p:nvPr/>
          </p:nvSpPr>
          <p:spPr>
            <a:xfrm>
              <a:off x="654187" y="1792224"/>
              <a:ext cx="0" cy="292608"/>
            </a:xfrm>
            <a:prstGeom prst="line">
              <a:avLst/>
            </a:prstGeom>
            <a:noFill/>
            <a:ln w="12700">
              <a:solidFill>
                <a:srgbClr val="2A3245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Shape 14"/>
            <p:cNvSpPr/>
            <p:nvPr/>
          </p:nvSpPr>
          <p:spPr>
            <a:xfrm>
              <a:off x="4220347" y="1792224"/>
              <a:ext cx="0" cy="292608"/>
            </a:xfrm>
            <a:prstGeom prst="line">
              <a:avLst/>
            </a:prstGeom>
            <a:noFill/>
            <a:ln w="12700">
              <a:solidFill>
                <a:srgbClr val="2A3245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Shape 15"/>
            <p:cNvSpPr/>
            <p:nvPr/>
          </p:nvSpPr>
          <p:spPr>
            <a:xfrm>
              <a:off x="123835" y="2084832"/>
              <a:ext cx="1481328" cy="841248"/>
            </a:xfrm>
            <a:prstGeom prst="rect">
              <a:avLst/>
            </a:prstGeom>
            <a:solidFill>
              <a:srgbClr val="1F2535"/>
            </a:solidFill>
            <a:ln w="12700">
              <a:solidFill>
                <a:srgbClr val="2A3245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Shape 16"/>
            <p:cNvSpPr/>
            <p:nvPr/>
          </p:nvSpPr>
          <p:spPr>
            <a:xfrm>
              <a:off x="123835" y="2084832"/>
              <a:ext cx="1481328" cy="36576"/>
            </a:xfrm>
            <a:prstGeom prst="rect">
              <a:avLst/>
            </a:prstGeom>
            <a:solidFill>
              <a:srgbClr val="2A3245"/>
            </a:solidFill>
            <a:ln w="12700">
              <a:solidFill>
                <a:srgbClr val="2A3245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Text 17"/>
            <p:cNvSpPr/>
            <p:nvPr/>
          </p:nvSpPr>
          <p:spPr>
            <a:xfrm>
              <a:off x="215275" y="2139696"/>
              <a:ext cx="1316736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b="1" dirty="0">
                  <a:solidFill>
                    <a:srgbClr val="F5F3EE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Platform OpCo</a:t>
              </a:r>
              <a:endParaRPr lang="en-US" sz="9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15275" y="2395728"/>
              <a:ext cx="1316736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50" dirty="0">
                  <a:solidFill>
                    <a:srgbClr val="B8975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EU — Estonia/Malta</a:t>
              </a:r>
              <a:endParaRPr lang="en-US" sz="75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215275" y="2578608"/>
              <a:ext cx="1316736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50" dirty="0">
                  <a:solidFill>
                    <a:srgbClr val="8C95A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VASP · MiCA compliant</a:t>
              </a:r>
              <a:endParaRPr lang="en-US" sz="75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1714891" y="2084832"/>
              <a:ext cx="1481328" cy="841248"/>
            </a:xfrm>
            <a:prstGeom prst="rect">
              <a:avLst/>
            </a:prstGeom>
            <a:solidFill>
              <a:srgbClr val="1F2535"/>
            </a:solidFill>
            <a:ln w="12700">
              <a:solidFill>
                <a:srgbClr val="2A3245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Shape 21"/>
            <p:cNvSpPr/>
            <p:nvPr/>
          </p:nvSpPr>
          <p:spPr>
            <a:xfrm>
              <a:off x="1714891" y="2084832"/>
              <a:ext cx="1481328" cy="36576"/>
            </a:xfrm>
            <a:prstGeom prst="rect">
              <a:avLst/>
            </a:prstGeom>
            <a:solidFill>
              <a:srgbClr val="2A3245"/>
            </a:solidFill>
            <a:ln w="12700">
              <a:solidFill>
                <a:srgbClr val="2A3245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Text 22"/>
            <p:cNvSpPr/>
            <p:nvPr/>
          </p:nvSpPr>
          <p:spPr>
            <a:xfrm>
              <a:off x="1806331" y="2139696"/>
              <a:ext cx="1316736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b="1" dirty="0">
                  <a:solidFill>
                    <a:srgbClr val="F5F3EE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Tech Foundation</a:t>
              </a:r>
              <a:endParaRPr lang="en-US" sz="95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1806331" y="2395728"/>
              <a:ext cx="1316736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50" dirty="0">
                  <a:solidFill>
                    <a:srgbClr val="B8975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Cayman Islands / BVI</a:t>
              </a:r>
              <a:endParaRPr lang="en-US" sz="75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1806331" y="2578608"/>
              <a:ext cx="1316736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50" dirty="0">
                  <a:solidFill>
                    <a:srgbClr val="8C95A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IP · Tokens · Governance</a:t>
              </a:r>
              <a:endParaRPr lang="en-US" sz="75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305947" y="2084832"/>
              <a:ext cx="1481328" cy="841248"/>
            </a:xfrm>
            <a:prstGeom prst="rect">
              <a:avLst/>
            </a:prstGeom>
            <a:solidFill>
              <a:srgbClr val="1F2535"/>
            </a:solidFill>
            <a:ln w="12700">
              <a:solidFill>
                <a:srgbClr val="2A3245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Shape 26"/>
            <p:cNvSpPr/>
            <p:nvPr/>
          </p:nvSpPr>
          <p:spPr>
            <a:xfrm>
              <a:off x="3305947" y="2084832"/>
              <a:ext cx="1481328" cy="36576"/>
            </a:xfrm>
            <a:prstGeom prst="rect">
              <a:avLst/>
            </a:prstGeom>
            <a:solidFill>
              <a:srgbClr val="2A3245"/>
            </a:solidFill>
            <a:ln w="12700">
              <a:solidFill>
                <a:srgbClr val="2A3245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Text 27"/>
            <p:cNvSpPr/>
            <p:nvPr/>
          </p:nvSpPr>
          <p:spPr>
            <a:xfrm>
              <a:off x="3397387" y="2139696"/>
              <a:ext cx="1316736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b="1" dirty="0">
                  <a:solidFill>
                    <a:srgbClr val="F5F3EE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US Operations</a:t>
              </a:r>
              <a:endParaRPr lang="en-US" sz="95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3397387" y="2395728"/>
              <a:ext cx="1316736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50" dirty="0">
                  <a:solidFill>
                    <a:srgbClr val="B8975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Delaware LLC</a:t>
              </a:r>
              <a:endParaRPr lang="en-US" sz="75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3397387" y="2578608"/>
              <a:ext cx="1316736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50" dirty="0">
                  <a:solidFill>
                    <a:srgbClr val="8C95A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MSB · US investor access</a:t>
              </a:r>
              <a:endParaRPr lang="en-US" sz="750" dirty="0"/>
            </a:p>
          </p:txBody>
        </p:sp>
      </p:grpSp>
      <p:sp>
        <p:nvSpPr>
          <p:cNvPr id="32" name="Text 30"/>
          <p:cNvSpPr/>
          <p:nvPr/>
        </p:nvSpPr>
        <p:spPr>
          <a:xfrm>
            <a:off x="201168" y="3054096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250" dirty="0">
                <a:solidFill>
                  <a:srgbClr val="525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FISCAL BENEFITS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201168" y="3273552"/>
            <a:ext cx="804672" cy="347472"/>
          </a:xfrm>
          <a:prstGeom prst="rect">
            <a:avLst/>
          </a:prstGeom>
          <a:solidFill>
            <a:srgbClr val="181D27"/>
          </a:solidFill>
          <a:ln w="12700">
            <a:solidFill>
              <a:srgbClr val="B8975A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2"/>
          <p:cNvSpPr/>
          <p:nvPr/>
        </p:nvSpPr>
        <p:spPr>
          <a:xfrm>
            <a:off x="201168" y="3273552"/>
            <a:ext cx="804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0–9% Corp Tax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078992" y="3273552"/>
            <a:ext cx="804672" cy="347472"/>
          </a:xfrm>
          <a:prstGeom prst="rect">
            <a:avLst/>
          </a:prstGeom>
          <a:solidFill>
            <a:srgbClr val="181D27"/>
          </a:solidFill>
          <a:ln w="12700">
            <a:solidFill>
              <a:srgbClr val="B8975A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34"/>
          <p:cNvSpPr/>
          <p:nvPr/>
        </p:nvSpPr>
        <p:spPr>
          <a:xfrm>
            <a:off x="1078992" y="3273552"/>
            <a:ext cx="804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Pricing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1956816" y="3273552"/>
            <a:ext cx="804672" cy="347472"/>
          </a:xfrm>
          <a:prstGeom prst="rect">
            <a:avLst/>
          </a:prstGeom>
          <a:solidFill>
            <a:srgbClr val="181D27"/>
          </a:solidFill>
          <a:ln w="12700">
            <a:solidFill>
              <a:srgbClr val="B8975A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6"/>
          <p:cNvSpPr/>
          <p:nvPr/>
        </p:nvSpPr>
        <p:spPr>
          <a:xfrm>
            <a:off x="1956816" y="3273552"/>
            <a:ext cx="804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Split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2834640" y="3273552"/>
            <a:ext cx="804672" cy="347472"/>
          </a:xfrm>
          <a:prstGeom prst="rect">
            <a:avLst/>
          </a:prstGeom>
          <a:solidFill>
            <a:srgbClr val="181D27"/>
          </a:solidFill>
          <a:ln w="12700">
            <a:solidFill>
              <a:srgbClr val="B8975A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Text 38"/>
          <p:cNvSpPr/>
          <p:nvPr/>
        </p:nvSpPr>
        <p:spPr>
          <a:xfrm>
            <a:off x="2834640" y="3273552"/>
            <a:ext cx="804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Treaty Network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3712464" y="3273552"/>
            <a:ext cx="804672" cy="347472"/>
          </a:xfrm>
          <a:prstGeom prst="rect">
            <a:avLst/>
          </a:prstGeom>
          <a:solidFill>
            <a:srgbClr val="181D27"/>
          </a:solidFill>
          <a:ln w="12700">
            <a:solidFill>
              <a:srgbClr val="B8975A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Text 40"/>
          <p:cNvSpPr/>
          <p:nvPr/>
        </p:nvSpPr>
        <p:spPr>
          <a:xfrm>
            <a:off x="3712464" y="3273552"/>
            <a:ext cx="804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MiCA Passport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01168" y="3730752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525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subject to legal and tax counsel review.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4709160" y="804672"/>
            <a:ext cx="0" cy="4206240"/>
          </a:xfrm>
          <a:prstGeom prst="line">
            <a:avLst/>
          </a:prstGeom>
          <a:noFill/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5" name="Text 43"/>
          <p:cNvSpPr/>
          <p:nvPr/>
        </p:nvSpPr>
        <p:spPr>
          <a:xfrm>
            <a:off x="4892040" y="82296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250" dirty="0">
                <a:solidFill>
                  <a:srgbClr val="525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TEAM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4892040" y="1042416"/>
            <a:ext cx="1993392" cy="1719072"/>
          </a:xfrm>
          <a:prstGeom prst="rect">
            <a:avLst/>
          </a:prstGeom>
          <a:solidFill>
            <a:srgbClr val="181D27"/>
          </a:solidFill>
          <a:ln w="12700">
            <a:solidFill>
              <a:srgbClr val="2A3245"/>
            </a:solidFill>
            <a:prstDash val="solid"/>
          </a:ln>
          <a:effectLst>
            <a:outerShdw blurRad="152400" dist="50800" dir="87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7" name="Shape 45"/>
          <p:cNvSpPr/>
          <p:nvPr/>
        </p:nvSpPr>
        <p:spPr>
          <a:xfrm>
            <a:off x="4892040" y="1042416"/>
            <a:ext cx="1993392" cy="36576"/>
          </a:xfrm>
          <a:prstGeom prst="rect">
            <a:avLst/>
          </a:prstGeom>
          <a:solidFill>
            <a:srgbClr val="B8975A"/>
          </a:solidFill>
          <a:ln w="12700">
            <a:solidFill>
              <a:srgbClr val="B8975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8" name="Shape 46"/>
          <p:cNvSpPr/>
          <p:nvPr/>
        </p:nvSpPr>
        <p:spPr>
          <a:xfrm>
            <a:off x="4965192" y="1133856"/>
            <a:ext cx="640080" cy="640080"/>
          </a:xfrm>
          <a:prstGeom prst="ellipse">
            <a:avLst/>
          </a:prstGeom>
          <a:solidFill>
            <a:srgbClr val="232B3C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9" name="Text 47"/>
          <p:cNvSpPr/>
          <p:nvPr/>
        </p:nvSpPr>
        <p:spPr>
          <a:xfrm>
            <a:off x="4965192" y="113385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B897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5678424" y="1152144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Christopher F</a:t>
            </a:r>
          </a:p>
          <a:p>
            <a:pPr marL="0" indent="0">
              <a:buNone/>
            </a:pPr>
            <a:r>
              <a:rPr lang="en-US" sz="1000" b="1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Founder &amp; CEO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5678424" y="1426464"/>
            <a:ext cx="1133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B89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&amp; Vision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5678424" y="1636776"/>
            <a:ext cx="1133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8C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yrs FinTech &amp; Blockchain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4983480" y="1920240"/>
            <a:ext cx="1810512" cy="22860"/>
          </a:xfrm>
          <a:prstGeom prst="rect">
            <a:avLst/>
          </a:prstGeom>
          <a:solidFill>
            <a:srgbClr val="2A3245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4" name="Shape 52"/>
          <p:cNvSpPr/>
          <p:nvPr/>
        </p:nvSpPr>
        <p:spPr>
          <a:xfrm>
            <a:off x="4983480" y="1975104"/>
            <a:ext cx="1810512" cy="201168"/>
          </a:xfrm>
          <a:prstGeom prst="rect">
            <a:avLst/>
          </a:prstGeom>
          <a:solidFill>
            <a:srgbClr val="1F2535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5" name="Shape 53"/>
          <p:cNvSpPr/>
          <p:nvPr/>
        </p:nvSpPr>
        <p:spPr>
          <a:xfrm>
            <a:off x="4983480" y="1975104"/>
            <a:ext cx="27432" cy="201168"/>
          </a:xfrm>
          <a:prstGeom prst="rect">
            <a:avLst/>
          </a:prstGeom>
          <a:solidFill>
            <a:srgbClr val="B8975A">
              <a:alpha val="65000"/>
            </a:srgbClr>
          </a:solidFill>
          <a:ln w="12700">
            <a:solidFill>
              <a:srgbClr val="B8975A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6" name="Text 54"/>
          <p:cNvSpPr/>
          <p:nvPr/>
        </p:nvSpPr>
        <p:spPr>
          <a:xfrm>
            <a:off x="5056632" y="1975104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Tokenization Architecture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4983480" y="2212848"/>
            <a:ext cx="1810512" cy="201168"/>
          </a:xfrm>
          <a:prstGeom prst="rect">
            <a:avLst/>
          </a:prstGeom>
          <a:solidFill>
            <a:srgbClr val="1F2535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8" name="Shape 56"/>
          <p:cNvSpPr/>
          <p:nvPr/>
        </p:nvSpPr>
        <p:spPr>
          <a:xfrm>
            <a:off x="4983480" y="2212848"/>
            <a:ext cx="27432" cy="201168"/>
          </a:xfrm>
          <a:prstGeom prst="rect">
            <a:avLst/>
          </a:prstGeom>
          <a:solidFill>
            <a:srgbClr val="B8975A">
              <a:alpha val="65000"/>
            </a:srgbClr>
          </a:solidFill>
          <a:ln w="12700">
            <a:solidFill>
              <a:srgbClr val="B8975A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9" name="Text 57"/>
          <p:cNvSpPr/>
          <p:nvPr/>
        </p:nvSpPr>
        <p:spPr>
          <a:xfrm>
            <a:off x="5056632" y="2212848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Fundraising &amp; IR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4983480" y="2450592"/>
            <a:ext cx="1810512" cy="201168"/>
          </a:xfrm>
          <a:prstGeom prst="rect">
            <a:avLst/>
          </a:prstGeom>
          <a:solidFill>
            <a:srgbClr val="1F2535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1" name="Shape 59"/>
          <p:cNvSpPr/>
          <p:nvPr/>
        </p:nvSpPr>
        <p:spPr>
          <a:xfrm>
            <a:off x="4983480" y="2450592"/>
            <a:ext cx="27432" cy="201168"/>
          </a:xfrm>
          <a:prstGeom prst="rect">
            <a:avLst/>
          </a:prstGeom>
          <a:solidFill>
            <a:srgbClr val="B8975A">
              <a:alpha val="65000"/>
            </a:srgbClr>
          </a:solidFill>
          <a:ln w="12700">
            <a:solidFill>
              <a:srgbClr val="B8975A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2" name="Text 60"/>
          <p:cNvSpPr/>
          <p:nvPr/>
        </p:nvSpPr>
        <p:spPr>
          <a:xfrm>
            <a:off x="5056632" y="2450592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Strategy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7013448" y="1042416"/>
            <a:ext cx="1993392" cy="1719072"/>
          </a:xfrm>
          <a:prstGeom prst="rect">
            <a:avLst/>
          </a:prstGeom>
          <a:solidFill>
            <a:srgbClr val="181D27"/>
          </a:solidFill>
          <a:ln w="12700">
            <a:solidFill>
              <a:srgbClr val="2A3245"/>
            </a:solidFill>
            <a:prstDash val="solid"/>
          </a:ln>
          <a:effectLst>
            <a:outerShdw blurRad="152400" dist="50800" dir="87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4" name="Shape 62"/>
          <p:cNvSpPr/>
          <p:nvPr/>
        </p:nvSpPr>
        <p:spPr>
          <a:xfrm>
            <a:off x="7013448" y="1042416"/>
            <a:ext cx="1993392" cy="36576"/>
          </a:xfrm>
          <a:prstGeom prst="rect">
            <a:avLst/>
          </a:prstGeom>
          <a:solidFill>
            <a:srgbClr val="B8975A"/>
          </a:solidFill>
          <a:ln w="12700">
            <a:solidFill>
              <a:srgbClr val="B8975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5" name="Shape 63"/>
          <p:cNvSpPr/>
          <p:nvPr/>
        </p:nvSpPr>
        <p:spPr>
          <a:xfrm>
            <a:off x="7086600" y="1133856"/>
            <a:ext cx="640080" cy="640080"/>
          </a:xfrm>
          <a:prstGeom prst="ellipse">
            <a:avLst/>
          </a:prstGeom>
          <a:solidFill>
            <a:srgbClr val="232B3C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6" name="Text 64"/>
          <p:cNvSpPr/>
          <p:nvPr/>
        </p:nvSpPr>
        <p:spPr>
          <a:xfrm>
            <a:off x="7086600" y="113385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B897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2200" dirty="0"/>
          </a:p>
        </p:txBody>
      </p:sp>
      <p:sp>
        <p:nvSpPr>
          <p:cNvPr id="67" name="Text 65"/>
          <p:cNvSpPr/>
          <p:nvPr/>
        </p:nvSpPr>
        <p:spPr>
          <a:xfrm>
            <a:off x="7799832" y="1152144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Christopher F</a:t>
            </a:r>
          </a:p>
          <a:p>
            <a:pPr marL="0" indent="0">
              <a:buNone/>
            </a:pPr>
            <a:r>
              <a:rPr lang="en-US" sz="1000" b="1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CTO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7799832" y="1426464"/>
            <a:ext cx="1133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B89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&amp; Engineering</a:t>
            </a:r>
            <a:endParaRPr lang="en-US" sz="750" dirty="0"/>
          </a:p>
        </p:txBody>
      </p:sp>
      <p:sp>
        <p:nvSpPr>
          <p:cNvPr id="69" name="Text 67"/>
          <p:cNvSpPr/>
          <p:nvPr/>
        </p:nvSpPr>
        <p:spPr>
          <a:xfrm>
            <a:off x="7799832" y="1636776"/>
            <a:ext cx="1133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8C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contract expert, 8+ yrs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7104888" y="1920240"/>
            <a:ext cx="1810512" cy="22860"/>
          </a:xfrm>
          <a:prstGeom prst="rect">
            <a:avLst/>
          </a:prstGeom>
          <a:solidFill>
            <a:srgbClr val="2A3245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1" name="Shape 69"/>
          <p:cNvSpPr/>
          <p:nvPr/>
        </p:nvSpPr>
        <p:spPr>
          <a:xfrm>
            <a:off x="7104888" y="1975104"/>
            <a:ext cx="1810512" cy="201168"/>
          </a:xfrm>
          <a:prstGeom prst="rect">
            <a:avLst/>
          </a:prstGeom>
          <a:solidFill>
            <a:srgbClr val="1F2535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2" name="Shape 70"/>
          <p:cNvSpPr/>
          <p:nvPr/>
        </p:nvSpPr>
        <p:spPr>
          <a:xfrm>
            <a:off x="7104888" y="1975104"/>
            <a:ext cx="27432" cy="201168"/>
          </a:xfrm>
          <a:prstGeom prst="rect">
            <a:avLst/>
          </a:prstGeom>
          <a:solidFill>
            <a:srgbClr val="B8975A">
              <a:alpha val="65000"/>
            </a:srgbClr>
          </a:solidFill>
          <a:ln w="12700">
            <a:solidFill>
              <a:srgbClr val="B8975A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3" name="Text 71"/>
          <p:cNvSpPr/>
          <p:nvPr/>
        </p:nvSpPr>
        <p:spPr>
          <a:xfrm>
            <a:off x="7178040" y="1975104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Solidity / ERC-3643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7104888" y="2212848"/>
            <a:ext cx="1810512" cy="201168"/>
          </a:xfrm>
          <a:prstGeom prst="rect">
            <a:avLst/>
          </a:prstGeom>
          <a:solidFill>
            <a:srgbClr val="1F2535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5" name="Shape 73"/>
          <p:cNvSpPr/>
          <p:nvPr/>
        </p:nvSpPr>
        <p:spPr>
          <a:xfrm>
            <a:off x="7104888" y="2212848"/>
            <a:ext cx="27432" cy="201168"/>
          </a:xfrm>
          <a:prstGeom prst="rect">
            <a:avLst/>
          </a:prstGeom>
          <a:solidFill>
            <a:srgbClr val="B8975A">
              <a:alpha val="65000"/>
            </a:srgbClr>
          </a:solidFill>
          <a:ln w="12700">
            <a:solidFill>
              <a:srgbClr val="B8975A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6" name="Text 74"/>
          <p:cNvSpPr/>
          <p:nvPr/>
        </p:nvSpPr>
        <p:spPr>
          <a:xfrm>
            <a:off x="7178040" y="2212848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UUPS Proxies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7104888" y="2450592"/>
            <a:ext cx="1810512" cy="201168"/>
          </a:xfrm>
          <a:prstGeom prst="rect">
            <a:avLst/>
          </a:prstGeom>
          <a:solidFill>
            <a:srgbClr val="1F2535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8" name="Shape 76"/>
          <p:cNvSpPr/>
          <p:nvPr/>
        </p:nvSpPr>
        <p:spPr>
          <a:xfrm>
            <a:off x="7104888" y="2450592"/>
            <a:ext cx="27432" cy="201168"/>
          </a:xfrm>
          <a:prstGeom prst="rect">
            <a:avLst/>
          </a:prstGeom>
          <a:solidFill>
            <a:srgbClr val="B8975A">
              <a:alpha val="65000"/>
            </a:srgbClr>
          </a:solidFill>
          <a:ln w="12700">
            <a:solidFill>
              <a:srgbClr val="B8975A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9" name="Text 77"/>
          <p:cNvSpPr/>
          <p:nvPr/>
        </p:nvSpPr>
        <p:spPr>
          <a:xfrm>
            <a:off x="7178040" y="2450592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Multichain Infra</a:t>
            </a:r>
            <a:endParaRPr lang="en-US" sz="750" dirty="0"/>
          </a:p>
        </p:txBody>
      </p:sp>
      <p:sp>
        <p:nvSpPr>
          <p:cNvPr id="80" name="Shape 78"/>
          <p:cNvSpPr/>
          <p:nvPr/>
        </p:nvSpPr>
        <p:spPr>
          <a:xfrm>
            <a:off x="4892040" y="2889504"/>
            <a:ext cx="1993392" cy="1719072"/>
          </a:xfrm>
          <a:prstGeom prst="rect">
            <a:avLst/>
          </a:prstGeom>
          <a:solidFill>
            <a:srgbClr val="181D27"/>
          </a:solidFill>
          <a:ln w="12700">
            <a:solidFill>
              <a:srgbClr val="2A3245"/>
            </a:solidFill>
            <a:prstDash val="solid"/>
          </a:ln>
          <a:effectLst>
            <a:outerShdw blurRad="152400" dist="50800" dir="87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1" name="Shape 79"/>
          <p:cNvSpPr/>
          <p:nvPr/>
        </p:nvSpPr>
        <p:spPr>
          <a:xfrm>
            <a:off x="4892040" y="2889504"/>
            <a:ext cx="1993392" cy="36576"/>
          </a:xfrm>
          <a:prstGeom prst="rect">
            <a:avLst/>
          </a:prstGeom>
          <a:solidFill>
            <a:srgbClr val="B8975A"/>
          </a:solidFill>
          <a:ln w="12700">
            <a:solidFill>
              <a:srgbClr val="B8975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2" name="Shape 80"/>
          <p:cNvSpPr/>
          <p:nvPr/>
        </p:nvSpPr>
        <p:spPr>
          <a:xfrm>
            <a:off x="4965192" y="2980944"/>
            <a:ext cx="640080" cy="640080"/>
          </a:xfrm>
          <a:prstGeom prst="ellipse">
            <a:avLst/>
          </a:prstGeom>
          <a:solidFill>
            <a:srgbClr val="232B3C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3" name="Text 81"/>
          <p:cNvSpPr/>
          <p:nvPr/>
        </p:nvSpPr>
        <p:spPr>
          <a:xfrm>
            <a:off x="4965192" y="298094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B897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endParaRPr lang="en-US" sz="2200" dirty="0"/>
          </a:p>
        </p:txBody>
      </p:sp>
      <p:sp>
        <p:nvSpPr>
          <p:cNvPr id="84" name="Text 82"/>
          <p:cNvSpPr/>
          <p:nvPr/>
        </p:nvSpPr>
        <p:spPr>
          <a:xfrm>
            <a:off x="5678424" y="2999232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Lester T</a:t>
            </a:r>
            <a:br>
              <a:rPr lang="en-US" sz="1000" b="1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</a:br>
            <a:r>
              <a:rPr lang="en-US" sz="1000" b="1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Chief Legal Officer</a:t>
            </a:r>
            <a:endParaRPr lang="en-US" sz="1000" dirty="0"/>
          </a:p>
        </p:txBody>
      </p:sp>
      <p:sp>
        <p:nvSpPr>
          <p:cNvPr id="85" name="Text 83"/>
          <p:cNvSpPr/>
          <p:nvPr/>
        </p:nvSpPr>
        <p:spPr>
          <a:xfrm>
            <a:off x="5678424" y="3273552"/>
            <a:ext cx="1133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B89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&amp; Regulatory</a:t>
            </a:r>
            <a:endParaRPr lang="en-US" sz="750" dirty="0"/>
          </a:p>
        </p:txBody>
      </p:sp>
      <p:sp>
        <p:nvSpPr>
          <p:cNvPr id="86" name="Text 84"/>
          <p:cNvSpPr/>
          <p:nvPr/>
        </p:nvSpPr>
        <p:spPr>
          <a:xfrm>
            <a:off x="5678424" y="3483864"/>
            <a:ext cx="1133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8C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Securities law — EU &amp; US</a:t>
            </a:r>
            <a:endParaRPr lang="en-US" sz="750" dirty="0"/>
          </a:p>
        </p:txBody>
      </p:sp>
      <p:sp>
        <p:nvSpPr>
          <p:cNvPr id="87" name="Shape 85"/>
          <p:cNvSpPr/>
          <p:nvPr/>
        </p:nvSpPr>
        <p:spPr>
          <a:xfrm>
            <a:off x="4983480" y="3767328"/>
            <a:ext cx="1810512" cy="22860"/>
          </a:xfrm>
          <a:prstGeom prst="rect">
            <a:avLst/>
          </a:prstGeom>
          <a:solidFill>
            <a:srgbClr val="2A3245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8" name="Shape 86"/>
          <p:cNvSpPr/>
          <p:nvPr/>
        </p:nvSpPr>
        <p:spPr>
          <a:xfrm>
            <a:off x="4983480" y="3822192"/>
            <a:ext cx="1810512" cy="201168"/>
          </a:xfrm>
          <a:prstGeom prst="rect">
            <a:avLst/>
          </a:prstGeom>
          <a:solidFill>
            <a:srgbClr val="1F2535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9" name="Shape 87"/>
          <p:cNvSpPr/>
          <p:nvPr/>
        </p:nvSpPr>
        <p:spPr>
          <a:xfrm>
            <a:off x="4983480" y="3822192"/>
            <a:ext cx="27432" cy="201168"/>
          </a:xfrm>
          <a:prstGeom prst="rect">
            <a:avLst/>
          </a:prstGeom>
          <a:solidFill>
            <a:srgbClr val="B8975A">
              <a:alpha val="65000"/>
            </a:srgbClr>
          </a:solidFill>
          <a:ln w="12700">
            <a:solidFill>
              <a:srgbClr val="B8975A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0" name="Text 88"/>
          <p:cNvSpPr/>
          <p:nvPr/>
        </p:nvSpPr>
        <p:spPr>
          <a:xfrm>
            <a:off x="5056632" y="3822192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MiCA / VASP</a:t>
            </a:r>
            <a:endParaRPr lang="en-US" sz="750" dirty="0"/>
          </a:p>
        </p:txBody>
      </p:sp>
      <p:sp>
        <p:nvSpPr>
          <p:cNvPr id="91" name="Shape 89"/>
          <p:cNvSpPr/>
          <p:nvPr/>
        </p:nvSpPr>
        <p:spPr>
          <a:xfrm>
            <a:off x="4983480" y="4059936"/>
            <a:ext cx="1810512" cy="201168"/>
          </a:xfrm>
          <a:prstGeom prst="rect">
            <a:avLst/>
          </a:prstGeom>
          <a:solidFill>
            <a:srgbClr val="1F2535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2" name="Shape 90"/>
          <p:cNvSpPr/>
          <p:nvPr/>
        </p:nvSpPr>
        <p:spPr>
          <a:xfrm>
            <a:off x="4983480" y="4059936"/>
            <a:ext cx="27432" cy="201168"/>
          </a:xfrm>
          <a:prstGeom prst="rect">
            <a:avLst/>
          </a:prstGeom>
          <a:solidFill>
            <a:srgbClr val="B8975A">
              <a:alpha val="65000"/>
            </a:srgbClr>
          </a:solidFill>
          <a:ln w="12700">
            <a:solidFill>
              <a:srgbClr val="B8975A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3" name="Text 91"/>
          <p:cNvSpPr/>
          <p:nvPr/>
        </p:nvSpPr>
        <p:spPr>
          <a:xfrm>
            <a:off x="5056632" y="4059936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KYC/AML Frameworks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4983480" y="4297680"/>
            <a:ext cx="1810512" cy="201168"/>
          </a:xfrm>
          <a:prstGeom prst="rect">
            <a:avLst/>
          </a:prstGeom>
          <a:solidFill>
            <a:srgbClr val="1F2535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5" name="Shape 93"/>
          <p:cNvSpPr/>
          <p:nvPr/>
        </p:nvSpPr>
        <p:spPr>
          <a:xfrm>
            <a:off x="4983480" y="4297680"/>
            <a:ext cx="27432" cy="201168"/>
          </a:xfrm>
          <a:prstGeom prst="rect">
            <a:avLst/>
          </a:prstGeom>
          <a:solidFill>
            <a:srgbClr val="B8975A">
              <a:alpha val="65000"/>
            </a:srgbClr>
          </a:solidFill>
          <a:ln w="12700">
            <a:solidFill>
              <a:srgbClr val="B8975A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6" name="Text 94"/>
          <p:cNvSpPr/>
          <p:nvPr/>
        </p:nvSpPr>
        <p:spPr>
          <a:xfrm>
            <a:off x="5056632" y="4297680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Classification</a:t>
            </a:r>
            <a:endParaRPr lang="en-US" sz="750" dirty="0"/>
          </a:p>
        </p:txBody>
      </p:sp>
      <p:sp>
        <p:nvSpPr>
          <p:cNvPr id="97" name="Shape 95"/>
          <p:cNvSpPr/>
          <p:nvPr/>
        </p:nvSpPr>
        <p:spPr>
          <a:xfrm>
            <a:off x="7013448" y="2889504"/>
            <a:ext cx="1993392" cy="1719072"/>
          </a:xfrm>
          <a:prstGeom prst="rect">
            <a:avLst/>
          </a:prstGeom>
          <a:solidFill>
            <a:srgbClr val="181D27"/>
          </a:solidFill>
          <a:ln w="12700">
            <a:solidFill>
              <a:srgbClr val="2A3245"/>
            </a:solidFill>
            <a:prstDash val="solid"/>
          </a:ln>
          <a:effectLst>
            <a:outerShdw blurRad="152400" dist="50800" dir="87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8" name="Shape 96"/>
          <p:cNvSpPr/>
          <p:nvPr/>
        </p:nvSpPr>
        <p:spPr>
          <a:xfrm>
            <a:off x="7013448" y="2889504"/>
            <a:ext cx="1993392" cy="36576"/>
          </a:xfrm>
          <a:prstGeom prst="rect">
            <a:avLst/>
          </a:prstGeom>
          <a:solidFill>
            <a:srgbClr val="B8975A"/>
          </a:solidFill>
          <a:ln w="12700">
            <a:solidFill>
              <a:srgbClr val="B8975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9" name="Shape 97"/>
          <p:cNvSpPr/>
          <p:nvPr/>
        </p:nvSpPr>
        <p:spPr>
          <a:xfrm>
            <a:off x="7086600" y="2980944"/>
            <a:ext cx="640080" cy="640080"/>
          </a:xfrm>
          <a:prstGeom prst="ellipse">
            <a:avLst/>
          </a:prstGeom>
          <a:solidFill>
            <a:srgbClr val="232B3C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0" name="Text 98"/>
          <p:cNvSpPr/>
          <p:nvPr/>
        </p:nvSpPr>
        <p:spPr>
          <a:xfrm>
            <a:off x="7086600" y="298094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B897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2200" dirty="0"/>
          </a:p>
        </p:txBody>
      </p:sp>
      <p:sp>
        <p:nvSpPr>
          <p:cNvPr id="101" name="Text 99"/>
          <p:cNvSpPr/>
          <p:nvPr/>
        </p:nvSpPr>
        <p:spPr>
          <a:xfrm>
            <a:off x="7799832" y="2999232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Frances R</a:t>
            </a:r>
            <a:br>
              <a:rPr lang="en-US" sz="1000" b="1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</a:br>
            <a:r>
              <a:rPr lang="en-US" sz="1000" b="1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 of Growth</a:t>
            </a:r>
            <a:endParaRPr lang="en-US" sz="1000" dirty="0"/>
          </a:p>
        </p:txBody>
      </p:sp>
      <p:sp>
        <p:nvSpPr>
          <p:cNvPr id="102" name="Text 100"/>
          <p:cNvSpPr/>
          <p:nvPr/>
        </p:nvSpPr>
        <p:spPr>
          <a:xfrm>
            <a:off x="7799832" y="3273552"/>
            <a:ext cx="1133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B89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Development</a:t>
            </a:r>
            <a:endParaRPr lang="en-US" sz="750" dirty="0"/>
          </a:p>
        </p:txBody>
      </p:sp>
      <p:sp>
        <p:nvSpPr>
          <p:cNvPr id="103" name="Text 101"/>
          <p:cNvSpPr/>
          <p:nvPr/>
        </p:nvSpPr>
        <p:spPr>
          <a:xfrm>
            <a:off x="7799832" y="3483864"/>
            <a:ext cx="1133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8C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estate &amp; institutional</a:t>
            </a:r>
            <a:endParaRPr lang="en-US" sz="750" dirty="0"/>
          </a:p>
        </p:txBody>
      </p:sp>
      <p:sp>
        <p:nvSpPr>
          <p:cNvPr id="104" name="Shape 102"/>
          <p:cNvSpPr/>
          <p:nvPr/>
        </p:nvSpPr>
        <p:spPr>
          <a:xfrm>
            <a:off x="7104888" y="3767328"/>
            <a:ext cx="1810512" cy="22860"/>
          </a:xfrm>
          <a:prstGeom prst="rect">
            <a:avLst/>
          </a:prstGeom>
          <a:solidFill>
            <a:srgbClr val="2A3245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5" name="Shape 103"/>
          <p:cNvSpPr/>
          <p:nvPr/>
        </p:nvSpPr>
        <p:spPr>
          <a:xfrm>
            <a:off x="7104888" y="3822192"/>
            <a:ext cx="1810512" cy="201168"/>
          </a:xfrm>
          <a:prstGeom prst="rect">
            <a:avLst/>
          </a:prstGeom>
          <a:solidFill>
            <a:srgbClr val="1F2535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6" name="Shape 104"/>
          <p:cNvSpPr/>
          <p:nvPr/>
        </p:nvSpPr>
        <p:spPr>
          <a:xfrm>
            <a:off x="7104888" y="3822192"/>
            <a:ext cx="27432" cy="201168"/>
          </a:xfrm>
          <a:prstGeom prst="rect">
            <a:avLst/>
          </a:prstGeom>
          <a:solidFill>
            <a:srgbClr val="B8975A">
              <a:alpha val="65000"/>
            </a:srgbClr>
          </a:solidFill>
          <a:ln w="12700">
            <a:solidFill>
              <a:srgbClr val="B8975A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7" name="Text 105"/>
          <p:cNvSpPr/>
          <p:nvPr/>
        </p:nvSpPr>
        <p:spPr>
          <a:xfrm>
            <a:off x="7178040" y="3822192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Owner Acq.</a:t>
            </a:r>
            <a:endParaRPr lang="en-US" sz="750" dirty="0"/>
          </a:p>
        </p:txBody>
      </p:sp>
      <p:sp>
        <p:nvSpPr>
          <p:cNvPr id="108" name="Shape 106"/>
          <p:cNvSpPr/>
          <p:nvPr/>
        </p:nvSpPr>
        <p:spPr>
          <a:xfrm>
            <a:off x="7104888" y="4059936"/>
            <a:ext cx="1810512" cy="201168"/>
          </a:xfrm>
          <a:prstGeom prst="rect">
            <a:avLst/>
          </a:prstGeom>
          <a:solidFill>
            <a:srgbClr val="1F2535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9" name="Shape 107"/>
          <p:cNvSpPr/>
          <p:nvPr/>
        </p:nvSpPr>
        <p:spPr>
          <a:xfrm>
            <a:off x="7104888" y="4059936"/>
            <a:ext cx="27432" cy="201168"/>
          </a:xfrm>
          <a:prstGeom prst="rect">
            <a:avLst/>
          </a:prstGeom>
          <a:solidFill>
            <a:srgbClr val="B8975A">
              <a:alpha val="65000"/>
            </a:srgbClr>
          </a:solidFill>
          <a:ln w="12700">
            <a:solidFill>
              <a:srgbClr val="B8975A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0" name="Text 108"/>
          <p:cNvSpPr/>
          <p:nvPr/>
        </p:nvSpPr>
        <p:spPr>
          <a:xfrm>
            <a:off x="7178040" y="4059936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Exchange Partnerships</a:t>
            </a:r>
            <a:endParaRPr lang="en-US" sz="750" dirty="0"/>
          </a:p>
        </p:txBody>
      </p:sp>
      <p:sp>
        <p:nvSpPr>
          <p:cNvPr id="111" name="Shape 109"/>
          <p:cNvSpPr/>
          <p:nvPr/>
        </p:nvSpPr>
        <p:spPr>
          <a:xfrm>
            <a:off x="7104888" y="4297680"/>
            <a:ext cx="1810512" cy="201168"/>
          </a:xfrm>
          <a:prstGeom prst="rect">
            <a:avLst/>
          </a:prstGeom>
          <a:solidFill>
            <a:srgbClr val="1F2535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2" name="Shape 110"/>
          <p:cNvSpPr/>
          <p:nvPr/>
        </p:nvSpPr>
        <p:spPr>
          <a:xfrm>
            <a:off x="7104888" y="4297680"/>
            <a:ext cx="27432" cy="201168"/>
          </a:xfrm>
          <a:prstGeom prst="rect">
            <a:avLst/>
          </a:prstGeom>
          <a:solidFill>
            <a:srgbClr val="B8975A">
              <a:alpha val="65000"/>
            </a:srgbClr>
          </a:solidFill>
          <a:ln w="12700">
            <a:solidFill>
              <a:srgbClr val="B8975A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3" name="Text 111"/>
          <p:cNvSpPr/>
          <p:nvPr/>
        </p:nvSpPr>
        <p:spPr>
          <a:xfrm>
            <a:off x="7178040" y="4297680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GTM Strategy</a:t>
            </a:r>
            <a:endParaRPr lang="en-US" sz="750" dirty="0"/>
          </a:p>
        </p:txBody>
      </p:sp>
      <p:sp>
        <p:nvSpPr>
          <p:cNvPr id="114" name="Shape 112"/>
          <p:cNvSpPr/>
          <p:nvPr/>
        </p:nvSpPr>
        <p:spPr>
          <a:xfrm>
            <a:off x="0" y="4809744"/>
            <a:ext cx="9144000" cy="333756"/>
          </a:xfrm>
          <a:prstGeom prst="rect">
            <a:avLst/>
          </a:prstGeom>
          <a:solidFill>
            <a:srgbClr val="181D27"/>
          </a:solidFill>
          <a:ln w="12700">
            <a:solidFill>
              <a:srgbClr val="181D2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5" name="Shape 113"/>
          <p:cNvSpPr/>
          <p:nvPr/>
        </p:nvSpPr>
        <p:spPr>
          <a:xfrm>
            <a:off x="0" y="4809744"/>
            <a:ext cx="9144000" cy="27432"/>
          </a:xfrm>
          <a:prstGeom prst="rect">
            <a:avLst/>
          </a:prstGeom>
          <a:solidFill>
            <a:srgbClr val="2A3245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6" name="Text 114"/>
          <p:cNvSpPr/>
          <p:nvPr/>
        </p:nvSpPr>
        <p:spPr>
          <a:xfrm>
            <a:off x="201168" y="4837176"/>
            <a:ext cx="87416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525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ADVISORS  </a:t>
            </a:r>
            <a:r>
              <a:rPr lang="en-US" sz="850" dirty="0">
                <a:solidFill>
                  <a:srgbClr val="8C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Blockchain-specialized legal counsel  ·  Securities &amp; compliance experts  ·  International tax advisors  ·  RWA tokenization veterans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14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" y="9144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91440" y="60350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91440" y="111556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91440" y="162763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91440" y="213969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91440" y="265176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91440" y="316382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91440" y="367588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91440" y="418795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91440" y="470001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603504" y="9144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603504" y="60350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603504" y="111556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603504" y="162763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Shape 14"/>
          <p:cNvSpPr/>
          <p:nvPr/>
        </p:nvSpPr>
        <p:spPr>
          <a:xfrm>
            <a:off x="603504" y="213969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603504" y="265176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Shape 16"/>
          <p:cNvSpPr/>
          <p:nvPr/>
        </p:nvSpPr>
        <p:spPr>
          <a:xfrm>
            <a:off x="603504" y="316382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7"/>
          <p:cNvSpPr/>
          <p:nvPr/>
        </p:nvSpPr>
        <p:spPr>
          <a:xfrm>
            <a:off x="603504" y="367588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Shape 18"/>
          <p:cNvSpPr/>
          <p:nvPr/>
        </p:nvSpPr>
        <p:spPr>
          <a:xfrm>
            <a:off x="603504" y="418795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603504" y="470001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Shape 20"/>
          <p:cNvSpPr/>
          <p:nvPr/>
        </p:nvSpPr>
        <p:spPr>
          <a:xfrm>
            <a:off x="1115568" y="9144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Shape 21"/>
          <p:cNvSpPr/>
          <p:nvPr/>
        </p:nvSpPr>
        <p:spPr>
          <a:xfrm>
            <a:off x="1115568" y="60350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Shape 22"/>
          <p:cNvSpPr/>
          <p:nvPr/>
        </p:nvSpPr>
        <p:spPr>
          <a:xfrm>
            <a:off x="1115568" y="111556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Shape 23"/>
          <p:cNvSpPr/>
          <p:nvPr/>
        </p:nvSpPr>
        <p:spPr>
          <a:xfrm>
            <a:off x="1115568" y="162763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hape 24"/>
          <p:cNvSpPr/>
          <p:nvPr/>
        </p:nvSpPr>
        <p:spPr>
          <a:xfrm>
            <a:off x="1115568" y="213969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Shape 25"/>
          <p:cNvSpPr/>
          <p:nvPr/>
        </p:nvSpPr>
        <p:spPr>
          <a:xfrm>
            <a:off x="1115568" y="265176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Shape 26"/>
          <p:cNvSpPr/>
          <p:nvPr/>
        </p:nvSpPr>
        <p:spPr>
          <a:xfrm>
            <a:off x="1115568" y="316382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hape 27"/>
          <p:cNvSpPr/>
          <p:nvPr/>
        </p:nvSpPr>
        <p:spPr>
          <a:xfrm>
            <a:off x="1115568" y="367588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Shape 28"/>
          <p:cNvSpPr/>
          <p:nvPr/>
        </p:nvSpPr>
        <p:spPr>
          <a:xfrm>
            <a:off x="1115568" y="418795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Shape 29"/>
          <p:cNvSpPr/>
          <p:nvPr/>
        </p:nvSpPr>
        <p:spPr>
          <a:xfrm>
            <a:off x="1115568" y="470001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Shape 30"/>
          <p:cNvSpPr/>
          <p:nvPr/>
        </p:nvSpPr>
        <p:spPr>
          <a:xfrm>
            <a:off x="1627632" y="9144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Shape 31"/>
          <p:cNvSpPr/>
          <p:nvPr/>
        </p:nvSpPr>
        <p:spPr>
          <a:xfrm>
            <a:off x="1627632" y="60350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Shape 32"/>
          <p:cNvSpPr/>
          <p:nvPr/>
        </p:nvSpPr>
        <p:spPr>
          <a:xfrm>
            <a:off x="1627632" y="111556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Shape 33"/>
          <p:cNvSpPr/>
          <p:nvPr/>
        </p:nvSpPr>
        <p:spPr>
          <a:xfrm>
            <a:off x="1627632" y="162763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Shape 34"/>
          <p:cNvSpPr/>
          <p:nvPr/>
        </p:nvSpPr>
        <p:spPr>
          <a:xfrm>
            <a:off x="1627632" y="213969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Shape 35"/>
          <p:cNvSpPr/>
          <p:nvPr/>
        </p:nvSpPr>
        <p:spPr>
          <a:xfrm>
            <a:off x="1627632" y="265176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Shape 36"/>
          <p:cNvSpPr/>
          <p:nvPr/>
        </p:nvSpPr>
        <p:spPr>
          <a:xfrm>
            <a:off x="1627632" y="316382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Shape 37"/>
          <p:cNvSpPr/>
          <p:nvPr/>
        </p:nvSpPr>
        <p:spPr>
          <a:xfrm>
            <a:off x="1627632" y="367588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Shape 38"/>
          <p:cNvSpPr/>
          <p:nvPr/>
        </p:nvSpPr>
        <p:spPr>
          <a:xfrm>
            <a:off x="1627632" y="418795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1" name="Shape 39"/>
          <p:cNvSpPr/>
          <p:nvPr/>
        </p:nvSpPr>
        <p:spPr>
          <a:xfrm>
            <a:off x="1627632" y="470001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Shape 40"/>
          <p:cNvSpPr/>
          <p:nvPr/>
        </p:nvSpPr>
        <p:spPr>
          <a:xfrm>
            <a:off x="2139696" y="9144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3" name="Shape 41"/>
          <p:cNvSpPr/>
          <p:nvPr/>
        </p:nvSpPr>
        <p:spPr>
          <a:xfrm>
            <a:off x="2139696" y="60350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Shape 42"/>
          <p:cNvSpPr/>
          <p:nvPr/>
        </p:nvSpPr>
        <p:spPr>
          <a:xfrm>
            <a:off x="2139696" y="111556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5" name="Shape 43"/>
          <p:cNvSpPr/>
          <p:nvPr/>
        </p:nvSpPr>
        <p:spPr>
          <a:xfrm>
            <a:off x="2139696" y="162763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6" name="Shape 44"/>
          <p:cNvSpPr/>
          <p:nvPr/>
        </p:nvSpPr>
        <p:spPr>
          <a:xfrm>
            <a:off x="2139696" y="213969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7" name="Shape 45"/>
          <p:cNvSpPr/>
          <p:nvPr/>
        </p:nvSpPr>
        <p:spPr>
          <a:xfrm>
            <a:off x="2139696" y="265176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8" name="Shape 46"/>
          <p:cNvSpPr/>
          <p:nvPr/>
        </p:nvSpPr>
        <p:spPr>
          <a:xfrm>
            <a:off x="2139696" y="316382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9" name="Shape 47"/>
          <p:cNvSpPr/>
          <p:nvPr/>
        </p:nvSpPr>
        <p:spPr>
          <a:xfrm>
            <a:off x="2139696" y="367588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0" name="Shape 48"/>
          <p:cNvSpPr/>
          <p:nvPr/>
        </p:nvSpPr>
        <p:spPr>
          <a:xfrm>
            <a:off x="2139696" y="418795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1" name="Shape 49"/>
          <p:cNvSpPr/>
          <p:nvPr/>
        </p:nvSpPr>
        <p:spPr>
          <a:xfrm>
            <a:off x="2139696" y="470001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2" name="Shape 50"/>
          <p:cNvSpPr/>
          <p:nvPr/>
        </p:nvSpPr>
        <p:spPr>
          <a:xfrm>
            <a:off x="2651760" y="9144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3" name="Shape 51"/>
          <p:cNvSpPr/>
          <p:nvPr/>
        </p:nvSpPr>
        <p:spPr>
          <a:xfrm>
            <a:off x="2651760" y="60350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4" name="Shape 52"/>
          <p:cNvSpPr/>
          <p:nvPr/>
        </p:nvSpPr>
        <p:spPr>
          <a:xfrm>
            <a:off x="2651760" y="111556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5" name="Shape 53"/>
          <p:cNvSpPr/>
          <p:nvPr/>
        </p:nvSpPr>
        <p:spPr>
          <a:xfrm>
            <a:off x="2651760" y="162763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6" name="Shape 54"/>
          <p:cNvSpPr/>
          <p:nvPr/>
        </p:nvSpPr>
        <p:spPr>
          <a:xfrm>
            <a:off x="2651760" y="213969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7" name="Shape 55"/>
          <p:cNvSpPr/>
          <p:nvPr/>
        </p:nvSpPr>
        <p:spPr>
          <a:xfrm>
            <a:off x="2651760" y="265176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8" name="Shape 56"/>
          <p:cNvSpPr/>
          <p:nvPr/>
        </p:nvSpPr>
        <p:spPr>
          <a:xfrm>
            <a:off x="2651760" y="316382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9" name="Shape 57"/>
          <p:cNvSpPr/>
          <p:nvPr/>
        </p:nvSpPr>
        <p:spPr>
          <a:xfrm>
            <a:off x="2651760" y="367588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0" name="Shape 58"/>
          <p:cNvSpPr/>
          <p:nvPr/>
        </p:nvSpPr>
        <p:spPr>
          <a:xfrm>
            <a:off x="2651760" y="418795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1" name="Shape 59"/>
          <p:cNvSpPr/>
          <p:nvPr/>
        </p:nvSpPr>
        <p:spPr>
          <a:xfrm>
            <a:off x="2651760" y="470001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2" name="Shape 60"/>
          <p:cNvSpPr/>
          <p:nvPr/>
        </p:nvSpPr>
        <p:spPr>
          <a:xfrm>
            <a:off x="3163824" y="9144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3" name="Shape 61"/>
          <p:cNvSpPr/>
          <p:nvPr/>
        </p:nvSpPr>
        <p:spPr>
          <a:xfrm>
            <a:off x="3163824" y="60350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4" name="Shape 62"/>
          <p:cNvSpPr/>
          <p:nvPr/>
        </p:nvSpPr>
        <p:spPr>
          <a:xfrm>
            <a:off x="3163824" y="111556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5" name="Shape 63"/>
          <p:cNvSpPr/>
          <p:nvPr/>
        </p:nvSpPr>
        <p:spPr>
          <a:xfrm>
            <a:off x="3163824" y="162763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6" name="Shape 64"/>
          <p:cNvSpPr/>
          <p:nvPr/>
        </p:nvSpPr>
        <p:spPr>
          <a:xfrm>
            <a:off x="3163824" y="213969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7" name="Shape 65"/>
          <p:cNvSpPr/>
          <p:nvPr/>
        </p:nvSpPr>
        <p:spPr>
          <a:xfrm>
            <a:off x="3163824" y="265176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8" name="Shape 66"/>
          <p:cNvSpPr/>
          <p:nvPr/>
        </p:nvSpPr>
        <p:spPr>
          <a:xfrm>
            <a:off x="3163824" y="316382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9" name="Shape 67"/>
          <p:cNvSpPr/>
          <p:nvPr/>
        </p:nvSpPr>
        <p:spPr>
          <a:xfrm>
            <a:off x="3163824" y="367588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0" name="Shape 68"/>
          <p:cNvSpPr/>
          <p:nvPr/>
        </p:nvSpPr>
        <p:spPr>
          <a:xfrm>
            <a:off x="3163824" y="418795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1" name="Shape 69"/>
          <p:cNvSpPr/>
          <p:nvPr/>
        </p:nvSpPr>
        <p:spPr>
          <a:xfrm>
            <a:off x="3163824" y="470001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2" name="Shape 70"/>
          <p:cNvSpPr/>
          <p:nvPr/>
        </p:nvSpPr>
        <p:spPr>
          <a:xfrm>
            <a:off x="3675888" y="9144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3" name="Shape 71"/>
          <p:cNvSpPr/>
          <p:nvPr/>
        </p:nvSpPr>
        <p:spPr>
          <a:xfrm>
            <a:off x="3675888" y="60350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4" name="Shape 72"/>
          <p:cNvSpPr/>
          <p:nvPr/>
        </p:nvSpPr>
        <p:spPr>
          <a:xfrm>
            <a:off x="3675888" y="111556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5" name="Shape 73"/>
          <p:cNvSpPr/>
          <p:nvPr/>
        </p:nvSpPr>
        <p:spPr>
          <a:xfrm>
            <a:off x="3675888" y="162763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6" name="Shape 74"/>
          <p:cNvSpPr/>
          <p:nvPr/>
        </p:nvSpPr>
        <p:spPr>
          <a:xfrm>
            <a:off x="3675888" y="213969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7" name="Shape 75"/>
          <p:cNvSpPr/>
          <p:nvPr/>
        </p:nvSpPr>
        <p:spPr>
          <a:xfrm>
            <a:off x="3675888" y="265176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8" name="Shape 76"/>
          <p:cNvSpPr/>
          <p:nvPr/>
        </p:nvSpPr>
        <p:spPr>
          <a:xfrm>
            <a:off x="3675888" y="316382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9" name="Shape 77"/>
          <p:cNvSpPr/>
          <p:nvPr/>
        </p:nvSpPr>
        <p:spPr>
          <a:xfrm>
            <a:off x="3675888" y="367588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0" name="Shape 78"/>
          <p:cNvSpPr/>
          <p:nvPr/>
        </p:nvSpPr>
        <p:spPr>
          <a:xfrm>
            <a:off x="3675888" y="418795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1" name="Shape 79"/>
          <p:cNvSpPr/>
          <p:nvPr/>
        </p:nvSpPr>
        <p:spPr>
          <a:xfrm>
            <a:off x="3675888" y="470001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2" name="Shape 80"/>
          <p:cNvSpPr/>
          <p:nvPr/>
        </p:nvSpPr>
        <p:spPr>
          <a:xfrm>
            <a:off x="4187952" y="9144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3" name="Shape 81"/>
          <p:cNvSpPr/>
          <p:nvPr/>
        </p:nvSpPr>
        <p:spPr>
          <a:xfrm>
            <a:off x="4187952" y="60350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4" name="Shape 82"/>
          <p:cNvSpPr/>
          <p:nvPr/>
        </p:nvSpPr>
        <p:spPr>
          <a:xfrm>
            <a:off x="4187952" y="111556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5" name="Shape 83"/>
          <p:cNvSpPr/>
          <p:nvPr/>
        </p:nvSpPr>
        <p:spPr>
          <a:xfrm>
            <a:off x="4187952" y="162763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6" name="Shape 84"/>
          <p:cNvSpPr/>
          <p:nvPr/>
        </p:nvSpPr>
        <p:spPr>
          <a:xfrm>
            <a:off x="4187952" y="213969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7" name="Shape 85"/>
          <p:cNvSpPr/>
          <p:nvPr/>
        </p:nvSpPr>
        <p:spPr>
          <a:xfrm>
            <a:off x="4187952" y="265176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8" name="Shape 86"/>
          <p:cNvSpPr/>
          <p:nvPr/>
        </p:nvSpPr>
        <p:spPr>
          <a:xfrm>
            <a:off x="4187952" y="316382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9" name="Shape 87"/>
          <p:cNvSpPr/>
          <p:nvPr/>
        </p:nvSpPr>
        <p:spPr>
          <a:xfrm>
            <a:off x="4187952" y="367588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0" name="Shape 88"/>
          <p:cNvSpPr/>
          <p:nvPr/>
        </p:nvSpPr>
        <p:spPr>
          <a:xfrm>
            <a:off x="4187952" y="418795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1" name="Shape 89"/>
          <p:cNvSpPr/>
          <p:nvPr/>
        </p:nvSpPr>
        <p:spPr>
          <a:xfrm>
            <a:off x="4187952" y="470001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2" name="Shape 90"/>
          <p:cNvSpPr/>
          <p:nvPr/>
        </p:nvSpPr>
        <p:spPr>
          <a:xfrm>
            <a:off x="4700016" y="9144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3" name="Shape 91"/>
          <p:cNvSpPr/>
          <p:nvPr/>
        </p:nvSpPr>
        <p:spPr>
          <a:xfrm>
            <a:off x="4700016" y="60350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4" name="Shape 92"/>
          <p:cNvSpPr/>
          <p:nvPr/>
        </p:nvSpPr>
        <p:spPr>
          <a:xfrm>
            <a:off x="4700016" y="111556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5" name="Shape 93"/>
          <p:cNvSpPr/>
          <p:nvPr/>
        </p:nvSpPr>
        <p:spPr>
          <a:xfrm>
            <a:off x="4700016" y="162763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6" name="Shape 94"/>
          <p:cNvSpPr/>
          <p:nvPr/>
        </p:nvSpPr>
        <p:spPr>
          <a:xfrm>
            <a:off x="4700016" y="213969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7" name="Shape 95"/>
          <p:cNvSpPr/>
          <p:nvPr/>
        </p:nvSpPr>
        <p:spPr>
          <a:xfrm>
            <a:off x="4700016" y="265176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8" name="Shape 96"/>
          <p:cNvSpPr/>
          <p:nvPr/>
        </p:nvSpPr>
        <p:spPr>
          <a:xfrm>
            <a:off x="4700016" y="316382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9" name="Shape 97"/>
          <p:cNvSpPr/>
          <p:nvPr/>
        </p:nvSpPr>
        <p:spPr>
          <a:xfrm>
            <a:off x="4700016" y="367588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0" name="Shape 98"/>
          <p:cNvSpPr/>
          <p:nvPr/>
        </p:nvSpPr>
        <p:spPr>
          <a:xfrm>
            <a:off x="4700016" y="418795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1" name="Shape 99"/>
          <p:cNvSpPr/>
          <p:nvPr/>
        </p:nvSpPr>
        <p:spPr>
          <a:xfrm>
            <a:off x="4700016" y="470001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2" name="Shape 100"/>
          <p:cNvSpPr/>
          <p:nvPr/>
        </p:nvSpPr>
        <p:spPr>
          <a:xfrm>
            <a:off x="5212080" y="9144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3" name="Shape 101"/>
          <p:cNvSpPr/>
          <p:nvPr/>
        </p:nvSpPr>
        <p:spPr>
          <a:xfrm>
            <a:off x="5212080" y="60350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4" name="Shape 102"/>
          <p:cNvSpPr/>
          <p:nvPr/>
        </p:nvSpPr>
        <p:spPr>
          <a:xfrm>
            <a:off x="5212080" y="111556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5" name="Shape 103"/>
          <p:cNvSpPr/>
          <p:nvPr/>
        </p:nvSpPr>
        <p:spPr>
          <a:xfrm>
            <a:off x="5212080" y="162763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6" name="Shape 104"/>
          <p:cNvSpPr/>
          <p:nvPr/>
        </p:nvSpPr>
        <p:spPr>
          <a:xfrm>
            <a:off x="5212080" y="213969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7" name="Shape 105"/>
          <p:cNvSpPr/>
          <p:nvPr/>
        </p:nvSpPr>
        <p:spPr>
          <a:xfrm>
            <a:off x="5212080" y="265176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8" name="Shape 106"/>
          <p:cNvSpPr/>
          <p:nvPr/>
        </p:nvSpPr>
        <p:spPr>
          <a:xfrm>
            <a:off x="5212080" y="316382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9" name="Shape 107"/>
          <p:cNvSpPr/>
          <p:nvPr/>
        </p:nvSpPr>
        <p:spPr>
          <a:xfrm>
            <a:off x="5212080" y="367588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0" name="Shape 108"/>
          <p:cNvSpPr/>
          <p:nvPr/>
        </p:nvSpPr>
        <p:spPr>
          <a:xfrm>
            <a:off x="5212080" y="418795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1" name="Shape 109"/>
          <p:cNvSpPr/>
          <p:nvPr/>
        </p:nvSpPr>
        <p:spPr>
          <a:xfrm>
            <a:off x="5212080" y="470001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2" name="Shape 110"/>
          <p:cNvSpPr/>
          <p:nvPr/>
        </p:nvSpPr>
        <p:spPr>
          <a:xfrm>
            <a:off x="5724144" y="9144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3" name="Shape 111"/>
          <p:cNvSpPr/>
          <p:nvPr/>
        </p:nvSpPr>
        <p:spPr>
          <a:xfrm>
            <a:off x="5724144" y="60350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4" name="Shape 112"/>
          <p:cNvSpPr/>
          <p:nvPr/>
        </p:nvSpPr>
        <p:spPr>
          <a:xfrm>
            <a:off x="5724144" y="111556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5" name="Shape 113"/>
          <p:cNvSpPr/>
          <p:nvPr/>
        </p:nvSpPr>
        <p:spPr>
          <a:xfrm>
            <a:off x="5724144" y="162763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6" name="Shape 114"/>
          <p:cNvSpPr/>
          <p:nvPr/>
        </p:nvSpPr>
        <p:spPr>
          <a:xfrm>
            <a:off x="5724144" y="213969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7" name="Shape 115"/>
          <p:cNvSpPr/>
          <p:nvPr/>
        </p:nvSpPr>
        <p:spPr>
          <a:xfrm>
            <a:off x="5724144" y="265176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8" name="Shape 116"/>
          <p:cNvSpPr/>
          <p:nvPr/>
        </p:nvSpPr>
        <p:spPr>
          <a:xfrm>
            <a:off x="5724144" y="316382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9" name="Shape 117"/>
          <p:cNvSpPr/>
          <p:nvPr/>
        </p:nvSpPr>
        <p:spPr>
          <a:xfrm>
            <a:off x="5724144" y="367588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0" name="Shape 118"/>
          <p:cNvSpPr/>
          <p:nvPr/>
        </p:nvSpPr>
        <p:spPr>
          <a:xfrm>
            <a:off x="5724144" y="418795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2" name="Shape 120"/>
          <p:cNvSpPr/>
          <p:nvPr/>
        </p:nvSpPr>
        <p:spPr>
          <a:xfrm>
            <a:off x="6236208" y="9144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3" name="Shape 121"/>
          <p:cNvSpPr/>
          <p:nvPr/>
        </p:nvSpPr>
        <p:spPr>
          <a:xfrm>
            <a:off x="6236208" y="60350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4" name="Shape 122"/>
          <p:cNvSpPr/>
          <p:nvPr/>
        </p:nvSpPr>
        <p:spPr>
          <a:xfrm>
            <a:off x="6236208" y="111556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5" name="Shape 123"/>
          <p:cNvSpPr/>
          <p:nvPr/>
        </p:nvSpPr>
        <p:spPr>
          <a:xfrm>
            <a:off x="6236208" y="162763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6" name="Shape 124"/>
          <p:cNvSpPr/>
          <p:nvPr/>
        </p:nvSpPr>
        <p:spPr>
          <a:xfrm>
            <a:off x="6236208" y="213969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7" name="Shape 125"/>
          <p:cNvSpPr/>
          <p:nvPr/>
        </p:nvSpPr>
        <p:spPr>
          <a:xfrm>
            <a:off x="6236208" y="265176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8" name="Shape 126"/>
          <p:cNvSpPr/>
          <p:nvPr/>
        </p:nvSpPr>
        <p:spPr>
          <a:xfrm>
            <a:off x="6236208" y="316382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9" name="Shape 127"/>
          <p:cNvSpPr/>
          <p:nvPr/>
        </p:nvSpPr>
        <p:spPr>
          <a:xfrm>
            <a:off x="6236208" y="367588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0" name="Shape 128"/>
          <p:cNvSpPr/>
          <p:nvPr/>
        </p:nvSpPr>
        <p:spPr>
          <a:xfrm>
            <a:off x="6236208" y="418795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2" name="Shape 130"/>
          <p:cNvSpPr/>
          <p:nvPr/>
        </p:nvSpPr>
        <p:spPr>
          <a:xfrm>
            <a:off x="6748272" y="9144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3" name="Shape 131"/>
          <p:cNvSpPr/>
          <p:nvPr/>
        </p:nvSpPr>
        <p:spPr>
          <a:xfrm>
            <a:off x="6748272" y="60350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4" name="Shape 132"/>
          <p:cNvSpPr/>
          <p:nvPr/>
        </p:nvSpPr>
        <p:spPr>
          <a:xfrm>
            <a:off x="6748272" y="111556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5" name="Shape 133"/>
          <p:cNvSpPr/>
          <p:nvPr/>
        </p:nvSpPr>
        <p:spPr>
          <a:xfrm>
            <a:off x="6748272" y="162763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6" name="Shape 134"/>
          <p:cNvSpPr/>
          <p:nvPr/>
        </p:nvSpPr>
        <p:spPr>
          <a:xfrm>
            <a:off x="6748272" y="213969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7" name="Shape 135"/>
          <p:cNvSpPr/>
          <p:nvPr/>
        </p:nvSpPr>
        <p:spPr>
          <a:xfrm>
            <a:off x="6748272" y="265176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8" name="Shape 136"/>
          <p:cNvSpPr/>
          <p:nvPr/>
        </p:nvSpPr>
        <p:spPr>
          <a:xfrm>
            <a:off x="6748272" y="316382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9" name="Shape 137"/>
          <p:cNvSpPr/>
          <p:nvPr/>
        </p:nvSpPr>
        <p:spPr>
          <a:xfrm>
            <a:off x="6748272" y="367588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0" name="Shape 138"/>
          <p:cNvSpPr/>
          <p:nvPr/>
        </p:nvSpPr>
        <p:spPr>
          <a:xfrm>
            <a:off x="6748272" y="418795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2" name="Shape 140"/>
          <p:cNvSpPr/>
          <p:nvPr/>
        </p:nvSpPr>
        <p:spPr>
          <a:xfrm>
            <a:off x="7260336" y="9144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3" name="Shape 141"/>
          <p:cNvSpPr/>
          <p:nvPr/>
        </p:nvSpPr>
        <p:spPr>
          <a:xfrm>
            <a:off x="7260336" y="60350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4" name="Shape 142"/>
          <p:cNvSpPr/>
          <p:nvPr/>
        </p:nvSpPr>
        <p:spPr>
          <a:xfrm>
            <a:off x="7260336" y="111556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5" name="Shape 143"/>
          <p:cNvSpPr/>
          <p:nvPr/>
        </p:nvSpPr>
        <p:spPr>
          <a:xfrm>
            <a:off x="7260336" y="162763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6" name="Shape 144"/>
          <p:cNvSpPr/>
          <p:nvPr/>
        </p:nvSpPr>
        <p:spPr>
          <a:xfrm>
            <a:off x="7260336" y="213969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7" name="Shape 145"/>
          <p:cNvSpPr/>
          <p:nvPr/>
        </p:nvSpPr>
        <p:spPr>
          <a:xfrm>
            <a:off x="7260336" y="265176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8" name="Shape 146"/>
          <p:cNvSpPr/>
          <p:nvPr/>
        </p:nvSpPr>
        <p:spPr>
          <a:xfrm>
            <a:off x="7260336" y="316382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9" name="Shape 147"/>
          <p:cNvSpPr/>
          <p:nvPr/>
        </p:nvSpPr>
        <p:spPr>
          <a:xfrm>
            <a:off x="7260336" y="367588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0" name="Shape 148"/>
          <p:cNvSpPr/>
          <p:nvPr/>
        </p:nvSpPr>
        <p:spPr>
          <a:xfrm>
            <a:off x="7260336" y="418795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2" name="Shape 150"/>
          <p:cNvSpPr/>
          <p:nvPr/>
        </p:nvSpPr>
        <p:spPr>
          <a:xfrm>
            <a:off x="7772400" y="9144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3" name="Shape 151"/>
          <p:cNvSpPr/>
          <p:nvPr/>
        </p:nvSpPr>
        <p:spPr>
          <a:xfrm>
            <a:off x="7772400" y="60350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4" name="Shape 152"/>
          <p:cNvSpPr/>
          <p:nvPr/>
        </p:nvSpPr>
        <p:spPr>
          <a:xfrm>
            <a:off x="7772400" y="111556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5" name="Shape 153"/>
          <p:cNvSpPr/>
          <p:nvPr/>
        </p:nvSpPr>
        <p:spPr>
          <a:xfrm>
            <a:off x="7772400" y="162763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6" name="Shape 154"/>
          <p:cNvSpPr/>
          <p:nvPr/>
        </p:nvSpPr>
        <p:spPr>
          <a:xfrm>
            <a:off x="7772400" y="213969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7" name="Shape 155"/>
          <p:cNvSpPr/>
          <p:nvPr/>
        </p:nvSpPr>
        <p:spPr>
          <a:xfrm>
            <a:off x="7772400" y="265176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8" name="Shape 156"/>
          <p:cNvSpPr/>
          <p:nvPr/>
        </p:nvSpPr>
        <p:spPr>
          <a:xfrm>
            <a:off x="7772400" y="316382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9" name="Shape 157"/>
          <p:cNvSpPr/>
          <p:nvPr/>
        </p:nvSpPr>
        <p:spPr>
          <a:xfrm>
            <a:off x="7772400" y="367588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2" name="Shape 160"/>
          <p:cNvSpPr/>
          <p:nvPr/>
        </p:nvSpPr>
        <p:spPr>
          <a:xfrm>
            <a:off x="8284464" y="9144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3" name="Shape 161"/>
          <p:cNvSpPr/>
          <p:nvPr/>
        </p:nvSpPr>
        <p:spPr>
          <a:xfrm>
            <a:off x="8284464" y="60350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4" name="Shape 162"/>
          <p:cNvSpPr/>
          <p:nvPr/>
        </p:nvSpPr>
        <p:spPr>
          <a:xfrm>
            <a:off x="8284464" y="111556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5" name="Shape 163"/>
          <p:cNvSpPr/>
          <p:nvPr/>
        </p:nvSpPr>
        <p:spPr>
          <a:xfrm>
            <a:off x="8284464" y="162763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6" name="Shape 164"/>
          <p:cNvSpPr/>
          <p:nvPr/>
        </p:nvSpPr>
        <p:spPr>
          <a:xfrm>
            <a:off x="8284464" y="213969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7" name="Shape 165"/>
          <p:cNvSpPr/>
          <p:nvPr/>
        </p:nvSpPr>
        <p:spPr>
          <a:xfrm>
            <a:off x="8284464" y="265176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8" name="Shape 166"/>
          <p:cNvSpPr/>
          <p:nvPr/>
        </p:nvSpPr>
        <p:spPr>
          <a:xfrm>
            <a:off x="8284464" y="316382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9" name="Shape 167"/>
          <p:cNvSpPr/>
          <p:nvPr/>
        </p:nvSpPr>
        <p:spPr>
          <a:xfrm>
            <a:off x="8284464" y="367588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2" name="Shape 170"/>
          <p:cNvSpPr/>
          <p:nvPr/>
        </p:nvSpPr>
        <p:spPr>
          <a:xfrm>
            <a:off x="8796528" y="9144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3" name="Shape 171"/>
          <p:cNvSpPr/>
          <p:nvPr/>
        </p:nvSpPr>
        <p:spPr>
          <a:xfrm>
            <a:off x="8796528" y="60350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4" name="Shape 172"/>
          <p:cNvSpPr/>
          <p:nvPr/>
        </p:nvSpPr>
        <p:spPr>
          <a:xfrm>
            <a:off x="8796528" y="111556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5" name="Shape 173"/>
          <p:cNvSpPr/>
          <p:nvPr/>
        </p:nvSpPr>
        <p:spPr>
          <a:xfrm>
            <a:off x="8796528" y="1627632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6" name="Shape 174"/>
          <p:cNvSpPr/>
          <p:nvPr/>
        </p:nvSpPr>
        <p:spPr>
          <a:xfrm>
            <a:off x="8796528" y="2139696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7" name="Shape 175"/>
          <p:cNvSpPr/>
          <p:nvPr/>
        </p:nvSpPr>
        <p:spPr>
          <a:xfrm>
            <a:off x="8796528" y="2651760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8" name="Shape 176"/>
          <p:cNvSpPr/>
          <p:nvPr/>
        </p:nvSpPr>
        <p:spPr>
          <a:xfrm>
            <a:off x="8796528" y="3163824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9" name="Shape 177"/>
          <p:cNvSpPr/>
          <p:nvPr/>
        </p:nvSpPr>
        <p:spPr>
          <a:xfrm>
            <a:off x="8796528" y="3675888"/>
            <a:ext cx="32004" cy="32004"/>
          </a:xfrm>
          <a:prstGeom prst="ellipse">
            <a:avLst/>
          </a:prstGeom>
          <a:solidFill>
            <a:srgbClr val="525C6E">
              <a:alpha val="45000"/>
            </a:srgbClr>
          </a:solidFill>
          <a:ln w="12700">
            <a:solidFill>
              <a:srgbClr val="525C6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2" name="Shape 180"/>
          <p:cNvSpPr/>
          <p:nvPr/>
        </p:nvSpPr>
        <p:spPr>
          <a:xfrm>
            <a:off x="0" y="0"/>
            <a:ext cx="5486400" cy="5143500"/>
          </a:xfrm>
          <a:prstGeom prst="rect">
            <a:avLst/>
          </a:prstGeom>
          <a:solidFill>
            <a:srgbClr val="10141C"/>
          </a:solidFill>
          <a:ln w="12700">
            <a:solidFill>
              <a:srgbClr val="10141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3" name="Shape 181"/>
          <p:cNvSpPr/>
          <p:nvPr/>
        </p:nvSpPr>
        <p:spPr>
          <a:xfrm>
            <a:off x="457200" y="548640"/>
            <a:ext cx="41148" cy="4206240"/>
          </a:xfrm>
          <a:prstGeom prst="rect">
            <a:avLst/>
          </a:prstGeom>
          <a:solidFill>
            <a:srgbClr val="B8975A"/>
          </a:solidFill>
          <a:ln w="12700">
            <a:solidFill>
              <a:srgbClr val="B8975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4" name="Text 182"/>
          <p:cNvSpPr/>
          <p:nvPr/>
        </p:nvSpPr>
        <p:spPr>
          <a:xfrm>
            <a:off x="640080" y="640080"/>
            <a:ext cx="46634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BUILD</a:t>
            </a:r>
            <a:endParaRPr lang="en-US" sz="4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FUTURE</a:t>
            </a:r>
            <a:endParaRPr lang="en-US" sz="4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TOGETHER</a:t>
            </a:r>
            <a:endParaRPr lang="en-US" sz="4000" dirty="0"/>
          </a:p>
        </p:txBody>
      </p:sp>
      <p:sp>
        <p:nvSpPr>
          <p:cNvPr id="185" name="Shape 183"/>
          <p:cNvSpPr/>
          <p:nvPr/>
        </p:nvSpPr>
        <p:spPr>
          <a:xfrm>
            <a:off x="640080" y="2944368"/>
            <a:ext cx="2560320" cy="27432"/>
          </a:xfrm>
          <a:prstGeom prst="rect">
            <a:avLst/>
          </a:prstGeom>
          <a:solidFill>
            <a:srgbClr val="B8975A">
              <a:alpha val="55000"/>
            </a:srgbClr>
          </a:solidFill>
          <a:ln w="12700">
            <a:solidFill>
              <a:srgbClr val="B8975A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6" name="Text 184"/>
          <p:cNvSpPr/>
          <p:nvPr/>
        </p:nvSpPr>
        <p:spPr>
          <a:xfrm>
            <a:off x="640080" y="3090672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C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live on testnets today.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C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Mainnet deployment targeted Q2 2026.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C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Seeking $400K pre-seed at $2.7M valuation.</a:t>
            </a:r>
            <a:endParaRPr lang="en-US" sz="1200" dirty="0"/>
          </a:p>
        </p:txBody>
      </p:sp>
      <p:sp>
        <p:nvSpPr>
          <p:cNvPr id="187" name="Shape 185"/>
          <p:cNvSpPr/>
          <p:nvPr/>
        </p:nvSpPr>
        <p:spPr>
          <a:xfrm>
            <a:off x="640080" y="4114800"/>
            <a:ext cx="1078992" cy="804672"/>
          </a:xfrm>
          <a:prstGeom prst="rect">
            <a:avLst/>
          </a:prstGeom>
          <a:solidFill>
            <a:srgbClr val="181D27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8" name="Shape 186"/>
          <p:cNvSpPr/>
          <p:nvPr/>
        </p:nvSpPr>
        <p:spPr>
          <a:xfrm>
            <a:off x="640080" y="4114800"/>
            <a:ext cx="1078992" cy="36576"/>
          </a:xfrm>
          <a:prstGeom prst="rect">
            <a:avLst/>
          </a:prstGeom>
          <a:solidFill>
            <a:srgbClr val="B8975A"/>
          </a:solidFill>
          <a:ln w="12700">
            <a:solidFill>
              <a:srgbClr val="B8975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9" name="Text 187"/>
          <p:cNvSpPr/>
          <p:nvPr/>
        </p:nvSpPr>
        <p:spPr>
          <a:xfrm>
            <a:off x="640080" y="4169664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B897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4–10×</a:t>
            </a:r>
            <a:endParaRPr lang="en-US" sz="1500" dirty="0"/>
          </a:p>
        </p:txBody>
      </p:sp>
      <p:sp>
        <p:nvSpPr>
          <p:cNvPr id="190" name="Text 188"/>
          <p:cNvSpPr/>
          <p:nvPr/>
        </p:nvSpPr>
        <p:spPr>
          <a:xfrm>
            <a:off x="676656" y="4517136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750" dirty="0">
                <a:solidFill>
                  <a:srgbClr val="8C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 upside Pre-Seed → Series A</a:t>
            </a:r>
            <a:endParaRPr lang="en-US" sz="750" dirty="0"/>
          </a:p>
        </p:txBody>
      </p:sp>
      <p:sp>
        <p:nvSpPr>
          <p:cNvPr id="191" name="Shape 189"/>
          <p:cNvSpPr/>
          <p:nvPr/>
        </p:nvSpPr>
        <p:spPr>
          <a:xfrm>
            <a:off x="1810512" y="4114800"/>
            <a:ext cx="1078992" cy="804672"/>
          </a:xfrm>
          <a:prstGeom prst="rect">
            <a:avLst/>
          </a:prstGeom>
          <a:solidFill>
            <a:srgbClr val="181D27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2" name="Text 190"/>
          <p:cNvSpPr/>
          <p:nvPr/>
        </p:nvSpPr>
        <p:spPr>
          <a:xfrm>
            <a:off x="1810512" y="4169664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$16T</a:t>
            </a:r>
            <a:endParaRPr lang="en-US" sz="1500" dirty="0"/>
          </a:p>
        </p:txBody>
      </p:sp>
      <p:sp>
        <p:nvSpPr>
          <p:cNvPr id="193" name="Text 191"/>
          <p:cNvSpPr/>
          <p:nvPr/>
        </p:nvSpPr>
        <p:spPr>
          <a:xfrm>
            <a:off x="1847088" y="4517136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750" dirty="0">
                <a:solidFill>
                  <a:srgbClr val="8C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addressable market by 2030</a:t>
            </a:r>
            <a:endParaRPr lang="en-US" sz="750" dirty="0"/>
          </a:p>
        </p:txBody>
      </p:sp>
      <p:sp>
        <p:nvSpPr>
          <p:cNvPr id="194" name="Shape 192"/>
          <p:cNvSpPr/>
          <p:nvPr/>
        </p:nvSpPr>
        <p:spPr>
          <a:xfrm>
            <a:off x="2980944" y="4114800"/>
            <a:ext cx="1078992" cy="804672"/>
          </a:xfrm>
          <a:prstGeom prst="rect">
            <a:avLst/>
          </a:prstGeom>
          <a:solidFill>
            <a:srgbClr val="181D27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5" name="Text 193"/>
          <p:cNvSpPr/>
          <p:nvPr/>
        </p:nvSpPr>
        <p:spPr>
          <a:xfrm>
            <a:off x="2980944" y="4169664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ERC-3643</a:t>
            </a:r>
            <a:endParaRPr lang="en-US" sz="1500" dirty="0"/>
          </a:p>
        </p:txBody>
      </p:sp>
      <p:sp>
        <p:nvSpPr>
          <p:cNvPr id="196" name="Text 194"/>
          <p:cNvSpPr/>
          <p:nvPr/>
        </p:nvSpPr>
        <p:spPr>
          <a:xfrm>
            <a:off x="3017520" y="4517136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750" dirty="0">
                <a:solidFill>
                  <a:srgbClr val="8C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First-mover in compliant self-service</a:t>
            </a:r>
            <a:endParaRPr lang="en-US" sz="750" dirty="0"/>
          </a:p>
        </p:txBody>
      </p:sp>
      <p:sp>
        <p:nvSpPr>
          <p:cNvPr id="197" name="Shape 195"/>
          <p:cNvSpPr/>
          <p:nvPr/>
        </p:nvSpPr>
        <p:spPr>
          <a:xfrm>
            <a:off x="4151376" y="4114800"/>
            <a:ext cx="1078992" cy="804672"/>
          </a:xfrm>
          <a:prstGeom prst="rect">
            <a:avLst/>
          </a:prstGeom>
          <a:solidFill>
            <a:srgbClr val="181D27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8" name="Text 196"/>
          <p:cNvSpPr/>
          <p:nvPr/>
        </p:nvSpPr>
        <p:spPr>
          <a:xfrm>
            <a:off x="4151376" y="4169664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Board</a:t>
            </a:r>
            <a:endParaRPr lang="en-US" sz="1500" dirty="0"/>
          </a:p>
        </p:txBody>
      </p:sp>
      <p:sp>
        <p:nvSpPr>
          <p:cNvPr id="199" name="Text 197"/>
          <p:cNvSpPr/>
          <p:nvPr/>
        </p:nvSpPr>
        <p:spPr>
          <a:xfrm>
            <a:off x="4187952" y="4517136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750" dirty="0">
                <a:solidFill>
                  <a:srgbClr val="8C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Observer seat for $100K+ investors</a:t>
            </a:r>
            <a:endParaRPr lang="en-US" sz="750" dirty="0"/>
          </a:p>
        </p:txBody>
      </p:sp>
      <p:sp>
        <p:nvSpPr>
          <p:cNvPr id="200" name="Shape 198"/>
          <p:cNvSpPr/>
          <p:nvPr/>
        </p:nvSpPr>
        <p:spPr>
          <a:xfrm>
            <a:off x="5486400" y="0"/>
            <a:ext cx="3657600" cy="5143500"/>
          </a:xfrm>
          <a:prstGeom prst="rect">
            <a:avLst/>
          </a:prstGeom>
          <a:solidFill>
            <a:srgbClr val="181D27"/>
          </a:solidFill>
          <a:ln w="12700">
            <a:solidFill>
              <a:srgbClr val="181D2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1" name="Shape 199"/>
          <p:cNvSpPr/>
          <p:nvPr/>
        </p:nvSpPr>
        <p:spPr>
          <a:xfrm>
            <a:off x="5486400" y="0"/>
            <a:ext cx="36576" cy="5143500"/>
          </a:xfrm>
          <a:prstGeom prst="rect">
            <a:avLst/>
          </a:prstGeom>
          <a:solidFill>
            <a:srgbClr val="2A3245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2" name="Text 200"/>
          <p:cNvSpPr/>
          <p:nvPr/>
        </p:nvSpPr>
        <p:spPr>
          <a:xfrm>
            <a:off x="5669280" y="45720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250" dirty="0">
                <a:solidFill>
                  <a:srgbClr val="525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</a:t>
            </a:r>
            <a:endParaRPr lang="en-US" sz="700" dirty="0"/>
          </a:p>
        </p:txBody>
      </p:sp>
      <p:sp>
        <p:nvSpPr>
          <p:cNvPr id="203" name="Shape 201"/>
          <p:cNvSpPr/>
          <p:nvPr/>
        </p:nvSpPr>
        <p:spPr>
          <a:xfrm>
            <a:off x="5687568" y="713232"/>
            <a:ext cx="3255264" cy="402336"/>
          </a:xfrm>
          <a:prstGeom prst="rect">
            <a:avLst/>
          </a:prstGeom>
          <a:solidFill>
            <a:srgbClr val="1F2535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4" name="Text 202"/>
          <p:cNvSpPr/>
          <p:nvPr/>
        </p:nvSpPr>
        <p:spPr>
          <a:xfrm>
            <a:off x="5779008" y="71323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525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750" dirty="0"/>
          </a:p>
        </p:txBody>
      </p:sp>
      <p:sp>
        <p:nvSpPr>
          <p:cNvPr id="205" name="Text 203"/>
          <p:cNvSpPr/>
          <p:nvPr/>
        </p:nvSpPr>
        <p:spPr>
          <a:xfrm>
            <a:off x="6601968" y="713232"/>
            <a:ext cx="2249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christopher@sermiumglobal.com</a:t>
            </a:r>
            <a:endParaRPr lang="en-US" sz="950" dirty="0"/>
          </a:p>
        </p:txBody>
      </p:sp>
      <p:sp>
        <p:nvSpPr>
          <p:cNvPr id="206" name="Shape 204"/>
          <p:cNvSpPr/>
          <p:nvPr/>
        </p:nvSpPr>
        <p:spPr>
          <a:xfrm>
            <a:off x="5687568" y="1188720"/>
            <a:ext cx="3255264" cy="402336"/>
          </a:xfrm>
          <a:prstGeom prst="rect">
            <a:avLst/>
          </a:prstGeom>
          <a:solidFill>
            <a:srgbClr val="1F2535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7" name="Text 205"/>
          <p:cNvSpPr/>
          <p:nvPr/>
        </p:nvSpPr>
        <p:spPr>
          <a:xfrm>
            <a:off x="5779008" y="118872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525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</a:t>
            </a:r>
            <a:endParaRPr lang="en-US" sz="750" dirty="0"/>
          </a:p>
        </p:txBody>
      </p:sp>
      <p:sp>
        <p:nvSpPr>
          <p:cNvPr id="208" name="Text 206"/>
          <p:cNvSpPr/>
          <p:nvPr/>
        </p:nvSpPr>
        <p:spPr>
          <a:xfrm>
            <a:off x="6601968" y="1188720"/>
            <a:ext cx="2249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TBD.com</a:t>
            </a:r>
            <a:endParaRPr lang="en-US" sz="950" dirty="0"/>
          </a:p>
        </p:txBody>
      </p:sp>
      <p:sp>
        <p:nvSpPr>
          <p:cNvPr id="209" name="Shape 207"/>
          <p:cNvSpPr/>
          <p:nvPr/>
        </p:nvSpPr>
        <p:spPr>
          <a:xfrm>
            <a:off x="5687568" y="1664208"/>
            <a:ext cx="3255264" cy="402336"/>
          </a:xfrm>
          <a:prstGeom prst="rect">
            <a:avLst/>
          </a:prstGeom>
          <a:solidFill>
            <a:srgbClr val="1F2535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0" name="Text 208"/>
          <p:cNvSpPr/>
          <p:nvPr/>
        </p:nvSpPr>
        <p:spPr>
          <a:xfrm>
            <a:off x="5779008" y="166420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525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750" dirty="0"/>
          </a:p>
        </p:txBody>
      </p:sp>
      <p:sp>
        <p:nvSpPr>
          <p:cNvPr id="211" name="Text 209"/>
          <p:cNvSpPr/>
          <p:nvPr/>
        </p:nvSpPr>
        <p:spPr>
          <a:xfrm>
            <a:off x="6601968" y="1664208"/>
            <a:ext cx="2249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rwa-launchpad-frontend.vercel.app</a:t>
            </a:r>
            <a:endParaRPr lang="en-US" sz="950" dirty="0"/>
          </a:p>
        </p:txBody>
      </p:sp>
      <p:sp>
        <p:nvSpPr>
          <p:cNvPr id="212" name="Shape 210"/>
          <p:cNvSpPr/>
          <p:nvPr/>
        </p:nvSpPr>
        <p:spPr>
          <a:xfrm>
            <a:off x="5687568" y="2139696"/>
            <a:ext cx="3255264" cy="402336"/>
          </a:xfrm>
          <a:prstGeom prst="rect">
            <a:avLst/>
          </a:prstGeom>
          <a:solidFill>
            <a:srgbClr val="1F2535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3" name="Text 211"/>
          <p:cNvSpPr/>
          <p:nvPr/>
        </p:nvSpPr>
        <p:spPr>
          <a:xfrm>
            <a:off x="5779008" y="213969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525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Twitter</a:t>
            </a:r>
            <a:endParaRPr lang="en-US" sz="750" dirty="0"/>
          </a:p>
        </p:txBody>
      </p:sp>
      <p:sp>
        <p:nvSpPr>
          <p:cNvPr id="214" name="Text 212"/>
          <p:cNvSpPr/>
          <p:nvPr/>
        </p:nvSpPr>
        <p:spPr>
          <a:xfrm>
            <a:off x="6601968" y="2139696"/>
            <a:ext cx="2249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@TBD</a:t>
            </a:r>
            <a:endParaRPr lang="en-US" sz="950" dirty="0"/>
          </a:p>
        </p:txBody>
      </p:sp>
      <p:sp>
        <p:nvSpPr>
          <p:cNvPr id="215" name="Shape 213"/>
          <p:cNvSpPr/>
          <p:nvPr/>
        </p:nvSpPr>
        <p:spPr>
          <a:xfrm>
            <a:off x="5687568" y="2615184"/>
            <a:ext cx="3255264" cy="402336"/>
          </a:xfrm>
          <a:prstGeom prst="rect">
            <a:avLst/>
          </a:prstGeom>
          <a:solidFill>
            <a:srgbClr val="1F2535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6" name="Text 214"/>
          <p:cNvSpPr/>
          <p:nvPr/>
        </p:nvSpPr>
        <p:spPr>
          <a:xfrm>
            <a:off x="5779008" y="261518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525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</a:t>
            </a:r>
            <a:endParaRPr lang="en-US" sz="750" dirty="0"/>
          </a:p>
        </p:txBody>
      </p:sp>
      <p:sp>
        <p:nvSpPr>
          <p:cNvPr id="217" name="Text 215"/>
          <p:cNvSpPr/>
          <p:nvPr/>
        </p:nvSpPr>
        <p:spPr>
          <a:xfrm>
            <a:off x="6601968" y="2615184"/>
            <a:ext cx="2249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@TBD</a:t>
            </a:r>
            <a:endParaRPr lang="en-US" sz="950" dirty="0"/>
          </a:p>
        </p:txBody>
      </p:sp>
      <p:sp>
        <p:nvSpPr>
          <p:cNvPr id="218" name="Shape 216"/>
          <p:cNvSpPr/>
          <p:nvPr/>
        </p:nvSpPr>
        <p:spPr>
          <a:xfrm>
            <a:off x="5687568" y="3090672"/>
            <a:ext cx="3255264" cy="402336"/>
          </a:xfrm>
          <a:prstGeom prst="rect">
            <a:avLst/>
          </a:prstGeom>
          <a:solidFill>
            <a:srgbClr val="1F2535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9" name="Text 217"/>
          <p:cNvSpPr/>
          <p:nvPr/>
        </p:nvSpPr>
        <p:spPr>
          <a:xfrm>
            <a:off x="5779008" y="309067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525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</a:t>
            </a:r>
            <a:endParaRPr lang="en-US" sz="750" dirty="0"/>
          </a:p>
        </p:txBody>
      </p:sp>
      <p:sp>
        <p:nvSpPr>
          <p:cNvPr id="220" name="Text 218"/>
          <p:cNvSpPr/>
          <p:nvPr/>
        </p:nvSpPr>
        <p:spPr>
          <a:xfrm>
            <a:off x="6601968" y="3090672"/>
            <a:ext cx="2249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linkedin.com/company/TBD</a:t>
            </a:r>
            <a:endParaRPr lang="en-US" sz="950" dirty="0"/>
          </a:p>
        </p:txBody>
      </p:sp>
      <p:sp>
        <p:nvSpPr>
          <p:cNvPr id="221" name="Shape 219"/>
          <p:cNvSpPr/>
          <p:nvPr/>
        </p:nvSpPr>
        <p:spPr>
          <a:xfrm>
            <a:off x="6035040" y="3639312"/>
            <a:ext cx="2560320" cy="27432"/>
          </a:xfrm>
          <a:prstGeom prst="rect">
            <a:avLst/>
          </a:prstGeom>
          <a:solidFill>
            <a:srgbClr val="2A3245"/>
          </a:solidFill>
          <a:ln w="12700">
            <a:solidFill>
              <a:srgbClr val="2A3245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2" name="Text 220"/>
          <p:cNvSpPr/>
          <p:nvPr/>
        </p:nvSpPr>
        <p:spPr>
          <a:xfrm>
            <a:off x="5687568" y="3749040"/>
            <a:ext cx="3255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250" dirty="0">
                <a:solidFill>
                  <a:srgbClr val="525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LIVE ON</a:t>
            </a:r>
            <a:endParaRPr lang="en-US" sz="700" dirty="0"/>
          </a:p>
        </p:txBody>
      </p:sp>
      <p:sp>
        <p:nvSpPr>
          <p:cNvPr id="223" name="Shape 221"/>
          <p:cNvSpPr/>
          <p:nvPr/>
        </p:nvSpPr>
        <p:spPr>
          <a:xfrm>
            <a:off x="5760720" y="4055111"/>
            <a:ext cx="91440" cy="91440"/>
          </a:xfrm>
          <a:prstGeom prst="ellipse">
            <a:avLst/>
          </a:prstGeom>
          <a:solidFill>
            <a:srgbClr val="4A8C6F"/>
          </a:solidFill>
          <a:ln w="12700">
            <a:solidFill>
              <a:srgbClr val="4A8C6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4" name="Text 222"/>
          <p:cNvSpPr/>
          <p:nvPr/>
        </p:nvSpPr>
        <p:spPr>
          <a:xfrm>
            <a:off x="5925312" y="3968496"/>
            <a:ext cx="8549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Avalanche Fuji</a:t>
            </a:r>
            <a:endParaRPr lang="en-US" sz="1000" dirty="0"/>
          </a:p>
        </p:txBody>
      </p:sp>
      <p:sp>
        <p:nvSpPr>
          <p:cNvPr id="225" name="Shape 223"/>
          <p:cNvSpPr/>
          <p:nvPr/>
        </p:nvSpPr>
        <p:spPr>
          <a:xfrm>
            <a:off x="5760720" y="4384295"/>
            <a:ext cx="91440" cy="91440"/>
          </a:xfrm>
          <a:prstGeom prst="ellipse">
            <a:avLst/>
          </a:prstGeom>
          <a:solidFill>
            <a:srgbClr val="4A8C6F"/>
          </a:solidFill>
          <a:ln w="12700">
            <a:solidFill>
              <a:srgbClr val="4A8C6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6" name="Text 224"/>
          <p:cNvSpPr/>
          <p:nvPr/>
        </p:nvSpPr>
        <p:spPr>
          <a:xfrm>
            <a:off x="5925312" y="429768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Polygon Amoy</a:t>
            </a:r>
            <a:endParaRPr lang="en-US" sz="1000" dirty="0"/>
          </a:p>
        </p:txBody>
      </p:sp>
      <p:sp>
        <p:nvSpPr>
          <p:cNvPr id="229" name="Text 227"/>
          <p:cNvSpPr/>
          <p:nvPr/>
        </p:nvSpPr>
        <p:spPr>
          <a:xfrm>
            <a:off x="5687568" y="4937760"/>
            <a:ext cx="3255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525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for your time and consideration.</a:t>
            </a:r>
            <a:endParaRPr lang="en-US" sz="750" dirty="0"/>
          </a:p>
        </p:txBody>
      </p:sp>
      <p:sp>
        <p:nvSpPr>
          <p:cNvPr id="251" name="Shape 221">
            <a:extLst>
              <a:ext uri="{FF2B5EF4-FFF2-40B4-BE49-F238E27FC236}">
                <a16:creationId xmlns:a16="http://schemas.microsoft.com/office/drawing/2014/main" id="{6F0F8D36-BBEF-B8D6-3F80-B2378F516824}"/>
              </a:ext>
            </a:extLst>
          </p:cNvPr>
          <p:cNvSpPr/>
          <p:nvPr/>
        </p:nvSpPr>
        <p:spPr>
          <a:xfrm>
            <a:off x="7539023" y="4086410"/>
            <a:ext cx="91440" cy="91440"/>
          </a:xfrm>
          <a:prstGeom prst="ellipse">
            <a:avLst/>
          </a:prstGeom>
          <a:solidFill>
            <a:srgbClr val="4A8C6F"/>
          </a:solidFill>
          <a:ln w="12700">
            <a:solidFill>
              <a:srgbClr val="4A8C6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2" name="Text 222">
            <a:extLst>
              <a:ext uri="{FF2B5EF4-FFF2-40B4-BE49-F238E27FC236}">
                <a16:creationId xmlns:a16="http://schemas.microsoft.com/office/drawing/2014/main" id="{46F612C3-6A2A-D5D0-8C49-D83E9CE8071B}"/>
              </a:ext>
            </a:extLst>
          </p:cNvPr>
          <p:cNvSpPr/>
          <p:nvPr/>
        </p:nvSpPr>
        <p:spPr>
          <a:xfrm>
            <a:off x="7703615" y="3999795"/>
            <a:ext cx="1015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BNB Chain </a:t>
            </a:r>
            <a:r>
              <a:rPr lang="en-US" sz="1000" dirty="0" err="1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Testnet</a:t>
            </a:r>
            <a:endParaRPr lang="en-US" sz="1000" dirty="0"/>
          </a:p>
        </p:txBody>
      </p:sp>
      <p:sp>
        <p:nvSpPr>
          <p:cNvPr id="253" name="Shape 223">
            <a:extLst>
              <a:ext uri="{FF2B5EF4-FFF2-40B4-BE49-F238E27FC236}">
                <a16:creationId xmlns:a16="http://schemas.microsoft.com/office/drawing/2014/main" id="{D86B24D9-A208-38F2-F163-7AAB726B719E}"/>
              </a:ext>
            </a:extLst>
          </p:cNvPr>
          <p:cNvSpPr/>
          <p:nvPr/>
        </p:nvSpPr>
        <p:spPr>
          <a:xfrm>
            <a:off x="7539023" y="4415594"/>
            <a:ext cx="91440" cy="91440"/>
          </a:xfrm>
          <a:prstGeom prst="ellipse">
            <a:avLst/>
          </a:prstGeom>
          <a:solidFill>
            <a:srgbClr val="4A8C6F"/>
          </a:solidFill>
          <a:ln w="12700">
            <a:solidFill>
              <a:srgbClr val="4A8C6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4" name="Text 224">
            <a:extLst>
              <a:ext uri="{FF2B5EF4-FFF2-40B4-BE49-F238E27FC236}">
                <a16:creationId xmlns:a16="http://schemas.microsoft.com/office/drawing/2014/main" id="{6A7AFF83-E68B-01BC-D903-AD26691DF1EA}"/>
              </a:ext>
            </a:extLst>
          </p:cNvPr>
          <p:cNvSpPr/>
          <p:nvPr/>
        </p:nvSpPr>
        <p:spPr>
          <a:xfrm>
            <a:off x="7703615" y="4328979"/>
            <a:ext cx="89174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Cronos </a:t>
            </a:r>
            <a:r>
              <a:rPr lang="en-US" sz="1000" dirty="0" err="1">
                <a:solidFill>
                  <a:srgbClr val="EA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Testnet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813</Words>
  <Application>Microsoft Office PowerPoint</Application>
  <PresentationFormat>Affichage à l'écran (16:9)</PresentationFormat>
  <Paragraphs>263</Paragraphs>
  <Slides>6</Slides>
  <Notes>6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Cambria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RWA Experts — Executive Summary</dc:title>
  <dc:subject>PptxGenJS Presentation</dc:subject>
  <dc:creator>PptxGenJS</dc:creator>
  <cp:lastModifiedBy>Christopher fourquier</cp:lastModifiedBy>
  <cp:revision>2</cp:revision>
  <dcterms:created xsi:type="dcterms:W3CDTF">2026-03-06T07:10:38Z</dcterms:created>
  <dcterms:modified xsi:type="dcterms:W3CDTF">2026-03-06T07:59:49Z</dcterms:modified>
</cp:coreProperties>
</file>